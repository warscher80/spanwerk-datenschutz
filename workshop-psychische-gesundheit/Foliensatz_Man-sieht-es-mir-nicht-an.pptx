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0:00 – Beginn
🎯 ZIEL: Ankommen, Ton setzen: ruhig, warm, wertschätzend.
🗣 SPRECHERNOTIZEN
Titel wirken lassen, bevor Sie sprechen. Leise beginnen: „Der Satz auf dieser Folie ist einer der häufigsten, den Betroffene hören. Und er ist das Problem – und heute unser Thema. Denn genau das macht psychische Erkrankungen so schwer: Man sieht sie nicht.“ Kurz Ihren Namen und dass Sie heute nicht als Arzt sprechen, sondern als Mensch mit eigener Erfahrung.
✨ ANIMATION
Titel „Man sieht es mir nicht an.“ nach 2 Sek. sanft einblenden (Erscheinen/Verblassen, langsam). Untertitel danach. Keine schnellen Effekte.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Vertrauen aufbauen. Ihre Betroffenheit ist Ihre Glaubwürdigkeit.
🗣 SPRECHERNOTIZEN
PLATZHALTER – bitte in EIGENEN Worten. Erzählen Sie nur so viel, wie Ihnen heute guttut. Faustregel: Sprechen Sie aus der Narbe, nicht aus der offenen Wunde – über das, was Sie verarbeitet haben. Sie müssen keine Details des Unfalls schildern; die Diagnose und der Weg genügen. Details siehe Trainerhandbuch, Kapitel ‚Sichere Selbstoffenbarung‘.
✨ ANIMATION
Zitat links zuerst einblenden, dann der Text rechts absatzweise (Wischen von unten). Pausen zwischen den Absätzen zulassen.
🎬 REGIE / METHODIK
Wenn Sie emotional werden: kurz innehalten, atmen, weiter. Das ist authentisch, nicht unprofessionell.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Psychologische Sicherheit herstellen (trauma-informierter Rahmen).
🗣 SPRECHERNOTIZEN
„Dieses Thema kann berühren – vielleicht kennen Sie jemanden, vielleicht sich selbst. Deshalb drei Zusagen an Sie …“ Die drei Punkte ruhig vorlesen. Betonen: Es gibt heute kein Richtig oder Falsch im Fühlen.
✨ ANIMATION
Karten nacheinander einfliegen (Wischen von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Orientierung geben; Erwartung setzen: Erlebnis, kein Frontalvortrag.
🗣 SPRECHERNOTIZEN
Kurz durch die sechs Stationen führen. Verben betonen. Versprechen: „Mein Ziel ist nicht, dass Sie Fachbegriffe mitnehmen, sondern ein Gefühl dafür.“
✨ ANIMATION
Die sechs Karten nacheinander (0,2 s Versatz). Merksatz unten zuletzt.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Relevanz herstellen: Das betrifft uns alle, nicht ‚die anderen‘.
🗣 SPRECHERNOTIZEN
„Schauen Sie sich im Raum um. Statistisch ist mindestens jede vierte Person hier im Lauf eines Jahres betroffen – oder ein enger Angehöriger. Wir reden also nicht über eine Randgruppe. Wir reden über uns.“
✨ ANIMATION
Überschrift zuerst, dann die drei Karten nacheinander.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Teilnehmer aktivieren, Erwartungen abholen.
🗣 SPRECHERNOTIZEN
Nicht bewerten, nur sammeln und spiegeln.
✨ ANIMATION
Zwei Karten von links/rechts einfliegen lassen.
🎬 REGIE / METHODIK
Erwartungen auf Karten schreiben lassen und an Pinnwand hängen. Am Tagesende (Folie 38) darauf zurückkommen.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Teil von Begrüßung (15 min)
🎯 ZIEL: Sicheren Raum vereinbaren.
🗣 SPRECHERNOTIZEN
Regeln gemeinsam ‚absegnen‘: „Können wir uns auf diese sechs Punkte einigen?“ Zustimmung per Handzeichen. Ergänzungen zulassen.
✨ ANIMATION
Sechs Karten nacheinander einblenden.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Start
🎯 ZIEL: Ausmaß begreifbar machen, Entstigmatisierung durch Normalität.
🗣 SPRECHERNOTIZEN
„Diese Zahlen sind keine Statistik über Fremde. Rechnen wir es auf diesen Raum um …“ Betonen: Angststörungen und Depression sind Volkskrankheiten wie Diabetes. Zahlen als Größenordnung nennen, nicht auf die Kommastelle.
✨ ANIMATION
Vier Zahlenkacheln nacheinander dezent einblenden.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Verstehen: Erkrankung ist nicht ‚zu viel Stress‘, sondern etwas qualitativ anderes.
🗣 SPRECHERNOTIZEN
„Stress hat jeder. Eine Krise trifft die meisten irgendwann. Eine Erkrankung ist etwas anderes: Sie bleibt, und man kommt nicht allein wieder heraus.“ Übergänge sind fließend – niemand muss sich rechtfertigen, ab wann es ‚schlimm genug‘ ist.
✨ ANIMATION
Drei Spalten von links nach rechts aufbauen, dann den Pfeil.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Landkarte geben. Jede Erkrankung bekommt gleich ein Bild.
🗣 SPRECHERNOTIZEN
„Wir konzentrieren uns auf fünf häufige Erkrankungen, die man oft missversteht. Zu jeder gebe ich Ihnen ein Bild, kein Lehrbuch.“
✨ ANIMATION
Fünf Kacheln nacheinander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Depression von ‚Traurigsein‘ abgrenzen.
🗣 SPRECHERNOTIZEN
„Depression ist nicht ‚schlechte Laune‘. Traurigkeit hat einen Grund und geht vorbei. Depression ist oft grundlos da und bleibt. Viele sagen nicht ‚ich bin traurig‘, sondern ‚ich fühle gar nichts mehr‘.“
✨ ANIMATION
Symptome zeilenweise. Metapher-Box am Ende hervorheben.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Angst als überaktives Schutzsystem verstehen.
🗣 SPRECHERNOTIZEN
„Angst ist eigentlich sinnvoll – sie schützt uns. Bei einer Angststörung ist der Schutzschalter nur zu empfindlich. Eine Panikattacke fühlt sich an wie ein Herzinfarkt – der Körper ist überzeugt, es geht ums Überleben.“
✨ ANIMATION
Symptome zeilenweise.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Burnout ernst nehmen und sauber einordnen.
🗣 SPRECHERNOTIZEN
„Burnout trifft selten die Faulen – meist die, die zu lange zu viel gegeben haben. Es ist das Gegenteil von ‚sich hängen lassen‘.“
✨ ANIMATION
Symptome zeilenweise.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persönlicher Ankerpunkt
🎯 ZIEL: PTBS erfahrbar machen – hier dürfen Sie Ihre eigene Geschichte einbringen.
🗣 SPRECHERNOTIZEN
PLATZHALTER FÜR IHR BEISPIEL. Erzählen Sie – wenn es Ihnen guttut – einen konkreten, verarbeiteten Moment: z. B. wie ein bestimmtes Geräusch Sie schlagartig zurückgeworfen hat, obwohl real keine Gefahr war. Zeigen Sie den MECHANISMUS (Trigger → Körper im Vollalarm), nicht die Unfalldetails. Aus der Narbe, nicht aus der offenen Wunde.
✨ ANIMATION
Symptome ruhig zeilenweise. Bei Ihrem Beispiel KEINE Animation.
🎬 REGIE / METHODIK
Emotionaler Höhepunkt. Danach 3 Sekunden Stille.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2 (30 min)
🎯 ZIEL: Bipolar von normalen Stimmungsschwankungen abgrenzen.
🗣 SPRECHERNOTIZEN
„Wir alle haben mal einen guten und mal einen schlechten Tag. Bei der bipolaren Störung geht es um echte Phasen – Wochen kaum Schlaf und Größengefühl, dann Wochen tiefer Depression. Wichtig: gut behandelbar.“
✨ ANIMATION
Symptome zeilenweise.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Start
🎯 ZIEL: Übergang vom Kopf ins Herz. Der emotionale Kern.
🗣 SPRECHERNOTIZEN
Tempo herausnehmen. „Bis jetzt haben wir gewusst. Jetzt wollen wir verstehen – also fühlen. Ich gebe Ihnen ein paar Bilder. Sie müssen nichts glauben, nur einen Moment mitgehen.“
✨ ANIMATION
Titel groß einblenden, Untertitel danach.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Antriebslosigkeit körperlich nachvollziehbar machen.
🗣 SPRECHERNOTIZEN
„Wir sagen leicht: ‚Reiß dich zusammen, geh halt raus.‘ Aber stellen Sie sich vor, an jedem Handgriff hängen 15 Kilo. Aufstehen: 15 Kilo. Freundlich sein: 15 Kilo. Das ist kein Unwille. Das ist die Krankheit.“
✨ ANIMATION
Rechte Karte ‚+15 kg‘ betonen. Text links absatzweise. Letzten Satz einzeln.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Diskrepanz zwischen Fassade und Innenleben zeigen.
🗣 SPRECHERNOTIZEN
„Das Einzige, was andere sehen, ist die Spitze: ein ‚Mir geht’s gut‘, ein Lächeln im Meeting. Alles, was die Person wirklich trägt, liegt unter der Wasserlinie. Deshalb hört man so oft: ‚Das hätte ich nie gedacht.‘“
✨ ANIMATION
Wasserlinie, dann Spitze, dann die verborgenen Begriffe nacheinander auftauchen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‚Aber er wirkte doch fröhlich!‘ auflösen.
🗣 SPRECHERNOTIZEN
„Warum sieht man es nicht? Weil viele es aktiv verstecken. Sie halten die Maske hoch, bis sie zu Hause die Tür zumachen. Wenn Ihnen jemand sagt ‚Mir geht’s nicht gut‘, ist das oft schon ein riesiger Schritt.“
✨ ANIMATION
Linke Karte zuerst, dann rechte – der Kontrast wirkt.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Den häufigsten gut gemeinten Fehler entkräften.
🗣 SPRECHERNOTIZEN
„Der wichtigste Vergleich des Tages: Niemand würde einem Menschen mit gebrochenem Bein sagen ‚Lauf halt‘. Bei der Seele tun wir es ständig. ‚Positiv denken‘ verlangt von einem kranken Gehirn genau das, was gerade nicht geht.“
✨ ANIMATION
Zitat-Box zuerst, dann die drei Karten.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Doppelmoral sichtbar machen.
🗣 SPRECHERNOTIZEN
Zeile für Zeile durchgehen. Letzte Zeile betonen: ‚Heilung ebenso möglich.‘ – Brücke zu Modul 6.
✨ ANIMATION
Zeilen paarweise einblenden. Letzte Zeile hervorheben.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Panik körperlich nachvollziehbar machen.
🗣 SPRECHERNOTIZEN
Optionale Mini-Selbsterfahrung (freiwillig!): „Atmen Sie 20 Sekunden bewusst zu schnell und flach. Spüren Sie das Kribbeln? Genau dieses Körpergefühl – aber ohne Ende und mit Todesangst – ist eine Panikattacke.“ Danach gemeinsam ruhig ausatmen. Nur anbieten, nie erzwingen.
✨ ANIMATION
Vier Kacheln nacheinander. Merksatz zuletzt.
🎬 REGIE / METHODIK
Bei der Atem-Übung vorher Sicherheit ansagen, danach gemeinsam beruhigen.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ZIEL: Verhalten neu deuten: nicht ‚unzuverlässig‘, sondern krank.
🗣 SPRECHERNOTIZEN
PLATZHALTER: Bringen Sie hier ein eigenes, konkretes Alltagsbeispiel. Kernbotschaft: Hinter ‚schwierigem‘ Verhalten steckt oft eine unsichtbare Anstrengung.
✨ ANIMATION
Vier Beispiele nacheinander. Ihre Zeile am Ende frei erzählt.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3 (45 min) – Übung
🎯 ZIEL: Perspektivübernahme – Depression von innen erleben.
🗣 SPRECHERNOTIZEN
„Sie schlüpfen jetzt für ein paar Minuten in ein Leben mit Depression. Kein Schauspiel – nur mitlesen und spüren.“ Nach der Übung nicht zerreden.
✨ ANIMATION
Ablaufschritte nacheinander, dann Reflexionsbox.
🎬 REGIE / METHODIK
Kopiervorlage austeilen. Nach der Stillarbeit erst Murmelrunde zu zweit, dann Blitzlicht.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Pause (15 min)
🎯 ZIEL: Erholung – besonders nach dem emotionalen Modul 3 wichtig.
🗣 SPRECHERNOTIZEN
„Nehmen Sie sich die Pause wirklich. Bewegung, frische Luft, ein Schluck Wasser.“
✨ ANIMATION
Optional dezenter Countdown-Timer.
🎬 REGIE / METHODIK
Ansprechbar bleiben. Auf Selbstfürsorge achten (auch Ihre eigene).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Start
🎯 ZIEL: Handlungskompetenz statt Hilflosigkeit.
🗣 SPRECHERNOTIZEN
„Die häufigste Frage von Angehörigen ist: Was soll ich denn sagen? Die gute Nachricht: Sie müssen nichts reparieren. Sie müssen da sein.“
✨ ANIMATION
Titel groß, Untertitel danach.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ZIEL: Konkrete, machbare Hilfe-Werkzeuge geben.
🗣 SPRECHERNOTIZEN
Punkt 1 ist der wichtigste. Betroffene brauchen zuerst das Gefühl, nicht allein zu sein. ‚Zu Hilfe ermutigen‘ heißt begleiten, nicht drängen.
✨ ANIMATION
Fünf Karten nacheinander.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ZIEL: Typische Fettnäpfchen bewusst machen – ohne Schuldgefühle.
🗣 SPRECHERNOTIZEN
„Wichtig: Fast alle diese Sätze sind LIEB gemeint. Es geht nicht darum, sich schlecht zu fühlen, sondern zu verstehen, warum sie nicht ankommen.“
✨ ANIMATION
Fünf Zeilen nacheinander.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ZIEL: Konkrete Satz-Alternativen geben.
🗣 SPRECHERNOTIZEN
Beide Sätze laut lesen. Links wird bewertet/beschwichtigt, rechts wird Verbindung angeboten.
✨ ANIMATION
Paare zeilenweise – erst links, dann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ZIEL: Zuhören als Kernkompetenz (Überleitung zum Rollenspiel).
🗣 SPRECHERNOTIZEN
‚Pausen aushalten‘ fällt am schwersten – wir reden aus Unsicherheit. Überleitung: ‚Genau das üben wir jetzt.‘
✨ ANIMATION
Vier Karten nacheinander. Faustregel zuletzt.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ZIEL: Vor Selbstüberforderung schützen; Notfall-Handeln klarmachen.
🗣 SPRECHERNOTIZEN
„Sie dürfen helfen – aber Sie müssen niemanden retten.“ Suizidgedanken direkt ansprechen (‚Denkst du daran, dir das Leben zu nehmen?‘) – das pflanzt nichts ein, es entlastet. Dann sofort professionelle Hilfe.
✨ ANIMATION
Vier Kacheln nacheinander. Notfallzeile zuletzt.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4 (45 min) – Übung
🎯 ZIEL: Do’s, Sprache und aktives Zuhören praktisch erproben.
🗣 SPRECHERNOTIZEN
„Sie werden merken: Es ist gar nicht so leicht, NICHT sofort Ratschläge zu geben. Genau das ist die Übung.“
✨ ANIMATION
Ablaufschritte nacheinander, dann Auswertungsbox.
🎬 REGIE / METHODIK
Situationskarten &amp; Beobachtungsbogen austeilen. Klar timen: 5 Min. spielen, 3 Min. auswerten, dann Rollentausch. Niemand spielt echtes eigenes Leid nach, wenn er nicht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5 (20 min) – Start
🎯 ZIEL: Aktivierend Stigmata entlarven.
🗣 SPRECHERNOTIZEN
„Kein Test – niemand blamiert sich. Wir schauen, welche Sätze sich hartnäckig halten und was wirklich dahintersteckt.“
✨ ANIMATION
Titel groß, dann Untertitel.
🎬 REGIE / METHODIK
Bei jeder Aussage erst abstimmen lassen, DANN auflösen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5 (20 min)
🎯 ZIEL: Stigmatisierende Überzeugungen mit Fakten kontern.
🗣 SPRECHERNOTIZEN
Jede Aussage einzeln aufdecken, nachdem die Gruppe abgestimmt hat. Alle vier sind Mythen. Der dritte verbindet zurück zum Workshop-Titel.
✨ ANIMATION
Karten einzeln aufdecken. ‚Mythos‘-Stempel nach kurzer Diskussion einblenden.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6 (20 min)
🎯 ZIEL: Zeigen: Behandlung wirkt, ist normal, ist verfügbar.
🗣 SPRECHERNOTIZEN
Medikamente entstigmatisieren: „Ein Antidepressivum ist so wenig eine Schwäche wie eine Insulinspritze.“ Kombination wirkt am besten.
✨ ANIMATION
Vier Karten nacheinander. Merksatz zuletzt.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6 (20 min)
🎯 ZIEL: Angst vor Fachleuten abbauen; Hilfe-Annehmen als Stärke verankern.
🗣 SPRECHERNOTIZEN
„Viele haben Angst vor der ‚Psycho‘-Schiene – als käme man in die Schublade ‚verrückt‘. Das Gegenteil stimmt: Diese Menschen sind Verbündete, keine Gegner. Ein Psychiater ist ein Arzt wie jeder andere, eine Therapie ist Training für die Seele.“ Betonen: Der Schritt zur Hilfe ist der mutigste. Optional Ihre eigene Erfahrung: Wer oder was hat Ihnen geholfen?
✨ ANIMATION
Drei Rollen-Karten nacheinander, dann der grüne Botschafts-Balken.
🎬 REGIE / METHODIK
Wichtige Kernbotschaft – ruhig und bestimmt vortragen. Verbindet zur Hoffnungs-Folie.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Modul 6 (20 min)
🎯 ZIEL: Hoffnung verankern – emotionaler Gegenpol zu Modul 3.
🗣 SPRECHERNOTIZEN
PLATZHALTER FÜR IHRE BOTSCHAFT: Erzählen Sie kurz und ehrlich, was Ihnen geholfen hat (Therapie, Menschen, Zeit, ein Wendepunkt). Ihr Weg ist der stärkste Beweis für Hoffnung. Enden Sie mit einem Satz zum Mitnehmen.
✨ ANIMATION
‚Es wird wieder hell.‘ langsam einblenden. Ihre Worte ohne Animation.
🎬 REGIE / METHODIK
Der wärmste Moment des 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Abschluss (10 min)
🎯 ZIEL: Kernbotschaften bündeln, roten Faden schließen.
🗣 SPRECHERNOTIZEN
Die vier Erkenntnisse als Essenz benennen. Dann Raum für Fragen.
✨ ANIMATION
Vier Karten nacheinander. Rückfrage zuletzt.
🎬 REGIE / METHODIK
Zurück zur Erwartungs-Pinnwand (Folie 6): Punkte durchgehen, abhaken. Dann offene Fragerunde.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Abschluss (10 min)
🎯 ZIEL: Handlungsfähigkeit sichern.
🗣 SPRECHERNOTIZEN
„Bitte nehmen Sie dieses Blatt mit – für sich oder für jemanden, an den Sie heute gedacht haben. 142 ist Tag und Nacht erreichbar, kostenlos und anonym.“
✨ ANIMATION
Notfall-Band zuerst, dann die Kacheln.
🎬 REGIE / METHODIK
Als Handout austeilen. Nummern regional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ZEIT: Abschluss (10 min)
🎯 ZIEL: Warm und würdevoll schließen.
🗣 SPRECHERNOTIZEN
Ruhig enden. Für die Offenheit danken. Optional Blitzlicht: ‚Ein Wort, das Sie mitnehmen.‘ Reflexionsbogen austeilen.
✨ ANIMATION
Titel, dann Zitat langsam einblenden.
🎬 REGIE / METHODIK
Reflexionsbogen &amp; Anlaufstellen-Handout mitgeben.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spanwerk-datenschutz/aecddc76-056b-54e2-a906-9229bc8dda84/scratchpad/final/bg_tit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78000"/>
            </a:srgbClr>
          </a:solidFill>
          <a:ln/>
        </p:spPr>
      </p:sp>
      <p:sp>
        <p:nvSpPr>
          <p:cNvPr id="4" name="Shape 1"/>
          <p:cNvSpPr/>
          <p:nvPr/>
        </p:nvSpPr>
        <p:spPr>
          <a:xfrm>
            <a:off x="0" y="0"/>
            <a:ext cx="7863840" cy="6858000"/>
          </a:xfrm>
          <a:prstGeom prst="rect">
            <a:avLst/>
          </a:prstGeom>
          <a:solidFill>
            <a:srgbClr val="24685C">
              <a:alpha val="80000"/>
            </a:srgbClr>
          </a:solidFill>
          <a:ln/>
        </p:spPr>
      </p:sp>
      <p:sp>
        <p:nvSpPr>
          <p:cNvPr id="5" name="Shape 2"/>
          <p:cNvSpPr/>
          <p:nvPr/>
        </p:nvSpPr>
        <p:spPr>
          <a:xfrm>
            <a:off x="566928" y="868680"/>
            <a:ext cx="868680" cy="86868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792785" y="1094537"/>
            <a:ext cx="416966" cy="416966"/>
          </a:xfrm>
          <a:prstGeom prst="rect">
            <a:avLst/>
          </a:prstGeom>
        </p:spPr>
      </p:pic>
      <p:sp>
        <p:nvSpPr>
          <p:cNvPr id="7" name="Text 3"/>
          <p:cNvSpPr/>
          <p:nvPr/>
        </p:nvSpPr>
        <p:spPr>
          <a:xfrm>
            <a:off x="566928" y="2194560"/>
            <a:ext cx="10058400" cy="365760"/>
          </a:xfrm>
          <a:prstGeom prst="rect">
            <a:avLst/>
          </a:prstGeom>
          <a:noFill/>
          <a:ln/>
        </p:spPr>
        <p:txBody>
          <a:bodyPr wrap="square"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ERLEBNIS-WORKSHOP  ·  PSYCHISCHE GESUNDHEIT</a:t>
            </a:r>
            <a:endParaRPr lang="en-US" sz="1500" dirty="0"/>
          </a:p>
        </p:txBody>
      </p:sp>
      <p:sp>
        <p:nvSpPr>
          <p:cNvPr id="8" name="Text 4"/>
          <p:cNvSpPr/>
          <p:nvPr/>
        </p:nvSpPr>
        <p:spPr>
          <a:xfrm>
            <a:off x="566928" y="2560320"/>
            <a:ext cx="10515600" cy="2194560"/>
          </a:xfrm>
          <a:prstGeom prst="rect">
            <a:avLst/>
          </a:prstGeom>
          <a:noFill/>
          <a:ln/>
        </p:spPr>
        <p:txBody>
          <a:bodyPr wrap="square" rtlCol="0" anchor="ctr"/>
          <a:lstStyle/>
          <a:p>
            <a:pPr indent="0" marL="0">
              <a:lnSpc>
                <a:spcPts val="6200"/>
              </a:lnSpc>
              <a:buNone/>
            </a:pPr>
            <a:r>
              <a:rPr lang="en-US" sz="6200" b="1" dirty="0">
                <a:solidFill>
                  <a:srgbClr val="FFFFFF"/>
                </a:solidFill>
                <a:latin typeface="Cambria" pitchFamily="34" charset="0"/>
                <a:ea typeface="Cambria" pitchFamily="34" charset="-122"/>
                <a:cs typeface="Cambria" pitchFamily="34" charset="-120"/>
              </a:rPr>
              <a:t>„Man sieht es</a:t>
            </a:r>
            <a:endParaRPr lang="en-US" sz="6200" dirty="0"/>
          </a:p>
          <a:p>
            <a:pPr indent="0" marL="0">
              <a:lnSpc>
                <a:spcPts val="6200"/>
              </a:lnSpc>
              <a:buNone/>
            </a:pPr>
            <a:r>
              <a:rPr lang="en-US" sz="6200" b="1" dirty="0">
                <a:solidFill>
                  <a:srgbClr val="FFFFFF"/>
                </a:solidFill>
                <a:latin typeface="Cambria" pitchFamily="34" charset="0"/>
                <a:ea typeface="Cambria" pitchFamily="34" charset="-122"/>
                <a:cs typeface="Cambria" pitchFamily="34" charset="-120"/>
              </a:rPr>
              <a:t>mir nicht an.“</a:t>
            </a:r>
            <a:endParaRPr lang="en-US" sz="6200" dirty="0"/>
          </a:p>
        </p:txBody>
      </p:sp>
      <p:sp>
        <p:nvSpPr>
          <p:cNvPr id="9" name="Text 5"/>
          <p:cNvSpPr/>
          <p:nvPr/>
        </p:nvSpPr>
        <p:spPr>
          <a:xfrm>
            <a:off x="566928" y="4892040"/>
            <a:ext cx="10424160" cy="822960"/>
          </a:xfrm>
          <a:prstGeom prst="rect">
            <a:avLst/>
          </a:prstGeom>
          <a:noFill/>
          <a:ln/>
        </p:spPr>
        <p:txBody>
          <a:bodyPr wrap="square" rtlCol="0" anchor="ctr"/>
          <a:lstStyle/>
          <a:p>
            <a:pPr indent="0" marL="0">
              <a:lnSpc>
                <a:spcPts val="2800"/>
              </a:lnSpc>
              <a:buNone/>
            </a:pPr>
            <a:r>
              <a:rPr lang="en-US" sz="2000" dirty="0">
                <a:solidFill>
                  <a:srgbClr val="F2FAF5"/>
                </a:solidFill>
                <a:latin typeface="Calibri" pitchFamily="34" charset="0"/>
                <a:ea typeface="Calibri" pitchFamily="34" charset="-122"/>
                <a:cs typeface="Calibri" pitchFamily="34" charset="-120"/>
              </a:rPr>
              <a:t>Wie sich Depression, Angst und Trauma wirklich anfühlen –</a:t>
            </a:r>
            <a:endParaRPr lang="en-US" sz="2000" dirty="0"/>
          </a:p>
          <a:p>
            <a:pPr indent="0" marL="0">
              <a:lnSpc>
                <a:spcPts val="2800"/>
              </a:lnSpc>
              <a:buNone/>
            </a:pPr>
            <a:r>
              <a:rPr lang="en-US" sz="2000" dirty="0">
                <a:solidFill>
                  <a:srgbClr val="F2FAF5"/>
                </a:solidFill>
                <a:latin typeface="Calibri" pitchFamily="34" charset="0"/>
                <a:ea typeface="Calibri" pitchFamily="34" charset="-122"/>
                <a:cs typeface="Calibri" pitchFamily="34" charset="-120"/>
              </a:rPr>
              <a:t>und wie wir Betroffene wirklich begleiten.</a:t>
            </a:r>
            <a:endParaRPr lang="en-US" sz="2000" dirty="0"/>
          </a:p>
        </p:txBody>
      </p:sp>
      <p:pic>
        <p:nvPicPr>
          <p:cNvPr id="10" name="Image 2" descr="/tmp/claude-0/-home-user-spanwerk-datenschutz/aecddc76-056b-54e2-a906-9229bc8dda84/scratchpad/final/referent_round.jpg">    </p:cNvPr>
          <p:cNvPicPr>
            <a:picLocks noChangeAspect="1"/>
          </p:cNvPicPr>
          <p:nvPr/>
        </p:nvPicPr>
        <p:blipFill>
          <a:blip r:embed="rId3"/>
          <a:stretch>
            <a:fillRect/>
          </a:stretch>
        </p:blipFill>
        <p:spPr>
          <a:xfrm>
            <a:off x="566928" y="5623560"/>
            <a:ext cx="777240" cy="777240"/>
          </a:xfrm>
          <a:prstGeom prst="ellipse">
            <a:avLst/>
          </a:prstGeom>
        </p:spPr>
      </p:pic>
      <p:sp>
        <p:nvSpPr>
          <p:cNvPr id="11" name="Text 6"/>
          <p:cNvSpPr/>
          <p:nvPr/>
        </p:nvSpPr>
        <p:spPr>
          <a:xfrm>
            <a:off x="1527048" y="5623560"/>
            <a:ext cx="7315200" cy="777240"/>
          </a:xfrm>
          <a:prstGeom prst="rect">
            <a:avLst/>
          </a:prstGeom>
          <a:noFill/>
          <a:ln/>
        </p:spPr>
        <p:txBody>
          <a:bodyPr wrap="square" rtlCol="0" anchor="ctr"/>
          <a:lstStyle/>
          <a:p>
            <a:pPr indent="0" marL="0">
              <a:lnSpc>
                <a:spcPts val="1900"/>
              </a:lnSpc>
              <a:buNone/>
            </a:pPr>
            <a:r>
              <a:rPr lang="en-US" sz="1500" i="1" dirty="0">
                <a:solidFill>
                  <a:srgbClr val="EAF6EF"/>
                </a:solidFill>
                <a:latin typeface="Calibri" pitchFamily="34" charset="0"/>
                <a:ea typeface="Calibri" pitchFamily="34" charset="-122"/>
                <a:cs typeface="Calibri" pitchFamily="34" charset="-120"/>
              </a:rPr>
              <a:t>Ein Erlebnis-Workshop mit</a:t>
            </a:r>
            <a:endParaRPr lang="en-US" sz="1500" dirty="0"/>
          </a:p>
          <a:p>
            <a:pPr indent="0" marL="0">
              <a:lnSpc>
                <a:spcPts val="1900"/>
              </a:lnSpc>
              <a:buNone/>
            </a:pPr>
            <a:r>
              <a:rPr lang="en-US" sz="1500" i="1" dirty="0">
                <a:solidFill>
                  <a:srgbClr val="EAF6EF"/>
                </a:solidFill>
                <a:latin typeface="Calibri" pitchFamily="34" charset="0"/>
                <a:ea typeface="Calibri" pitchFamily="34" charset="-122"/>
                <a:cs typeface="Calibri" pitchFamily="34" charset="-120"/>
              </a:rPr>
              <a:t>Markus Warscher</a:t>
            </a:r>
            <a:endParaRPr lang="en-US" sz="1500" dirty="0"/>
          </a:p>
        </p:txBody>
      </p:sp>
      <p:sp>
        <p:nvSpPr>
          <p:cNvPr id="13" name="Text 7"/>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4" name="Text 8"/>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referent_portrait.jpg">    </p:cNvPr>
          <p:cNvPicPr>
            <a:picLocks noChangeAspect="1"/>
          </p:cNvPicPr>
          <p:nvPr/>
        </p:nvPicPr>
        <p:blipFill>
          <a:blip r:embed="rId1"/>
          <a:srcRect l="0" r="0" t="0" b="0"/>
          <a:stretch/>
        </p:blipFill>
        <p:spPr>
          <a:xfrm>
            <a:off x="0" y="0"/>
            <a:ext cx="4297680" cy="6858000"/>
          </a:xfrm>
          <a:prstGeom prst="rect">
            <a:avLst/>
          </a:prstGeom>
        </p:spPr>
      </p:pic>
      <p:sp>
        <p:nvSpPr>
          <p:cNvPr id="3" name="Shape 0"/>
          <p:cNvSpPr/>
          <p:nvPr/>
        </p:nvSpPr>
        <p:spPr>
          <a:xfrm>
            <a:off x="0" y="4709160"/>
            <a:ext cx="4297680" cy="2148840"/>
          </a:xfrm>
          <a:prstGeom prst="rect">
            <a:avLst/>
          </a:prstGeom>
          <a:solidFill>
            <a:srgbClr val="24685C">
              <a:alpha val="88000"/>
            </a:srgbClr>
          </a:solidFill>
          <a:ln/>
        </p:spPr>
      </p:sp>
      <p:sp>
        <p:nvSpPr>
          <p:cNvPr id="4" name="Text 1"/>
          <p:cNvSpPr/>
          <p:nvPr/>
        </p:nvSpPr>
        <p:spPr>
          <a:xfrm>
            <a:off x="365760" y="5029200"/>
            <a:ext cx="3611880" cy="1371600"/>
          </a:xfrm>
          <a:prstGeom prst="rect">
            <a:avLst/>
          </a:prstGeom>
          <a:noFill/>
          <a:ln/>
        </p:spPr>
        <p:txBody>
          <a:bodyPr wrap="square" rtlCol="0" anchor="ctr"/>
          <a:lstStyle/>
          <a:p>
            <a:pPr indent="0" marL="0">
              <a:lnSpc>
                <a:spcPts val="2300"/>
              </a:lnSpc>
              <a:buNone/>
            </a:pPr>
            <a:r>
              <a:rPr lang="en-US" sz="1700" i="1" dirty="0">
                <a:solidFill>
                  <a:srgbClr val="FFFFFF"/>
                </a:solidFill>
                <a:latin typeface="Cambria" pitchFamily="34" charset="0"/>
                <a:ea typeface="Cambria" pitchFamily="34" charset="-122"/>
                <a:cs typeface="Cambria" pitchFamily="34" charset="-120"/>
              </a:rPr>
              <a:t>„Ich erzähle Ihnen heute nichts,</a:t>
            </a:r>
            <a:endParaRPr lang="en-US" sz="1700" dirty="0"/>
          </a:p>
          <a:p>
            <a:pPr indent="0" marL="0">
              <a:lnSpc>
                <a:spcPts val="2300"/>
              </a:lnSpc>
              <a:buNone/>
            </a:pPr>
            <a:r>
              <a:rPr lang="en-US" sz="1700" i="1" dirty="0">
                <a:solidFill>
                  <a:srgbClr val="FFFFFF"/>
                </a:solidFill>
                <a:latin typeface="Cambria" pitchFamily="34" charset="0"/>
                <a:ea typeface="Cambria" pitchFamily="34" charset="-122"/>
                <a:cs typeface="Cambria" pitchFamily="34" charset="-120"/>
              </a:rPr>
              <a:t>was ich nicht selbst erlebt habe.“</a:t>
            </a:r>
            <a:endParaRPr lang="en-US" sz="1700" dirty="0"/>
          </a:p>
        </p:txBody>
      </p:sp>
      <p:sp>
        <p:nvSpPr>
          <p:cNvPr id="5" name="Text 2"/>
          <p:cNvSpPr/>
          <p:nvPr/>
        </p:nvSpPr>
        <p:spPr>
          <a:xfrm>
            <a:off x="4709160" y="548640"/>
            <a:ext cx="6766560" cy="310896"/>
          </a:xfrm>
          <a:prstGeom prst="rect">
            <a:avLst/>
          </a:prstGeom>
          <a:noFill/>
          <a:ln/>
        </p:spPr>
        <p:txBody>
          <a:bodyPr wrap="square" rtlCol="0" anchor="ctr"/>
          <a:lstStyle/>
          <a:p>
            <a:pPr indent="0" marL="0">
              <a:buNone/>
            </a:pPr>
            <a:r>
              <a:rPr lang="en-US" sz="1300" b="1" spc="200" kern="0" dirty="0">
                <a:solidFill>
                  <a:srgbClr val="BC722A"/>
                </a:solidFill>
                <a:latin typeface="Calibri" pitchFamily="34" charset="0"/>
                <a:ea typeface="Calibri" pitchFamily="34" charset="-122"/>
                <a:cs typeface="Calibri" pitchFamily="34" charset="-120"/>
              </a:rPr>
              <a:t>WER HEUTE VOR IHNEN STEHT</a:t>
            </a:r>
            <a:endParaRPr lang="en-US" sz="1300" dirty="0"/>
          </a:p>
        </p:txBody>
      </p:sp>
      <p:sp>
        <p:nvSpPr>
          <p:cNvPr id="6" name="Text 3"/>
          <p:cNvSpPr/>
          <p:nvPr/>
        </p:nvSpPr>
        <p:spPr>
          <a:xfrm>
            <a:off x="4709160" y="841248"/>
            <a:ext cx="6766560" cy="731520"/>
          </a:xfrm>
          <a:prstGeom prst="rect">
            <a:avLst/>
          </a:prstGeom>
          <a:noFill/>
          <a:ln/>
        </p:spPr>
        <p:txBody>
          <a:bodyPr wrap="square" rtlCol="0" anchor="ctr"/>
          <a:lstStyle/>
          <a:p>
            <a:pPr indent="0" marL="0">
              <a:buNone/>
            </a:pPr>
            <a:r>
              <a:rPr lang="en-US" sz="3400" b="1" dirty="0">
                <a:solidFill>
                  <a:srgbClr val="2C7A6B"/>
                </a:solidFill>
                <a:latin typeface="Cambria" pitchFamily="34" charset="0"/>
                <a:ea typeface="Cambria" pitchFamily="34" charset="-122"/>
                <a:cs typeface="Cambria" pitchFamily="34" charset="-120"/>
              </a:rPr>
              <a:t>Über mich</a:t>
            </a:r>
            <a:endParaRPr lang="en-US" sz="3400" dirty="0"/>
          </a:p>
        </p:txBody>
      </p:sp>
      <p:sp>
        <p:nvSpPr>
          <p:cNvPr id="7" name="Text 4"/>
          <p:cNvSpPr/>
          <p:nvPr/>
        </p:nvSpPr>
        <p:spPr>
          <a:xfrm>
            <a:off x="4709160" y="1737360"/>
            <a:ext cx="6766560" cy="4114800"/>
          </a:xfrm>
          <a:prstGeom prst="rect">
            <a:avLst/>
          </a:prstGeom>
          <a:noFill/>
          <a:ln/>
        </p:spPr>
        <p:txBody>
          <a:bodyPr wrap="square" rtlCol="0" anchor="t"/>
          <a:lstStyle/>
          <a:p>
            <a:pPr indent="0" marL="0">
              <a:spcAft>
                <a:spcPts val="1200"/>
              </a:spcAft>
              <a:buNone/>
            </a:pPr>
            <a:r>
              <a:rPr lang="en-US" sz="1800" dirty="0">
                <a:solidFill>
                  <a:srgbClr val="23423C"/>
                </a:solidFill>
              </a:rPr>
              <a:t>Mein Name ist Markus Warscher, und ich bin heute Ihr Begleiter durch dieses Thema.
</a:t>
            </a:r>
            <a:endParaRPr lang="en-US" sz="1800" dirty="0"/>
          </a:p>
          <a:p>
            <a:pPr indent="0" marL="0">
              <a:spcAft>
                <a:spcPts val="1200"/>
              </a:spcAft>
              <a:buNone/>
            </a:pPr>
            <a:r>
              <a:rPr lang="en-US" sz="1800" dirty="0">
                <a:solidFill>
                  <a:srgbClr val="23423C"/>
                </a:solidFill>
              </a:rPr>
              <a:t>Vor einigen Jahren war ich in einen schweren Verkehrsunfall verwickelt. Menschen sind dabei gestorben, andere und ich selbst wurden schwer verletzt.
</a:t>
            </a:r>
            <a:endParaRPr lang="en-US" sz="1800" dirty="0"/>
          </a:p>
          <a:p>
            <a:pPr indent="0" marL="0">
              <a:spcAft>
                <a:spcPts val="1200"/>
              </a:spcAft>
              <a:buNone/>
            </a:pPr>
            <a:r>
              <a:rPr lang="en-US" sz="1800" dirty="0">
                <a:solidFill>
                  <a:srgbClr val="23423C"/>
                </a:solidFill>
              </a:rPr>
              <a:t>Was danach kam, war für viele unsichtbar: eine Depression und eine posttraumatische Belastungsstörung (PTBS).
</a:t>
            </a:r>
            <a:endParaRPr lang="en-US" sz="1800" dirty="0"/>
          </a:p>
          <a:p>
            <a:pPr indent="0" marL="0">
              <a:buNone/>
            </a:pPr>
            <a:r>
              <a:rPr lang="en-US" sz="1800" dirty="0">
                <a:solidFill>
                  <a:srgbClr val="23423C"/>
                </a:solidFill>
              </a:rPr>
              <a:t>Ich spreche heute nicht als Mediziner, sondern als jemand, der diesen Weg gegangen ist – und wieder herausgefunden hat.</a:t>
            </a:r>
            <a:endParaRPr lang="en-US" sz="1800" dirty="0"/>
          </a:p>
        </p:txBody>
      </p:sp>
      <p:sp>
        <p:nvSpPr>
          <p:cNvPr id="9" name="Text 5"/>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0" name="Text 6"/>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BEVOR WIR STARTEN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Ein Hinweis zu Ihrer Sicherheit</a:t>
            </a:r>
            <a:endParaRPr lang="en-US" sz="3400" dirty="0"/>
          </a:p>
        </p:txBody>
      </p:sp>
      <p:sp>
        <p:nvSpPr>
          <p:cNvPr id="4" name="Shape 2"/>
          <p:cNvSpPr/>
          <p:nvPr/>
        </p:nvSpPr>
        <p:spPr>
          <a:xfrm>
            <a:off x="566928" y="1783080"/>
            <a:ext cx="11057839" cy="1325880"/>
          </a:xfrm>
          <a:prstGeom prst="roundRect">
            <a:avLst>
              <a:gd name="adj" fmla="val 758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084832"/>
            <a:ext cx="731520" cy="73152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1077163" y="2275027"/>
            <a:ext cx="351130" cy="351130"/>
          </a:xfrm>
          <a:prstGeom prst="rect">
            <a:avLst/>
          </a:prstGeom>
        </p:spPr>
      </p:pic>
      <p:sp>
        <p:nvSpPr>
          <p:cNvPr id="7" name="Text 4"/>
          <p:cNvSpPr/>
          <p:nvPr/>
        </p:nvSpPr>
        <p:spPr>
          <a:xfrm>
            <a:off x="1984248" y="2002536"/>
            <a:ext cx="9326880" cy="420624"/>
          </a:xfrm>
          <a:prstGeom prst="rect">
            <a:avLst/>
          </a:prstGeom>
          <a:noFill/>
          <a:ln/>
        </p:spPr>
        <p:txBody>
          <a:bodyPr wrap="square" rtlCol="0" anchor="ctr"/>
          <a:lstStyle/>
          <a:p>
            <a:pPr indent="0" marL="0">
              <a:buNone/>
            </a:pPr>
            <a:r>
              <a:rPr lang="en-US" sz="1900" b="1" dirty="0">
                <a:solidFill>
                  <a:srgbClr val="2C7A6B"/>
                </a:solidFill>
                <a:latin typeface="Cambria" pitchFamily="34" charset="0"/>
                <a:ea typeface="Cambria" pitchFamily="34" charset="-122"/>
                <a:cs typeface="Cambria" pitchFamily="34" charset="-120"/>
              </a:rPr>
              <a:t>Sie bestimmen Ihre Grenze</a:t>
            </a:r>
            <a:endParaRPr lang="en-US" sz="1900" dirty="0"/>
          </a:p>
        </p:txBody>
      </p:sp>
      <p:sp>
        <p:nvSpPr>
          <p:cNvPr id="8" name="Text 5"/>
          <p:cNvSpPr/>
          <p:nvPr/>
        </p:nvSpPr>
        <p:spPr>
          <a:xfrm>
            <a:off x="1984248" y="2441448"/>
            <a:ext cx="9509760" cy="548640"/>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Sie müssen nichts sagen, nichts teilen, an keiner Übung teilnehmen. Aussteigen ist jederzeit erlaubt – ohne Erklärung.</a:t>
            </a:r>
            <a:endParaRPr lang="en-US" sz="1500" dirty="0"/>
          </a:p>
        </p:txBody>
      </p:sp>
      <p:sp>
        <p:nvSpPr>
          <p:cNvPr id="9" name="Shape 6"/>
          <p:cNvSpPr/>
          <p:nvPr/>
        </p:nvSpPr>
        <p:spPr>
          <a:xfrm>
            <a:off x="566928" y="3291840"/>
            <a:ext cx="11057839" cy="1325880"/>
          </a:xfrm>
          <a:prstGeom prst="roundRect">
            <a:avLst>
              <a:gd name="adj" fmla="val 758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886968" y="3593592"/>
            <a:ext cx="731520" cy="731520"/>
          </a:xfrm>
          <a:prstGeom prst="ellipse">
            <a:avLst/>
          </a:prstGeom>
          <a:solidFill>
            <a:srgbClr val="2E9284"/>
          </a:solidFill>
          <a:ln/>
        </p:spPr>
      </p:sp>
      <p:pic>
        <p:nvPicPr>
          <p:cNvPr id="11" name="Image 1" descr="preencoded.png">    </p:cNvPr>
          <p:cNvPicPr>
            <a:picLocks noChangeAspect="1"/>
          </p:cNvPicPr>
          <p:nvPr/>
        </p:nvPicPr>
        <p:blipFill>
          <a:blip r:embed="rId2"/>
          <a:stretch>
            <a:fillRect/>
          </a:stretch>
        </p:blipFill>
        <p:spPr>
          <a:xfrm>
            <a:off x="1077163" y="3783787"/>
            <a:ext cx="351130" cy="351130"/>
          </a:xfrm>
          <a:prstGeom prst="rect">
            <a:avLst/>
          </a:prstGeom>
        </p:spPr>
      </p:pic>
      <p:sp>
        <p:nvSpPr>
          <p:cNvPr id="12" name="Text 8"/>
          <p:cNvSpPr/>
          <p:nvPr/>
        </p:nvSpPr>
        <p:spPr>
          <a:xfrm>
            <a:off x="1984248" y="3511296"/>
            <a:ext cx="9326880" cy="420624"/>
          </a:xfrm>
          <a:prstGeom prst="rect">
            <a:avLst/>
          </a:prstGeom>
          <a:noFill/>
          <a:ln/>
        </p:spPr>
        <p:txBody>
          <a:bodyPr wrap="square" rtlCol="0" anchor="ctr"/>
          <a:lstStyle/>
          <a:p>
            <a:pPr indent="0" marL="0">
              <a:buNone/>
            </a:pPr>
            <a:r>
              <a:rPr lang="en-US" sz="1900" b="1" dirty="0">
                <a:solidFill>
                  <a:srgbClr val="2C7A6B"/>
                </a:solidFill>
                <a:latin typeface="Cambria" pitchFamily="34" charset="0"/>
                <a:ea typeface="Cambria" pitchFamily="34" charset="-122"/>
                <a:cs typeface="Cambria" pitchFamily="34" charset="-120"/>
              </a:rPr>
              <a:t>Pausen sind völlig normal</a:t>
            </a:r>
            <a:endParaRPr lang="en-US" sz="1900" dirty="0"/>
          </a:p>
        </p:txBody>
      </p:sp>
      <p:sp>
        <p:nvSpPr>
          <p:cNvPr id="13" name="Text 9"/>
          <p:cNvSpPr/>
          <p:nvPr/>
        </p:nvSpPr>
        <p:spPr>
          <a:xfrm>
            <a:off x="1984248" y="3950208"/>
            <a:ext cx="9509760" cy="548640"/>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Wenn ein Thema Sie berührt: Sie dürfen jederzeit kurz rausgehen, durchatmen, ein Glas Wasser holen.</a:t>
            </a:r>
            <a:endParaRPr lang="en-US" sz="1500" dirty="0"/>
          </a:p>
        </p:txBody>
      </p:sp>
      <p:sp>
        <p:nvSpPr>
          <p:cNvPr id="14" name="Shape 10"/>
          <p:cNvSpPr/>
          <p:nvPr/>
        </p:nvSpPr>
        <p:spPr>
          <a:xfrm>
            <a:off x="566928" y="4800600"/>
            <a:ext cx="11057839" cy="1325880"/>
          </a:xfrm>
          <a:prstGeom prst="roundRect">
            <a:avLst>
              <a:gd name="adj" fmla="val 758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86968" y="5102352"/>
            <a:ext cx="731520" cy="731520"/>
          </a:xfrm>
          <a:prstGeom prst="ellipse">
            <a:avLst/>
          </a:prstGeom>
          <a:solidFill>
            <a:srgbClr val="2E9284"/>
          </a:solidFill>
          <a:ln/>
        </p:spPr>
      </p:sp>
      <p:pic>
        <p:nvPicPr>
          <p:cNvPr id="16" name="Image 2" descr="preencoded.png">    </p:cNvPr>
          <p:cNvPicPr>
            <a:picLocks noChangeAspect="1"/>
          </p:cNvPicPr>
          <p:nvPr/>
        </p:nvPicPr>
        <p:blipFill>
          <a:blip r:embed="rId3"/>
          <a:stretch>
            <a:fillRect/>
          </a:stretch>
        </p:blipFill>
        <p:spPr>
          <a:xfrm>
            <a:off x="1077163" y="5292547"/>
            <a:ext cx="351130" cy="351130"/>
          </a:xfrm>
          <a:prstGeom prst="rect">
            <a:avLst/>
          </a:prstGeom>
        </p:spPr>
      </p:pic>
      <p:sp>
        <p:nvSpPr>
          <p:cNvPr id="17" name="Text 12"/>
          <p:cNvSpPr/>
          <p:nvPr/>
        </p:nvSpPr>
        <p:spPr>
          <a:xfrm>
            <a:off x="1984248" y="5020056"/>
            <a:ext cx="9326880" cy="420624"/>
          </a:xfrm>
          <a:prstGeom prst="rect">
            <a:avLst/>
          </a:prstGeom>
          <a:noFill/>
          <a:ln/>
        </p:spPr>
        <p:txBody>
          <a:bodyPr wrap="square" rtlCol="0" anchor="ctr"/>
          <a:lstStyle/>
          <a:p>
            <a:pPr indent="0" marL="0">
              <a:buNone/>
            </a:pPr>
            <a:r>
              <a:rPr lang="en-US" sz="1900" b="1" dirty="0">
                <a:solidFill>
                  <a:srgbClr val="2C7A6B"/>
                </a:solidFill>
                <a:latin typeface="Cambria" pitchFamily="34" charset="0"/>
                <a:ea typeface="Cambria" pitchFamily="34" charset="-122"/>
                <a:cs typeface="Cambria" pitchFamily="34" charset="-120"/>
              </a:rPr>
              <a:t>Reden hilft, muss aber nicht</a:t>
            </a:r>
            <a:endParaRPr lang="en-US" sz="1900" dirty="0"/>
          </a:p>
        </p:txBody>
      </p:sp>
      <p:sp>
        <p:nvSpPr>
          <p:cNvPr id="18" name="Text 13"/>
          <p:cNvSpPr/>
          <p:nvPr/>
        </p:nvSpPr>
        <p:spPr>
          <a:xfrm>
            <a:off x="1984248" y="5458968"/>
            <a:ext cx="9509760" cy="548640"/>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Am Ende nenne ich Anlaufstellen. Wenn heute etwas in Ihnen anklingt, ist das ein guter Grund, sich Unterstützung zu holen.</a:t>
            </a:r>
            <a:endParaRPr lang="en-US" sz="1500" dirty="0"/>
          </a:p>
        </p:txBody>
      </p:sp>
      <p:sp>
        <p:nvSpPr>
          <p:cNvPr id="20" name="Text 14"/>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1" name="Text 15"/>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DER ROTE FADEN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Unser Weg durch den Tag</a:t>
            </a:r>
            <a:endParaRPr lang="en-US" sz="3400" dirty="0"/>
          </a:p>
        </p:txBody>
      </p:sp>
      <p:sp>
        <p:nvSpPr>
          <p:cNvPr id="4" name="Shape 2"/>
          <p:cNvSpPr/>
          <p:nvPr/>
        </p:nvSpPr>
        <p:spPr>
          <a:xfrm>
            <a:off x="566928" y="1783080"/>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41248" y="2057400"/>
            <a:ext cx="676656" cy="676656"/>
          </a:xfrm>
          <a:prstGeom prst="ellipse">
            <a:avLst/>
          </a:prstGeom>
          <a:solidFill>
            <a:srgbClr val="6FBE9C"/>
          </a:solidFill>
          <a:ln/>
        </p:spPr>
      </p:sp>
      <p:sp>
        <p:nvSpPr>
          <p:cNvPr id="6" name="Text 4"/>
          <p:cNvSpPr/>
          <p:nvPr/>
        </p:nvSpPr>
        <p:spPr>
          <a:xfrm>
            <a:off x="841248" y="2057400"/>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7" name="Text 5"/>
          <p:cNvSpPr/>
          <p:nvPr/>
        </p:nvSpPr>
        <p:spPr>
          <a:xfrm>
            <a:off x="1682496" y="2112264"/>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Ankommen</a:t>
            </a:r>
            <a:endParaRPr lang="en-US" sz="2100" dirty="0"/>
          </a:p>
        </p:txBody>
      </p:sp>
      <p:sp>
        <p:nvSpPr>
          <p:cNvPr id="8" name="Text 6"/>
          <p:cNvSpPr/>
          <p:nvPr/>
        </p:nvSpPr>
        <p:spPr>
          <a:xfrm>
            <a:off x="859536" y="2916936"/>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Begrüßung &amp; Erwartungen</a:t>
            </a:r>
            <a:endParaRPr lang="en-US" sz="1450" dirty="0"/>
          </a:p>
        </p:txBody>
      </p:sp>
      <p:sp>
        <p:nvSpPr>
          <p:cNvPr id="9" name="Shape 7"/>
          <p:cNvSpPr/>
          <p:nvPr/>
        </p:nvSpPr>
        <p:spPr>
          <a:xfrm>
            <a:off x="4279392" y="1783080"/>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8"/>
          <p:cNvSpPr/>
          <p:nvPr/>
        </p:nvSpPr>
        <p:spPr>
          <a:xfrm>
            <a:off x="4553712" y="2057400"/>
            <a:ext cx="676656" cy="676656"/>
          </a:xfrm>
          <a:prstGeom prst="ellipse">
            <a:avLst/>
          </a:prstGeom>
          <a:solidFill>
            <a:srgbClr val="6FBE9C"/>
          </a:solidFill>
          <a:ln/>
        </p:spPr>
      </p:sp>
      <p:sp>
        <p:nvSpPr>
          <p:cNvPr id="11" name="Text 9"/>
          <p:cNvSpPr/>
          <p:nvPr/>
        </p:nvSpPr>
        <p:spPr>
          <a:xfrm>
            <a:off x="4553712" y="2057400"/>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p:nvPr/>
        </p:nvSpPr>
        <p:spPr>
          <a:xfrm>
            <a:off x="5394960" y="2112264"/>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Verstehen</a:t>
            </a:r>
            <a:endParaRPr lang="en-US" sz="2100" dirty="0"/>
          </a:p>
        </p:txBody>
      </p:sp>
      <p:sp>
        <p:nvSpPr>
          <p:cNvPr id="13" name="Text 11"/>
          <p:cNvSpPr/>
          <p:nvPr/>
        </p:nvSpPr>
        <p:spPr>
          <a:xfrm>
            <a:off x="4572000" y="2916936"/>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Was sind psychische Erkrankungen?</a:t>
            </a:r>
            <a:endParaRPr lang="en-US" sz="1450" dirty="0"/>
          </a:p>
        </p:txBody>
      </p:sp>
      <p:sp>
        <p:nvSpPr>
          <p:cNvPr id="14" name="Shape 12"/>
          <p:cNvSpPr/>
          <p:nvPr/>
        </p:nvSpPr>
        <p:spPr>
          <a:xfrm>
            <a:off x="7991856" y="1783080"/>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3"/>
          <p:cNvSpPr/>
          <p:nvPr/>
        </p:nvSpPr>
        <p:spPr>
          <a:xfrm>
            <a:off x="8266176" y="2057400"/>
            <a:ext cx="676656" cy="676656"/>
          </a:xfrm>
          <a:prstGeom prst="ellipse">
            <a:avLst/>
          </a:prstGeom>
          <a:solidFill>
            <a:srgbClr val="6FBE9C"/>
          </a:solidFill>
          <a:ln/>
        </p:spPr>
      </p:sp>
      <p:sp>
        <p:nvSpPr>
          <p:cNvPr id="16" name="Text 14"/>
          <p:cNvSpPr/>
          <p:nvPr/>
        </p:nvSpPr>
        <p:spPr>
          <a:xfrm>
            <a:off x="8266176" y="2057400"/>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7" name="Text 15"/>
          <p:cNvSpPr/>
          <p:nvPr/>
        </p:nvSpPr>
        <p:spPr>
          <a:xfrm>
            <a:off x="9107424" y="2112264"/>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Fühlen</a:t>
            </a:r>
            <a:endParaRPr lang="en-US" sz="2100" dirty="0"/>
          </a:p>
        </p:txBody>
      </p:sp>
      <p:sp>
        <p:nvSpPr>
          <p:cNvPr id="18" name="Text 16"/>
          <p:cNvSpPr/>
          <p:nvPr/>
        </p:nvSpPr>
        <p:spPr>
          <a:xfrm>
            <a:off x="8284464" y="2916936"/>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Wie fühlt sich das an?</a:t>
            </a:r>
            <a:endParaRPr lang="en-US" sz="1450" dirty="0"/>
          </a:p>
        </p:txBody>
      </p:sp>
      <p:sp>
        <p:nvSpPr>
          <p:cNvPr id="19" name="Shape 17"/>
          <p:cNvSpPr/>
          <p:nvPr/>
        </p:nvSpPr>
        <p:spPr>
          <a:xfrm>
            <a:off x="566928" y="3950208"/>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8"/>
          <p:cNvSpPr/>
          <p:nvPr/>
        </p:nvSpPr>
        <p:spPr>
          <a:xfrm>
            <a:off x="841248" y="4224528"/>
            <a:ext cx="676656" cy="676656"/>
          </a:xfrm>
          <a:prstGeom prst="ellipse">
            <a:avLst/>
          </a:prstGeom>
          <a:solidFill>
            <a:srgbClr val="6FBE9C"/>
          </a:solidFill>
          <a:ln/>
        </p:spPr>
      </p:sp>
      <p:sp>
        <p:nvSpPr>
          <p:cNvPr id="21" name="Text 19"/>
          <p:cNvSpPr/>
          <p:nvPr/>
        </p:nvSpPr>
        <p:spPr>
          <a:xfrm>
            <a:off x="841248" y="4224528"/>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22" name="Text 20"/>
          <p:cNvSpPr/>
          <p:nvPr/>
        </p:nvSpPr>
        <p:spPr>
          <a:xfrm>
            <a:off x="1682496" y="4279392"/>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Begleiten</a:t>
            </a:r>
            <a:endParaRPr lang="en-US" sz="2100" dirty="0"/>
          </a:p>
        </p:txBody>
      </p:sp>
      <p:sp>
        <p:nvSpPr>
          <p:cNvPr id="23" name="Text 21"/>
          <p:cNvSpPr/>
          <p:nvPr/>
        </p:nvSpPr>
        <p:spPr>
          <a:xfrm>
            <a:off x="859536" y="5084064"/>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Umgang mit Betroffenen</a:t>
            </a:r>
            <a:endParaRPr lang="en-US" sz="1450" dirty="0"/>
          </a:p>
        </p:txBody>
      </p:sp>
      <p:sp>
        <p:nvSpPr>
          <p:cNvPr id="24" name="Shape 22"/>
          <p:cNvSpPr/>
          <p:nvPr/>
        </p:nvSpPr>
        <p:spPr>
          <a:xfrm>
            <a:off x="4279392" y="3950208"/>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5" name="Shape 23"/>
          <p:cNvSpPr/>
          <p:nvPr/>
        </p:nvSpPr>
        <p:spPr>
          <a:xfrm>
            <a:off x="4553712" y="4224528"/>
            <a:ext cx="676656" cy="676656"/>
          </a:xfrm>
          <a:prstGeom prst="ellipse">
            <a:avLst/>
          </a:prstGeom>
          <a:solidFill>
            <a:srgbClr val="6FBE9C"/>
          </a:solidFill>
          <a:ln/>
        </p:spPr>
      </p:sp>
      <p:sp>
        <p:nvSpPr>
          <p:cNvPr id="26" name="Text 24"/>
          <p:cNvSpPr/>
          <p:nvPr/>
        </p:nvSpPr>
        <p:spPr>
          <a:xfrm>
            <a:off x="4553712" y="4224528"/>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5</a:t>
            </a:r>
            <a:endParaRPr lang="en-US" sz="2700" dirty="0"/>
          </a:p>
        </p:txBody>
      </p:sp>
      <p:sp>
        <p:nvSpPr>
          <p:cNvPr id="27" name="Text 25"/>
          <p:cNvSpPr/>
          <p:nvPr/>
        </p:nvSpPr>
        <p:spPr>
          <a:xfrm>
            <a:off x="5394960" y="4279392"/>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Aufklären</a:t>
            </a:r>
            <a:endParaRPr lang="en-US" sz="2100" dirty="0"/>
          </a:p>
        </p:txBody>
      </p:sp>
      <p:sp>
        <p:nvSpPr>
          <p:cNvPr id="28" name="Text 26"/>
          <p:cNvSpPr/>
          <p:nvPr/>
        </p:nvSpPr>
        <p:spPr>
          <a:xfrm>
            <a:off x="4572000" y="5084064"/>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Mythen &amp; Fakten</a:t>
            </a:r>
            <a:endParaRPr lang="en-US" sz="1450" dirty="0"/>
          </a:p>
        </p:txBody>
      </p:sp>
      <p:sp>
        <p:nvSpPr>
          <p:cNvPr id="29" name="Shape 27"/>
          <p:cNvSpPr/>
          <p:nvPr/>
        </p:nvSpPr>
        <p:spPr>
          <a:xfrm>
            <a:off x="7991856" y="3950208"/>
            <a:ext cx="3456432" cy="1874520"/>
          </a:xfrm>
          <a:prstGeom prst="roundRect">
            <a:avLst>
              <a:gd name="adj" fmla="val 536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30" name="Shape 28"/>
          <p:cNvSpPr/>
          <p:nvPr/>
        </p:nvSpPr>
        <p:spPr>
          <a:xfrm>
            <a:off x="8266176" y="4224528"/>
            <a:ext cx="676656" cy="676656"/>
          </a:xfrm>
          <a:prstGeom prst="ellipse">
            <a:avLst/>
          </a:prstGeom>
          <a:solidFill>
            <a:srgbClr val="6FBE9C"/>
          </a:solidFill>
          <a:ln/>
        </p:spPr>
      </p:sp>
      <p:sp>
        <p:nvSpPr>
          <p:cNvPr id="31" name="Text 29"/>
          <p:cNvSpPr/>
          <p:nvPr/>
        </p:nvSpPr>
        <p:spPr>
          <a:xfrm>
            <a:off x="8266176" y="4224528"/>
            <a:ext cx="676656" cy="676656"/>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6</a:t>
            </a:r>
            <a:endParaRPr lang="en-US" sz="2700" dirty="0"/>
          </a:p>
        </p:txBody>
      </p:sp>
      <p:sp>
        <p:nvSpPr>
          <p:cNvPr id="32" name="Text 30"/>
          <p:cNvSpPr/>
          <p:nvPr/>
        </p:nvSpPr>
        <p:spPr>
          <a:xfrm>
            <a:off x="9107424" y="4279392"/>
            <a:ext cx="2176272" cy="45720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Hoffen</a:t>
            </a:r>
            <a:endParaRPr lang="en-US" sz="2100" dirty="0"/>
          </a:p>
        </p:txBody>
      </p:sp>
      <p:sp>
        <p:nvSpPr>
          <p:cNvPr id="33" name="Text 31"/>
          <p:cNvSpPr/>
          <p:nvPr/>
        </p:nvSpPr>
        <p:spPr>
          <a:xfrm>
            <a:off x="8284464" y="5084064"/>
            <a:ext cx="2907792" cy="640080"/>
          </a:xfrm>
          <a:prstGeom prst="rect">
            <a:avLst/>
          </a:prstGeom>
          <a:noFill/>
          <a:ln/>
        </p:spPr>
        <p:txBody>
          <a:bodyPr wrap="square" rtlCol="0" anchor="ctr"/>
          <a:lstStyle/>
          <a:p>
            <a:pPr indent="0" marL="0">
              <a:buNone/>
            </a:pPr>
            <a:r>
              <a:rPr lang="en-US" sz="1450" dirty="0">
                <a:solidFill>
                  <a:srgbClr val="5E736E"/>
                </a:solidFill>
                <a:latin typeface="Calibri" pitchFamily="34" charset="0"/>
                <a:ea typeface="Calibri" pitchFamily="34" charset="-122"/>
                <a:cs typeface="Calibri" pitchFamily="34" charset="-120"/>
              </a:rPr>
              <a:t>Hilfe &amp; Wege aus der Krise</a:t>
            </a:r>
            <a:endParaRPr lang="en-US" sz="1450" dirty="0"/>
          </a:p>
        </p:txBody>
      </p:sp>
      <p:sp>
        <p:nvSpPr>
          <p:cNvPr id="34" name="Text 32"/>
          <p:cNvSpPr/>
          <p:nvPr/>
        </p:nvSpPr>
        <p:spPr>
          <a:xfrm>
            <a:off x="566928" y="5943600"/>
            <a:ext cx="11057839" cy="457200"/>
          </a:xfrm>
          <a:prstGeom prst="rect">
            <a:avLst/>
          </a:prstGeom>
          <a:noFill/>
          <a:ln/>
        </p:spPr>
        <p:txBody>
          <a:bodyPr wrap="square" rtlCol="0" anchor="ctr"/>
          <a:lstStyle/>
          <a:p>
            <a:pPr algn="ctr" indent="0" marL="0">
              <a:buNone/>
            </a:pPr>
            <a:r>
              <a:rPr lang="en-US" sz="1550" i="1" dirty="0">
                <a:solidFill>
                  <a:srgbClr val="2E9284"/>
                </a:solidFill>
                <a:latin typeface="Calibri" pitchFamily="34" charset="0"/>
                <a:ea typeface="Calibri" pitchFamily="34" charset="-122"/>
                <a:cs typeface="Calibri" pitchFamily="34" charset="-120"/>
              </a:rPr>
              <a:t>Ein roter Faden zieht sich durch alles: nicht nur WISSEN, was eine Erkrankung ist – sondern VERSTEHEN, wie sie sich anfühlt.</a:t>
            </a:r>
            <a:endParaRPr lang="en-US" sz="1550" dirty="0"/>
          </a:p>
        </p:txBody>
      </p:sp>
      <p:sp>
        <p:nvSpPr>
          <p:cNvPr id="36" name="Text 33"/>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7" name="Text 34"/>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4000"/>
            </a:srgbClr>
          </a:solidFill>
          <a:ln/>
        </p:spPr>
      </p:sp>
      <p:sp>
        <p:nvSpPr>
          <p:cNvPr id="4" name="Shape 1"/>
          <p:cNvSpPr/>
          <p:nvPr/>
        </p:nvSpPr>
        <p:spPr>
          <a:xfrm>
            <a:off x="0" y="0"/>
            <a:ext cx="12191695" cy="6858000"/>
          </a:xfrm>
          <a:prstGeom prst="rect">
            <a:avLst/>
          </a:prstGeom>
          <a:solidFill>
            <a:srgbClr val="24685C">
              <a:alpha val="88000"/>
            </a:srgbClr>
          </a:solidFill>
          <a:ln/>
        </p:spPr>
      </p:sp>
      <p:sp>
        <p:nvSpPr>
          <p:cNvPr id="5" name="Text 2"/>
          <p:cNvSpPr/>
          <p:nvPr/>
        </p:nvSpPr>
        <p:spPr>
          <a:xfrm>
            <a:off x="566928" y="594360"/>
            <a:ext cx="10058400" cy="320040"/>
          </a:xfrm>
          <a:prstGeom prst="rect">
            <a:avLst/>
          </a:prstGeom>
          <a:noFill/>
          <a:ln/>
        </p:spPr>
        <p:txBody>
          <a:bodyPr wrap="square" rtlCol="0" anchor="ctr"/>
          <a:lstStyle/>
          <a:p>
            <a:pPr indent="0" marL="0">
              <a:buNone/>
            </a:pPr>
            <a:r>
              <a:rPr lang="en-US" sz="1300" b="1" spc="200" kern="0" dirty="0">
                <a:solidFill>
                  <a:srgbClr val="F4D9B8"/>
                </a:solidFill>
                <a:latin typeface="Calibri" pitchFamily="34" charset="0"/>
                <a:ea typeface="Calibri" pitchFamily="34" charset="-122"/>
                <a:cs typeface="Calibri" pitchFamily="34" charset="-120"/>
              </a:rPr>
              <a:t>WARUM WIR HEUTE HIER SIND</a:t>
            </a:r>
            <a:endParaRPr lang="en-US" sz="1300" dirty="0"/>
          </a:p>
        </p:txBody>
      </p:sp>
      <p:sp>
        <p:nvSpPr>
          <p:cNvPr id="6" name="Text 3"/>
          <p:cNvSpPr/>
          <p:nvPr/>
        </p:nvSpPr>
        <p:spPr>
          <a:xfrm>
            <a:off x="566928" y="960120"/>
            <a:ext cx="10972800" cy="1371600"/>
          </a:xfrm>
          <a:prstGeom prst="rect">
            <a:avLst/>
          </a:prstGeom>
          <a:noFill/>
          <a:ln/>
        </p:spPr>
        <p:txBody>
          <a:bodyPr wrap="square"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Über etwas reden, das man nicht sieht –</a:t>
            </a:r>
            <a:endParaRPr lang="en-US" sz="3200" dirty="0"/>
          </a:p>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damit es kein Schweigen mehr braucht.</a:t>
            </a:r>
            <a:endParaRPr lang="en-US" sz="3200" dirty="0"/>
          </a:p>
        </p:txBody>
      </p:sp>
      <p:sp>
        <p:nvSpPr>
          <p:cNvPr id="7" name="Shape 4"/>
          <p:cNvSpPr/>
          <p:nvPr/>
        </p:nvSpPr>
        <p:spPr>
          <a:xfrm>
            <a:off x="566928" y="2834640"/>
            <a:ext cx="3520440" cy="2743200"/>
          </a:xfrm>
          <a:prstGeom prst="roundRect">
            <a:avLst>
              <a:gd name="adj" fmla="val 3667"/>
            </a:avLst>
          </a:prstGeom>
          <a:solidFill>
            <a:srgbClr val="FFFFFF">
              <a:alpha val="92000"/>
            </a:srgbClr>
          </a:solidFill>
          <a:ln/>
        </p:spPr>
      </p:sp>
      <p:sp>
        <p:nvSpPr>
          <p:cNvPr id="8" name="Shape 5"/>
          <p:cNvSpPr/>
          <p:nvPr/>
        </p:nvSpPr>
        <p:spPr>
          <a:xfrm>
            <a:off x="886968" y="3154680"/>
            <a:ext cx="804672" cy="804672"/>
          </a:xfrm>
          <a:prstGeom prst="ellipse">
            <a:avLst/>
          </a:prstGeom>
          <a:solidFill>
            <a:srgbClr val="2E9284"/>
          </a:solidFill>
          <a:ln/>
        </p:spPr>
      </p:sp>
      <p:pic>
        <p:nvPicPr>
          <p:cNvPr id="9" name="Image 1" descr="preencoded.png">    </p:cNvPr>
          <p:cNvPicPr>
            <a:picLocks noChangeAspect="1"/>
          </p:cNvPicPr>
          <p:nvPr/>
        </p:nvPicPr>
        <p:blipFill>
          <a:blip r:embed="rId2"/>
          <a:stretch>
            <a:fillRect/>
          </a:stretch>
        </p:blipFill>
        <p:spPr>
          <a:xfrm>
            <a:off x="1096183" y="3363895"/>
            <a:ext cx="386243" cy="386243"/>
          </a:xfrm>
          <a:prstGeom prst="rect">
            <a:avLst/>
          </a:prstGeom>
        </p:spPr>
      </p:pic>
      <p:sp>
        <p:nvSpPr>
          <p:cNvPr id="10" name="Text 6"/>
          <p:cNvSpPr/>
          <p:nvPr/>
        </p:nvSpPr>
        <p:spPr>
          <a:xfrm>
            <a:off x="859536" y="4114800"/>
            <a:ext cx="2971800" cy="640080"/>
          </a:xfrm>
          <a:prstGeom prst="rect">
            <a:avLst/>
          </a:prstGeom>
          <a:noFill/>
          <a:ln/>
        </p:spPr>
        <p:txBody>
          <a:bodyPr wrap="square" rtlCol="0" anchor="ctr"/>
          <a:lstStyle/>
          <a:p>
            <a:pPr indent="0" marL="0">
              <a:buNone/>
            </a:pPr>
            <a:r>
              <a:rPr lang="en-US" sz="3100" b="1" dirty="0">
                <a:solidFill>
                  <a:srgbClr val="2C7A6B"/>
                </a:solidFill>
                <a:latin typeface="Cambria" pitchFamily="34" charset="0"/>
                <a:ea typeface="Cambria" pitchFamily="34" charset="-122"/>
                <a:cs typeface="Cambria" pitchFamily="34" charset="-120"/>
              </a:rPr>
              <a:t>~1 von 4</a:t>
            </a:r>
            <a:endParaRPr lang="en-US" sz="3100" dirty="0"/>
          </a:p>
        </p:txBody>
      </p:sp>
      <p:sp>
        <p:nvSpPr>
          <p:cNvPr id="11" name="Text 7"/>
          <p:cNvSpPr/>
          <p:nvPr/>
        </p:nvSpPr>
        <p:spPr>
          <a:xfrm>
            <a:off x="886968" y="4754880"/>
            <a:ext cx="2880360" cy="77724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Menschen in Österreich ist im Lauf eines Jahres psychisch belastet oder erkrankt.</a:t>
            </a:r>
            <a:endParaRPr lang="en-US" sz="1450" dirty="0"/>
          </a:p>
        </p:txBody>
      </p:sp>
      <p:sp>
        <p:nvSpPr>
          <p:cNvPr id="12" name="Shape 8"/>
          <p:cNvSpPr/>
          <p:nvPr/>
        </p:nvSpPr>
        <p:spPr>
          <a:xfrm>
            <a:off x="4343400" y="2834640"/>
            <a:ext cx="3520440" cy="2743200"/>
          </a:xfrm>
          <a:prstGeom prst="roundRect">
            <a:avLst>
              <a:gd name="adj" fmla="val 3667"/>
            </a:avLst>
          </a:prstGeom>
          <a:solidFill>
            <a:srgbClr val="FFFFFF">
              <a:alpha val="92000"/>
            </a:srgbClr>
          </a:solidFill>
          <a:ln/>
        </p:spPr>
      </p:sp>
      <p:sp>
        <p:nvSpPr>
          <p:cNvPr id="13" name="Shape 9"/>
          <p:cNvSpPr/>
          <p:nvPr/>
        </p:nvSpPr>
        <p:spPr>
          <a:xfrm>
            <a:off x="4663440" y="3154680"/>
            <a:ext cx="804672" cy="804672"/>
          </a:xfrm>
          <a:prstGeom prst="ellipse">
            <a:avLst/>
          </a:prstGeom>
          <a:solidFill>
            <a:srgbClr val="2E9284"/>
          </a:solidFill>
          <a:ln/>
        </p:spPr>
      </p:sp>
      <p:pic>
        <p:nvPicPr>
          <p:cNvPr id="14" name="Image 2" descr="preencoded.png">    </p:cNvPr>
          <p:cNvPicPr>
            <a:picLocks noChangeAspect="1"/>
          </p:cNvPicPr>
          <p:nvPr/>
        </p:nvPicPr>
        <p:blipFill>
          <a:blip r:embed="rId3"/>
          <a:stretch>
            <a:fillRect/>
          </a:stretch>
        </p:blipFill>
        <p:spPr>
          <a:xfrm>
            <a:off x="4872655" y="3363895"/>
            <a:ext cx="386243" cy="386243"/>
          </a:xfrm>
          <a:prstGeom prst="rect">
            <a:avLst/>
          </a:prstGeom>
        </p:spPr>
      </p:pic>
      <p:sp>
        <p:nvSpPr>
          <p:cNvPr id="15" name="Text 10"/>
          <p:cNvSpPr/>
          <p:nvPr/>
        </p:nvSpPr>
        <p:spPr>
          <a:xfrm>
            <a:off x="4636008" y="4114800"/>
            <a:ext cx="2971800" cy="640080"/>
          </a:xfrm>
          <a:prstGeom prst="rect">
            <a:avLst/>
          </a:prstGeom>
          <a:noFill/>
          <a:ln/>
        </p:spPr>
        <p:txBody>
          <a:bodyPr wrap="square" rtlCol="0" anchor="ctr"/>
          <a:lstStyle/>
          <a:p>
            <a:pPr indent="0" marL="0">
              <a:buNone/>
            </a:pPr>
            <a:r>
              <a:rPr lang="en-US" sz="3100" b="1" dirty="0">
                <a:solidFill>
                  <a:srgbClr val="2C7A6B"/>
                </a:solidFill>
                <a:latin typeface="Cambria" pitchFamily="34" charset="0"/>
                <a:ea typeface="Cambria" pitchFamily="34" charset="-122"/>
                <a:cs typeface="Cambria" pitchFamily="34" charset="-120"/>
              </a:rPr>
              <a:t>unsichtbar</a:t>
            </a:r>
            <a:endParaRPr lang="en-US" sz="3100" dirty="0"/>
          </a:p>
        </p:txBody>
      </p:sp>
      <p:sp>
        <p:nvSpPr>
          <p:cNvPr id="16" name="Text 11"/>
          <p:cNvSpPr/>
          <p:nvPr/>
        </p:nvSpPr>
        <p:spPr>
          <a:xfrm>
            <a:off x="4663440" y="4754880"/>
            <a:ext cx="2880360" cy="77724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Die meisten Erkrankungen sieht man niemandem an – deshalb bleiben sie oft unerkannt.</a:t>
            </a:r>
            <a:endParaRPr lang="en-US" sz="1450" dirty="0"/>
          </a:p>
        </p:txBody>
      </p:sp>
      <p:sp>
        <p:nvSpPr>
          <p:cNvPr id="17" name="Shape 12"/>
          <p:cNvSpPr/>
          <p:nvPr/>
        </p:nvSpPr>
        <p:spPr>
          <a:xfrm>
            <a:off x="8119872" y="2834640"/>
            <a:ext cx="3520440" cy="2743200"/>
          </a:xfrm>
          <a:prstGeom prst="roundRect">
            <a:avLst>
              <a:gd name="adj" fmla="val 3667"/>
            </a:avLst>
          </a:prstGeom>
          <a:solidFill>
            <a:srgbClr val="FFFFFF">
              <a:alpha val="92000"/>
            </a:srgbClr>
          </a:solidFill>
          <a:ln/>
        </p:spPr>
      </p:sp>
      <p:sp>
        <p:nvSpPr>
          <p:cNvPr id="18" name="Shape 13"/>
          <p:cNvSpPr/>
          <p:nvPr/>
        </p:nvSpPr>
        <p:spPr>
          <a:xfrm>
            <a:off x="8439912" y="3154680"/>
            <a:ext cx="804672" cy="804672"/>
          </a:xfrm>
          <a:prstGeom prst="ellipse">
            <a:avLst/>
          </a:prstGeom>
          <a:solidFill>
            <a:srgbClr val="2E9284"/>
          </a:solidFill>
          <a:ln/>
        </p:spPr>
      </p:sp>
      <p:pic>
        <p:nvPicPr>
          <p:cNvPr id="19" name="Image 3" descr="preencoded.png">    </p:cNvPr>
          <p:cNvPicPr>
            <a:picLocks noChangeAspect="1"/>
          </p:cNvPicPr>
          <p:nvPr/>
        </p:nvPicPr>
        <p:blipFill>
          <a:blip r:embed="rId4"/>
          <a:stretch>
            <a:fillRect/>
          </a:stretch>
        </p:blipFill>
        <p:spPr>
          <a:xfrm>
            <a:off x="8649127" y="3363895"/>
            <a:ext cx="386243" cy="386243"/>
          </a:xfrm>
          <a:prstGeom prst="rect">
            <a:avLst/>
          </a:prstGeom>
        </p:spPr>
      </p:pic>
      <p:sp>
        <p:nvSpPr>
          <p:cNvPr id="20" name="Text 14"/>
          <p:cNvSpPr/>
          <p:nvPr/>
        </p:nvSpPr>
        <p:spPr>
          <a:xfrm>
            <a:off x="8412480" y="4114800"/>
            <a:ext cx="2971800" cy="640080"/>
          </a:xfrm>
          <a:prstGeom prst="rect">
            <a:avLst/>
          </a:prstGeom>
          <a:noFill/>
          <a:ln/>
        </p:spPr>
        <p:txBody>
          <a:bodyPr wrap="square" rtlCol="0" anchor="ctr"/>
          <a:lstStyle/>
          <a:p>
            <a:pPr indent="0" marL="0">
              <a:buNone/>
            </a:pPr>
            <a:r>
              <a:rPr lang="en-US" sz="3100" b="1" dirty="0">
                <a:solidFill>
                  <a:srgbClr val="2C7A6B"/>
                </a:solidFill>
                <a:latin typeface="Cambria" pitchFamily="34" charset="0"/>
                <a:ea typeface="Cambria" pitchFamily="34" charset="-122"/>
                <a:cs typeface="Cambria" pitchFamily="34" charset="-120"/>
              </a:rPr>
              <a:t>Schweigen</a:t>
            </a:r>
            <a:endParaRPr lang="en-US" sz="3100" dirty="0"/>
          </a:p>
        </p:txBody>
      </p:sp>
      <p:sp>
        <p:nvSpPr>
          <p:cNvPr id="21" name="Text 15"/>
          <p:cNvSpPr/>
          <p:nvPr/>
        </p:nvSpPr>
        <p:spPr>
          <a:xfrm>
            <a:off x="8439912" y="4754880"/>
            <a:ext cx="2880360" cy="77724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Aus Scham und Angst vor Vorurteilen sprechen viele erst spät – oder gar nicht.</a:t>
            </a:r>
            <a:endParaRPr lang="en-US" sz="1450" dirty="0"/>
          </a:p>
        </p:txBody>
      </p:sp>
      <p:sp>
        <p:nvSpPr>
          <p:cNvPr id="23" name="Text 1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4" name="Text 1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IHRE STIMME ZÄHLT</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Was möchten Sie heute mitnehmen?</a:t>
            </a:r>
            <a:endParaRPr lang="en-US" sz="3400" dirty="0"/>
          </a:p>
        </p:txBody>
      </p:sp>
      <p:sp>
        <p:nvSpPr>
          <p:cNvPr id="4" name="Shape 2"/>
          <p:cNvSpPr/>
          <p:nvPr/>
        </p:nvSpPr>
        <p:spPr>
          <a:xfrm>
            <a:off x="566928" y="1783080"/>
            <a:ext cx="5486400" cy="3931920"/>
          </a:xfrm>
          <a:prstGeom prst="roundRect">
            <a:avLst>
              <a:gd name="adj" fmla="val 2558"/>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932688" y="2103120"/>
            <a:ext cx="804672" cy="804672"/>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1141903" y="2312335"/>
            <a:ext cx="386243" cy="386243"/>
          </a:xfrm>
          <a:prstGeom prst="rect">
            <a:avLst/>
          </a:prstGeom>
        </p:spPr>
      </p:pic>
      <p:sp>
        <p:nvSpPr>
          <p:cNvPr id="7" name="Text 4"/>
          <p:cNvSpPr/>
          <p:nvPr/>
        </p:nvSpPr>
        <p:spPr>
          <a:xfrm>
            <a:off x="1984248" y="2212848"/>
            <a:ext cx="3657600" cy="548640"/>
          </a:xfrm>
          <a:prstGeom prst="rect">
            <a:avLst/>
          </a:prstGeom>
          <a:noFill/>
          <a:ln/>
        </p:spPr>
        <p:txBody>
          <a:bodyPr wrap="square" rtlCol="0" anchor="ctr"/>
          <a:lstStyle/>
          <a:p>
            <a:pPr indent="0" marL="0">
              <a:buNone/>
            </a:pPr>
            <a:r>
              <a:rPr lang="en-US" sz="2100" b="1" dirty="0">
                <a:solidFill>
                  <a:srgbClr val="2C7A6B"/>
                </a:solidFill>
                <a:latin typeface="Cambria" pitchFamily="34" charset="0"/>
                <a:ea typeface="Cambria" pitchFamily="34" charset="-122"/>
                <a:cs typeface="Cambria" pitchFamily="34" charset="-120"/>
              </a:rPr>
              <a:t>Kurze Runde</a:t>
            </a:r>
            <a:endParaRPr lang="en-US" sz="2100" dirty="0"/>
          </a:p>
        </p:txBody>
      </p:sp>
      <p:sp>
        <p:nvSpPr>
          <p:cNvPr id="8" name="Text 5"/>
          <p:cNvSpPr/>
          <p:nvPr/>
        </p:nvSpPr>
        <p:spPr>
          <a:xfrm>
            <a:off x="1024128" y="3063240"/>
            <a:ext cx="4754880" cy="2468880"/>
          </a:xfrm>
          <a:prstGeom prst="rect">
            <a:avLst/>
          </a:prstGeom>
          <a:noFill/>
          <a:ln/>
        </p:spPr>
        <p:txBody>
          <a:bodyPr wrap="square" rtlCol="0" anchor="ctr"/>
          <a:lstStyle/>
          <a:p>
            <a:pPr marL="342900" indent="-342900">
              <a:spcAft>
                <a:spcPts val="1000"/>
              </a:spcAft>
              <a:buSzPct val="100000"/>
              <a:buChar char="•"/>
            </a:pPr>
            <a:r>
              <a:rPr lang="en-US" sz="1600" dirty="0">
                <a:solidFill>
                  <a:srgbClr val="23423C"/>
                </a:solidFill>
                <a:latin typeface="Calibri" pitchFamily="34" charset="0"/>
                <a:ea typeface="Calibri" pitchFamily="34" charset="-122"/>
                <a:cs typeface="Calibri" pitchFamily="34" charset="-120"/>
              </a:rPr>
              <a:t>Was hat Sie hierher geführt?</a:t>
            </a:r>
            <a:endParaRPr lang="en-US" sz="1600" dirty="0"/>
          </a:p>
          <a:p>
            <a:pPr marL="342900" indent="-342900">
              <a:spcAft>
                <a:spcPts val="1000"/>
              </a:spcAft>
              <a:buSzPct val="100000"/>
              <a:buChar char="•"/>
            </a:pPr>
            <a:r>
              <a:rPr lang="en-US" sz="1600" dirty="0">
                <a:solidFill>
                  <a:srgbClr val="23423C"/>
                </a:solidFill>
                <a:latin typeface="Calibri" pitchFamily="34" charset="0"/>
                <a:ea typeface="Calibri" pitchFamily="34" charset="-122"/>
                <a:cs typeface="Calibri" pitchFamily="34" charset="-120"/>
              </a:rPr>
              <a:t>Kennen Sie jemanden mit einer psychischen Erkrankung?</a:t>
            </a:r>
            <a:endParaRPr lang="en-US" sz="1600" dirty="0"/>
          </a:p>
          <a:p>
            <a:pPr marL="342900" indent="-342900">
              <a:spcAft>
                <a:spcPts val="1000"/>
              </a:spcAft>
              <a:buSzPct val="100000"/>
              <a:buChar char="•"/>
            </a:pPr>
            <a:r>
              <a:rPr lang="en-US" sz="1600" dirty="0">
                <a:solidFill>
                  <a:srgbClr val="23423C"/>
                </a:solidFill>
                <a:latin typeface="Calibri" pitchFamily="34" charset="0"/>
                <a:ea typeface="Calibri" pitchFamily="34" charset="-122"/>
                <a:cs typeface="Calibri" pitchFamily="34" charset="-120"/>
              </a:rPr>
              <a:t>Was wäre für Sie heute ein guter Tag?</a:t>
            </a:r>
            <a:endParaRPr lang="en-US" sz="1600" dirty="0"/>
          </a:p>
          <a:p>
            <a:pPr marL="342900" indent="-342900">
              <a:buSzPct val="100000"/>
              <a:buChar char="•"/>
            </a:pPr>
            <a:r>
              <a:rPr lang="en-US" sz="1600" dirty="0">
                <a:solidFill>
                  <a:srgbClr val="23423C"/>
                </a:solidFill>
                <a:latin typeface="Calibri" pitchFamily="34" charset="0"/>
                <a:ea typeface="Calibri" pitchFamily="34" charset="-122"/>
                <a:cs typeface="Calibri" pitchFamily="34" charset="-120"/>
              </a:rPr>
              <a:t>Gibt es eine Frage, die Sie schon lange beschäftigt?</a:t>
            </a:r>
            <a:endParaRPr lang="en-US" sz="1600" dirty="0"/>
          </a:p>
        </p:txBody>
      </p:sp>
      <p:sp>
        <p:nvSpPr>
          <p:cNvPr id="9" name="Shape 6"/>
          <p:cNvSpPr/>
          <p:nvPr/>
        </p:nvSpPr>
        <p:spPr>
          <a:xfrm>
            <a:off x="6419088" y="1783080"/>
            <a:ext cx="5205679" cy="3931920"/>
          </a:xfrm>
          <a:prstGeom prst="roundRect">
            <a:avLst>
              <a:gd name="adj" fmla="val 2558"/>
            </a:avLst>
          </a:prstGeom>
          <a:solidFill>
            <a:srgbClr val="2C7A6B"/>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Text 7"/>
          <p:cNvSpPr/>
          <p:nvPr/>
        </p:nvSpPr>
        <p:spPr>
          <a:xfrm>
            <a:off x="6784848" y="2103120"/>
            <a:ext cx="45720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So sammeln wir</a:t>
            </a:r>
            <a:endParaRPr lang="en-US" sz="1900" dirty="0"/>
          </a:p>
        </p:txBody>
      </p:sp>
      <p:sp>
        <p:nvSpPr>
          <p:cNvPr id="11" name="Text 8"/>
          <p:cNvSpPr/>
          <p:nvPr/>
        </p:nvSpPr>
        <p:spPr>
          <a:xfrm>
            <a:off x="6784848" y="2788920"/>
            <a:ext cx="4572000" cy="2194560"/>
          </a:xfrm>
          <a:prstGeom prst="rect">
            <a:avLst/>
          </a:prstGeom>
          <a:noFill/>
          <a:ln/>
        </p:spPr>
        <p:txBody>
          <a:bodyPr wrap="square" rtlCol="0" anchor="ctr"/>
          <a:lstStyle/>
          <a:p>
            <a:pPr marL="342900" indent="-342900">
              <a:spcAft>
                <a:spcPts val="1100"/>
              </a:spcAft>
              <a:buSzPct val="100000"/>
              <a:buChar char="•"/>
            </a:pPr>
            <a:r>
              <a:rPr lang="en-US" sz="1600" dirty="0">
                <a:solidFill>
                  <a:srgbClr val="F1FAF5"/>
                </a:solidFill>
                <a:latin typeface="Calibri" pitchFamily="34" charset="0"/>
                <a:ea typeface="Calibri" pitchFamily="34" charset="-122"/>
                <a:cs typeface="Calibri" pitchFamily="34" charset="-120"/>
              </a:rPr>
              <a:t>Zuruf oder auf Moderationskarten</a:t>
            </a:r>
            <a:endParaRPr lang="en-US" sz="1600" dirty="0"/>
          </a:p>
          <a:p>
            <a:pPr marL="342900" indent="-342900">
              <a:spcAft>
                <a:spcPts val="1100"/>
              </a:spcAft>
              <a:buSzPct val="100000"/>
              <a:buChar char="•"/>
            </a:pPr>
            <a:r>
              <a:rPr lang="en-US" sz="1600" dirty="0">
                <a:solidFill>
                  <a:srgbClr val="F1FAF5"/>
                </a:solidFill>
                <a:latin typeface="Calibri" pitchFamily="34" charset="0"/>
                <a:ea typeface="Calibri" pitchFamily="34" charset="-122"/>
                <a:cs typeface="Calibri" pitchFamily="34" charset="-120"/>
              </a:rPr>
              <a:t>An Pinnwand / Flipchart sichtbar machen</a:t>
            </a:r>
            <a:endParaRPr lang="en-US" sz="1600" dirty="0"/>
          </a:p>
          <a:p>
            <a:pPr marL="342900" indent="-342900">
              <a:buSzPct val="100000"/>
              <a:buChar char="•"/>
            </a:pPr>
            <a:r>
              <a:rPr lang="en-US" sz="1600" dirty="0">
                <a:solidFill>
                  <a:srgbClr val="F1FAF5"/>
                </a:solidFill>
                <a:latin typeface="Calibri" pitchFamily="34" charset="0"/>
                <a:ea typeface="Calibri" pitchFamily="34" charset="-122"/>
                <a:cs typeface="Calibri" pitchFamily="34" charset="-120"/>
              </a:rPr>
              <a:t>Am Ende gemeinsam prüfen: erfüllt?</a:t>
            </a:r>
            <a:endParaRPr lang="en-US" sz="1600" dirty="0"/>
          </a:p>
        </p:txBody>
      </p:sp>
      <p:sp>
        <p:nvSpPr>
          <p:cNvPr id="13" name="Text 9"/>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4" name="Text 10"/>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DAMIT SICH ALLE SICHER FÜHLEN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Unser Miteinander heute</a:t>
            </a:r>
            <a:endParaRPr lang="en-US" sz="3400" dirty="0"/>
          </a:p>
        </p:txBody>
      </p:sp>
      <p:sp>
        <p:nvSpPr>
          <p:cNvPr id="4" name="Shape 2"/>
          <p:cNvSpPr/>
          <p:nvPr/>
        </p:nvSpPr>
        <p:spPr>
          <a:xfrm>
            <a:off x="566928"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59536" y="2048256"/>
            <a:ext cx="658368" cy="658368"/>
          </a:xfrm>
          <a:prstGeom prst="ellipse">
            <a:avLst/>
          </a:prstGeom>
          <a:solidFill>
            <a:srgbClr val="6FBE9C"/>
          </a:solidFill>
          <a:ln/>
        </p:spPr>
      </p:sp>
      <p:pic>
        <p:nvPicPr>
          <p:cNvPr id="6" name="Image 0" descr="preencoded.png">    </p:cNvPr>
          <p:cNvPicPr>
            <a:picLocks noChangeAspect="1"/>
          </p:cNvPicPr>
          <p:nvPr/>
        </p:nvPicPr>
        <p:blipFill>
          <a:blip r:embed="rId1"/>
          <a:stretch>
            <a:fillRect/>
          </a:stretch>
        </p:blipFill>
        <p:spPr>
          <a:xfrm>
            <a:off x="1030712" y="2219432"/>
            <a:ext cx="316017" cy="316017"/>
          </a:xfrm>
          <a:prstGeom prst="rect">
            <a:avLst/>
          </a:prstGeom>
        </p:spPr>
      </p:pic>
      <p:sp>
        <p:nvSpPr>
          <p:cNvPr id="7" name="Text 4"/>
          <p:cNvSpPr/>
          <p:nvPr/>
        </p:nvSpPr>
        <p:spPr>
          <a:xfrm>
            <a:off x="1645920" y="2121408"/>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Vertraulichkeit</a:t>
            </a:r>
            <a:endParaRPr lang="en-US" sz="1700" dirty="0"/>
          </a:p>
        </p:txBody>
      </p:sp>
      <p:sp>
        <p:nvSpPr>
          <p:cNvPr id="8" name="Text 5"/>
          <p:cNvSpPr/>
          <p:nvPr/>
        </p:nvSpPr>
        <p:spPr>
          <a:xfrm>
            <a:off x="859536" y="2779776"/>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Was hier gesagt wird, bleibt hier. Geschichten gehören denen, die sie erzählen.</a:t>
            </a:r>
            <a:endParaRPr lang="en-US" sz="1350" dirty="0"/>
          </a:p>
        </p:txBody>
      </p:sp>
      <p:sp>
        <p:nvSpPr>
          <p:cNvPr id="9" name="Shape 6"/>
          <p:cNvSpPr/>
          <p:nvPr/>
        </p:nvSpPr>
        <p:spPr>
          <a:xfrm>
            <a:off x="4279392"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4572000" y="2048256"/>
            <a:ext cx="658368" cy="658368"/>
          </a:xfrm>
          <a:prstGeom prst="ellipse">
            <a:avLst/>
          </a:prstGeom>
          <a:solidFill>
            <a:srgbClr val="6FBE9C"/>
          </a:solidFill>
          <a:ln/>
        </p:spPr>
      </p:sp>
      <p:pic>
        <p:nvPicPr>
          <p:cNvPr id="11" name="Image 1" descr="preencoded.png">    </p:cNvPr>
          <p:cNvPicPr>
            <a:picLocks noChangeAspect="1"/>
          </p:cNvPicPr>
          <p:nvPr/>
        </p:nvPicPr>
        <p:blipFill>
          <a:blip r:embed="rId2"/>
          <a:stretch>
            <a:fillRect/>
          </a:stretch>
        </p:blipFill>
        <p:spPr>
          <a:xfrm>
            <a:off x="4743176" y="2219432"/>
            <a:ext cx="316017" cy="316017"/>
          </a:xfrm>
          <a:prstGeom prst="rect">
            <a:avLst/>
          </a:prstGeom>
        </p:spPr>
      </p:pic>
      <p:sp>
        <p:nvSpPr>
          <p:cNvPr id="12" name="Text 8"/>
          <p:cNvSpPr/>
          <p:nvPr/>
        </p:nvSpPr>
        <p:spPr>
          <a:xfrm>
            <a:off x="5358384" y="2121408"/>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Respekt</a:t>
            </a:r>
            <a:endParaRPr lang="en-US" sz="1700" dirty="0"/>
          </a:p>
        </p:txBody>
      </p:sp>
      <p:sp>
        <p:nvSpPr>
          <p:cNvPr id="13" name="Text 9"/>
          <p:cNvSpPr/>
          <p:nvPr/>
        </p:nvSpPr>
        <p:spPr>
          <a:xfrm>
            <a:off x="4572000" y="2779776"/>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Keine Bewertung, kein Auslachen. Jede Erfahrung ist gültig.</a:t>
            </a:r>
            <a:endParaRPr lang="en-US" sz="1350" dirty="0"/>
          </a:p>
        </p:txBody>
      </p:sp>
      <p:sp>
        <p:nvSpPr>
          <p:cNvPr id="14" name="Shape 10"/>
          <p:cNvSpPr/>
          <p:nvPr/>
        </p:nvSpPr>
        <p:spPr>
          <a:xfrm>
            <a:off x="7991856"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284464" y="2048256"/>
            <a:ext cx="658368" cy="658368"/>
          </a:xfrm>
          <a:prstGeom prst="ellipse">
            <a:avLst/>
          </a:prstGeom>
          <a:solidFill>
            <a:srgbClr val="6FBE9C"/>
          </a:solidFill>
          <a:ln/>
        </p:spPr>
      </p:sp>
      <p:pic>
        <p:nvPicPr>
          <p:cNvPr id="16" name="Image 2" descr="preencoded.png">    </p:cNvPr>
          <p:cNvPicPr>
            <a:picLocks noChangeAspect="1"/>
          </p:cNvPicPr>
          <p:nvPr/>
        </p:nvPicPr>
        <p:blipFill>
          <a:blip r:embed="rId3"/>
          <a:stretch>
            <a:fillRect/>
          </a:stretch>
        </p:blipFill>
        <p:spPr>
          <a:xfrm>
            <a:off x="8455640" y="2219432"/>
            <a:ext cx="316017" cy="316017"/>
          </a:xfrm>
          <a:prstGeom prst="rect">
            <a:avLst/>
          </a:prstGeom>
        </p:spPr>
      </p:pic>
      <p:sp>
        <p:nvSpPr>
          <p:cNvPr id="17" name="Text 12"/>
          <p:cNvSpPr/>
          <p:nvPr/>
        </p:nvSpPr>
        <p:spPr>
          <a:xfrm>
            <a:off x="9070848" y="2121408"/>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Ich-Botschaften</a:t>
            </a:r>
            <a:endParaRPr lang="en-US" sz="1700" dirty="0"/>
          </a:p>
        </p:txBody>
      </p:sp>
      <p:sp>
        <p:nvSpPr>
          <p:cNvPr id="18" name="Text 13"/>
          <p:cNvSpPr/>
          <p:nvPr/>
        </p:nvSpPr>
        <p:spPr>
          <a:xfrm>
            <a:off x="8284464" y="2779776"/>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Wir sprechen von uns – nicht über ‚die‘ Betroffenen.</a:t>
            </a:r>
            <a:endParaRPr lang="en-US" sz="1350" dirty="0"/>
          </a:p>
        </p:txBody>
      </p:sp>
      <p:sp>
        <p:nvSpPr>
          <p:cNvPr id="19" name="Shape 14"/>
          <p:cNvSpPr/>
          <p:nvPr/>
        </p:nvSpPr>
        <p:spPr>
          <a:xfrm>
            <a:off x="566928" y="3776472"/>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859536" y="4087368"/>
            <a:ext cx="658368" cy="658368"/>
          </a:xfrm>
          <a:prstGeom prst="ellipse">
            <a:avLst/>
          </a:prstGeom>
          <a:solidFill>
            <a:srgbClr val="6FBE9C"/>
          </a:solidFill>
          <a:ln/>
        </p:spPr>
      </p:sp>
      <p:pic>
        <p:nvPicPr>
          <p:cNvPr id="21" name="Image 3" descr="preencoded.png">    </p:cNvPr>
          <p:cNvPicPr>
            <a:picLocks noChangeAspect="1"/>
          </p:cNvPicPr>
          <p:nvPr/>
        </p:nvPicPr>
        <p:blipFill>
          <a:blip r:embed="rId4"/>
          <a:stretch>
            <a:fillRect/>
          </a:stretch>
        </p:blipFill>
        <p:spPr>
          <a:xfrm>
            <a:off x="1030712" y="4258544"/>
            <a:ext cx="316017" cy="316017"/>
          </a:xfrm>
          <a:prstGeom prst="rect">
            <a:avLst/>
          </a:prstGeom>
        </p:spPr>
      </p:pic>
      <p:sp>
        <p:nvSpPr>
          <p:cNvPr id="22" name="Text 16"/>
          <p:cNvSpPr/>
          <p:nvPr/>
        </p:nvSpPr>
        <p:spPr>
          <a:xfrm>
            <a:off x="1645920" y="4160520"/>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Freiwilligkeit</a:t>
            </a:r>
            <a:endParaRPr lang="en-US" sz="1700" dirty="0"/>
          </a:p>
        </p:txBody>
      </p:sp>
      <p:sp>
        <p:nvSpPr>
          <p:cNvPr id="23" name="Text 17"/>
          <p:cNvSpPr/>
          <p:nvPr/>
        </p:nvSpPr>
        <p:spPr>
          <a:xfrm>
            <a:off x="859536" y="4818888"/>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Mitmachen ja, Aussteigen jederzeit. Passen ist erlaubt.</a:t>
            </a:r>
            <a:endParaRPr lang="en-US" sz="1350" dirty="0"/>
          </a:p>
        </p:txBody>
      </p:sp>
      <p:sp>
        <p:nvSpPr>
          <p:cNvPr id="24" name="Shape 18"/>
          <p:cNvSpPr/>
          <p:nvPr/>
        </p:nvSpPr>
        <p:spPr>
          <a:xfrm>
            <a:off x="4279392" y="3776472"/>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5" name="Shape 19"/>
          <p:cNvSpPr/>
          <p:nvPr/>
        </p:nvSpPr>
        <p:spPr>
          <a:xfrm>
            <a:off x="4572000" y="4087368"/>
            <a:ext cx="658368" cy="658368"/>
          </a:xfrm>
          <a:prstGeom prst="ellipse">
            <a:avLst/>
          </a:prstGeom>
          <a:solidFill>
            <a:srgbClr val="6FBE9C"/>
          </a:solidFill>
          <a:ln/>
        </p:spPr>
      </p:sp>
      <p:pic>
        <p:nvPicPr>
          <p:cNvPr id="26" name="Image 4" descr="preencoded.png">    </p:cNvPr>
          <p:cNvPicPr>
            <a:picLocks noChangeAspect="1"/>
          </p:cNvPicPr>
          <p:nvPr/>
        </p:nvPicPr>
        <p:blipFill>
          <a:blip r:embed="rId5"/>
          <a:stretch>
            <a:fillRect/>
          </a:stretch>
        </p:blipFill>
        <p:spPr>
          <a:xfrm>
            <a:off x="4743176" y="4258544"/>
            <a:ext cx="316017" cy="316017"/>
          </a:xfrm>
          <a:prstGeom prst="rect">
            <a:avLst/>
          </a:prstGeom>
        </p:spPr>
      </p:pic>
      <p:sp>
        <p:nvSpPr>
          <p:cNvPr id="27" name="Text 20"/>
          <p:cNvSpPr/>
          <p:nvPr/>
        </p:nvSpPr>
        <p:spPr>
          <a:xfrm>
            <a:off x="5358384" y="4160520"/>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Ausreden lassen</a:t>
            </a:r>
            <a:endParaRPr lang="en-US" sz="1700" dirty="0"/>
          </a:p>
        </p:txBody>
      </p:sp>
      <p:sp>
        <p:nvSpPr>
          <p:cNvPr id="28" name="Text 21"/>
          <p:cNvSpPr/>
          <p:nvPr/>
        </p:nvSpPr>
        <p:spPr>
          <a:xfrm>
            <a:off x="4572000" y="4818888"/>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Einer spricht, die anderen hören zu. Kein Wettbewerb um Leid.</a:t>
            </a:r>
            <a:endParaRPr lang="en-US" sz="1350" dirty="0"/>
          </a:p>
        </p:txBody>
      </p:sp>
      <p:sp>
        <p:nvSpPr>
          <p:cNvPr id="29" name="Shape 22"/>
          <p:cNvSpPr/>
          <p:nvPr/>
        </p:nvSpPr>
        <p:spPr>
          <a:xfrm>
            <a:off x="7991856" y="3776472"/>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30" name="Shape 23"/>
          <p:cNvSpPr/>
          <p:nvPr/>
        </p:nvSpPr>
        <p:spPr>
          <a:xfrm>
            <a:off x="8284464" y="4087368"/>
            <a:ext cx="658368" cy="658368"/>
          </a:xfrm>
          <a:prstGeom prst="ellipse">
            <a:avLst/>
          </a:prstGeom>
          <a:solidFill>
            <a:srgbClr val="6FBE9C"/>
          </a:solidFill>
          <a:ln/>
        </p:spPr>
      </p:sp>
      <p:pic>
        <p:nvPicPr>
          <p:cNvPr id="31" name="Image 5" descr="preencoded.png">    </p:cNvPr>
          <p:cNvPicPr>
            <a:picLocks noChangeAspect="1"/>
          </p:cNvPicPr>
          <p:nvPr/>
        </p:nvPicPr>
        <p:blipFill>
          <a:blip r:embed="rId6"/>
          <a:stretch>
            <a:fillRect/>
          </a:stretch>
        </p:blipFill>
        <p:spPr>
          <a:xfrm>
            <a:off x="8455640" y="4258544"/>
            <a:ext cx="316017" cy="316017"/>
          </a:xfrm>
          <a:prstGeom prst="rect">
            <a:avLst/>
          </a:prstGeom>
        </p:spPr>
      </p:pic>
      <p:sp>
        <p:nvSpPr>
          <p:cNvPr id="32" name="Text 24"/>
          <p:cNvSpPr/>
          <p:nvPr/>
        </p:nvSpPr>
        <p:spPr>
          <a:xfrm>
            <a:off x="9070848" y="4160520"/>
            <a:ext cx="2267712" cy="45720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Neugier statt Urteil</a:t>
            </a:r>
            <a:endParaRPr lang="en-US" sz="1700" dirty="0"/>
          </a:p>
        </p:txBody>
      </p:sp>
      <p:sp>
        <p:nvSpPr>
          <p:cNvPr id="33" name="Text 25"/>
          <p:cNvSpPr/>
          <p:nvPr/>
        </p:nvSpPr>
        <p:spPr>
          <a:xfrm>
            <a:off x="8284464" y="4818888"/>
            <a:ext cx="2953512" cy="658368"/>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Fragen sind willkommen – auch die vermeintlich ‚dummen‘.</a:t>
            </a:r>
            <a:endParaRPr lang="en-US" sz="1350" dirty="0"/>
          </a:p>
        </p:txBody>
      </p:sp>
      <p:sp>
        <p:nvSpPr>
          <p:cNvPr id="35" name="Text 2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6" name="Text 2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6000"/>
            </a:srgbClr>
          </a:solidFill>
          <a:ln/>
        </p:spPr>
      </p:sp>
      <p:sp>
        <p:nvSpPr>
          <p:cNvPr id="4" name="Text 1"/>
          <p:cNvSpPr/>
          <p:nvPr/>
        </p:nvSpPr>
        <p:spPr>
          <a:xfrm>
            <a:off x="566928" y="548640"/>
            <a:ext cx="10972800" cy="320040"/>
          </a:xfrm>
          <a:prstGeom prst="rect">
            <a:avLst/>
          </a:prstGeom>
          <a:noFill/>
          <a:ln/>
        </p:spPr>
        <p:txBody>
          <a:bodyPr wrap="square" rtlCol="0" anchor="ctr"/>
          <a:lstStyle/>
          <a:p>
            <a:pPr indent="0" marL="0">
              <a:buNone/>
            </a:pPr>
            <a:r>
              <a:rPr lang="en-US" sz="1300" b="1" spc="200" kern="0" dirty="0">
                <a:solidFill>
                  <a:srgbClr val="F4D9B8"/>
                </a:solidFill>
                <a:latin typeface="Calibri" pitchFamily="34" charset="0"/>
                <a:ea typeface="Calibri" pitchFamily="34" charset="-122"/>
                <a:cs typeface="Calibri" pitchFamily="34" charset="-120"/>
              </a:rPr>
              <a:t>MODUL 2  ·  WAS SIND PSYCHISCHE ERKRANKUNGEN?</a:t>
            </a:r>
            <a:endParaRPr lang="en-US" sz="1300" dirty="0"/>
          </a:p>
        </p:txBody>
      </p:sp>
      <p:sp>
        <p:nvSpPr>
          <p:cNvPr id="5" name="Text 2"/>
          <p:cNvSpPr/>
          <p:nvPr/>
        </p:nvSpPr>
        <p:spPr>
          <a:xfrm>
            <a:off x="566928" y="896112"/>
            <a:ext cx="10972800" cy="640080"/>
          </a:xfrm>
          <a:prstGeom prst="rect">
            <a:avLst/>
          </a:prstGeom>
          <a:noFill/>
          <a:ln/>
        </p:spPr>
        <p:txBody>
          <a:bodyPr wrap="square"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Häufiger, als die meisten denken</a:t>
            </a:r>
            <a:endParaRPr lang="en-US" sz="3300" dirty="0"/>
          </a:p>
        </p:txBody>
      </p:sp>
      <p:sp>
        <p:nvSpPr>
          <p:cNvPr id="6" name="Shape 3"/>
          <p:cNvSpPr/>
          <p:nvPr/>
        </p:nvSpPr>
        <p:spPr>
          <a:xfrm>
            <a:off x="566928" y="1874520"/>
            <a:ext cx="5394960" cy="1627632"/>
          </a:xfrm>
          <a:prstGeom prst="roundRect">
            <a:avLst>
              <a:gd name="adj" fmla="val 6180"/>
            </a:avLst>
          </a:prstGeom>
          <a:solidFill>
            <a:srgbClr val="FFFFFF">
              <a:alpha val="94000"/>
            </a:srgbClr>
          </a:solidFill>
          <a:ln/>
        </p:spPr>
      </p:sp>
      <p:sp>
        <p:nvSpPr>
          <p:cNvPr id="7" name="Text 4"/>
          <p:cNvSpPr/>
          <p:nvPr/>
        </p:nvSpPr>
        <p:spPr>
          <a:xfrm>
            <a:off x="886968" y="2057400"/>
            <a:ext cx="4754880" cy="685800"/>
          </a:xfrm>
          <a:prstGeom prst="rect">
            <a:avLst/>
          </a:prstGeom>
          <a:noFill/>
          <a:ln/>
        </p:spPr>
        <p:txBody>
          <a:bodyPr wrap="square" rtlCol="0" anchor="ctr"/>
          <a:lstStyle/>
          <a:p>
            <a:pPr indent="0" marL="0">
              <a:buNone/>
            </a:pPr>
            <a:r>
              <a:rPr lang="en-US" sz="3500" b="1" dirty="0">
                <a:solidFill>
                  <a:srgbClr val="BC722A"/>
                </a:solidFill>
                <a:latin typeface="Cambria" pitchFamily="34" charset="0"/>
                <a:ea typeface="Cambria" pitchFamily="34" charset="-122"/>
                <a:cs typeface="Cambria" pitchFamily="34" charset="-120"/>
              </a:rPr>
              <a:t>ca. 1 von 4</a:t>
            </a:r>
            <a:endParaRPr lang="en-US" sz="3500" dirty="0"/>
          </a:p>
        </p:txBody>
      </p:sp>
      <p:sp>
        <p:nvSpPr>
          <p:cNvPr id="8" name="Text 5"/>
          <p:cNvSpPr/>
          <p:nvPr/>
        </p:nvSpPr>
        <p:spPr>
          <a:xfrm>
            <a:off x="905256" y="2770632"/>
            <a:ext cx="4754880" cy="621792"/>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Menschen in Österreich ist pro Jahr betroffen</a:t>
            </a:r>
            <a:endParaRPr lang="en-US" sz="1500" dirty="0"/>
          </a:p>
        </p:txBody>
      </p:sp>
      <p:sp>
        <p:nvSpPr>
          <p:cNvPr id="9" name="Shape 6"/>
          <p:cNvSpPr/>
          <p:nvPr/>
        </p:nvSpPr>
        <p:spPr>
          <a:xfrm>
            <a:off x="6281928" y="1874520"/>
            <a:ext cx="5394960" cy="1627632"/>
          </a:xfrm>
          <a:prstGeom prst="roundRect">
            <a:avLst>
              <a:gd name="adj" fmla="val 6180"/>
            </a:avLst>
          </a:prstGeom>
          <a:solidFill>
            <a:srgbClr val="FFFFFF">
              <a:alpha val="94000"/>
            </a:srgbClr>
          </a:solidFill>
          <a:ln/>
        </p:spPr>
      </p:sp>
      <p:sp>
        <p:nvSpPr>
          <p:cNvPr id="10" name="Text 7"/>
          <p:cNvSpPr/>
          <p:nvPr/>
        </p:nvSpPr>
        <p:spPr>
          <a:xfrm>
            <a:off x="6601968" y="2057400"/>
            <a:ext cx="4754880" cy="685800"/>
          </a:xfrm>
          <a:prstGeom prst="rect">
            <a:avLst/>
          </a:prstGeom>
          <a:noFill/>
          <a:ln/>
        </p:spPr>
        <p:txBody>
          <a:bodyPr wrap="square" rtlCol="0" anchor="ctr"/>
          <a:lstStyle/>
          <a:p>
            <a:pPr indent="0" marL="0">
              <a:buNone/>
            </a:pPr>
            <a:r>
              <a:rPr lang="en-US" sz="3500" b="1" dirty="0">
                <a:solidFill>
                  <a:srgbClr val="BC722A"/>
                </a:solidFill>
                <a:latin typeface="Cambria" pitchFamily="34" charset="0"/>
                <a:ea typeface="Cambria" pitchFamily="34" charset="-122"/>
                <a:cs typeface="Cambria" pitchFamily="34" charset="-120"/>
              </a:rPr>
              <a:t>~730.000</a:t>
            </a:r>
            <a:endParaRPr lang="en-US" sz="3500" dirty="0"/>
          </a:p>
        </p:txBody>
      </p:sp>
      <p:sp>
        <p:nvSpPr>
          <p:cNvPr id="11" name="Text 8"/>
          <p:cNvSpPr/>
          <p:nvPr/>
        </p:nvSpPr>
        <p:spPr>
          <a:xfrm>
            <a:off x="6620256" y="2770632"/>
            <a:ext cx="4754880" cy="621792"/>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Menschen leben mit einer Depression</a:t>
            </a:r>
            <a:endParaRPr lang="en-US" sz="1500" dirty="0"/>
          </a:p>
        </p:txBody>
      </p:sp>
      <p:sp>
        <p:nvSpPr>
          <p:cNvPr id="12" name="Shape 9"/>
          <p:cNvSpPr/>
          <p:nvPr/>
        </p:nvSpPr>
        <p:spPr>
          <a:xfrm>
            <a:off x="566928" y="3794760"/>
            <a:ext cx="5394960" cy="1627632"/>
          </a:xfrm>
          <a:prstGeom prst="roundRect">
            <a:avLst>
              <a:gd name="adj" fmla="val 6180"/>
            </a:avLst>
          </a:prstGeom>
          <a:solidFill>
            <a:srgbClr val="FFFFFF">
              <a:alpha val="94000"/>
            </a:srgbClr>
          </a:solidFill>
          <a:ln/>
        </p:spPr>
      </p:sp>
      <p:sp>
        <p:nvSpPr>
          <p:cNvPr id="13" name="Text 10"/>
          <p:cNvSpPr/>
          <p:nvPr/>
        </p:nvSpPr>
        <p:spPr>
          <a:xfrm>
            <a:off x="886968" y="3977640"/>
            <a:ext cx="4754880" cy="685800"/>
          </a:xfrm>
          <a:prstGeom prst="rect">
            <a:avLst/>
          </a:prstGeom>
          <a:noFill/>
          <a:ln/>
        </p:spPr>
        <p:txBody>
          <a:bodyPr wrap="square" rtlCol="0" anchor="ctr"/>
          <a:lstStyle/>
          <a:p>
            <a:pPr indent="0" marL="0">
              <a:buNone/>
            </a:pPr>
            <a:r>
              <a:rPr lang="en-US" sz="3500" b="1" dirty="0">
                <a:solidFill>
                  <a:srgbClr val="BC722A"/>
                </a:solidFill>
                <a:latin typeface="Cambria" pitchFamily="34" charset="0"/>
                <a:ea typeface="Cambria" pitchFamily="34" charset="-122"/>
                <a:cs typeface="Cambria" pitchFamily="34" charset="-120"/>
              </a:rPr>
              <a:t>Nr. 1</a:t>
            </a:r>
            <a:endParaRPr lang="en-US" sz="3500" dirty="0"/>
          </a:p>
        </p:txBody>
      </p:sp>
      <p:sp>
        <p:nvSpPr>
          <p:cNvPr id="14" name="Text 11"/>
          <p:cNvSpPr/>
          <p:nvPr/>
        </p:nvSpPr>
        <p:spPr>
          <a:xfrm>
            <a:off x="905256" y="4690872"/>
            <a:ext cx="4754880" cy="621792"/>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Angststörungen: die häufigste psychische Erkrankung</a:t>
            </a:r>
            <a:endParaRPr lang="en-US" sz="1500" dirty="0"/>
          </a:p>
        </p:txBody>
      </p:sp>
      <p:sp>
        <p:nvSpPr>
          <p:cNvPr id="15" name="Shape 12"/>
          <p:cNvSpPr/>
          <p:nvPr/>
        </p:nvSpPr>
        <p:spPr>
          <a:xfrm>
            <a:off x="6281928" y="3794760"/>
            <a:ext cx="5394960" cy="1627632"/>
          </a:xfrm>
          <a:prstGeom prst="roundRect">
            <a:avLst>
              <a:gd name="adj" fmla="val 6180"/>
            </a:avLst>
          </a:prstGeom>
          <a:solidFill>
            <a:srgbClr val="FFFFFF">
              <a:alpha val="94000"/>
            </a:srgbClr>
          </a:solidFill>
          <a:ln/>
        </p:spPr>
      </p:sp>
      <p:sp>
        <p:nvSpPr>
          <p:cNvPr id="16" name="Text 13"/>
          <p:cNvSpPr/>
          <p:nvPr/>
        </p:nvSpPr>
        <p:spPr>
          <a:xfrm>
            <a:off x="6601968" y="3977640"/>
            <a:ext cx="4754880" cy="685800"/>
          </a:xfrm>
          <a:prstGeom prst="rect">
            <a:avLst/>
          </a:prstGeom>
          <a:noFill/>
          <a:ln/>
        </p:spPr>
        <p:txBody>
          <a:bodyPr wrap="square" rtlCol="0" anchor="ctr"/>
          <a:lstStyle/>
          <a:p>
            <a:pPr indent="0" marL="0">
              <a:buNone/>
            </a:pPr>
            <a:r>
              <a:rPr lang="en-US" sz="3500" b="1" dirty="0">
                <a:solidFill>
                  <a:srgbClr val="BC722A"/>
                </a:solidFill>
                <a:latin typeface="Cambria" pitchFamily="34" charset="0"/>
                <a:ea typeface="Cambria" pitchFamily="34" charset="-122"/>
                <a:cs typeface="Cambria" pitchFamily="34" charset="-120"/>
              </a:rPr>
              <a:t>Top 3</a:t>
            </a:r>
            <a:endParaRPr lang="en-US" sz="3500" dirty="0"/>
          </a:p>
        </p:txBody>
      </p:sp>
      <p:sp>
        <p:nvSpPr>
          <p:cNvPr id="17" name="Text 14"/>
          <p:cNvSpPr/>
          <p:nvPr/>
        </p:nvSpPr>
        <p:spPr>
          <a:xfrm>
            <a:off x="6620256" y="4690872"/>
            <a:ext cx="4754880" cy="621792"/>
          </a:xfrm>
          <a:prstGeom prst="rect">
            <a:avLst/>
          </a:prstGeom>
          <a:noFill/>
          <a:ln/>
        </p:spPr>
        <p:txBody>
          <a:bodyPr wrap="square" rtlCol="0" anchor="ctr"/>
          <a:lstStyle/>
          <a:p>
            <a:pPr indent="0" marL="0">
              <a:buNone/>
            </a:pPr>
            <a:r>
              <a:rPr lang="en-US" sz="1500" dirty="0">
                <a:solidFill>
                  <a:srgbClr val="23423C"/>
                </a:solidFill>
                <a:latin typeface="Calibri" pitchFamily="34" charset="0"/>
                <a:ea typeface="Calibri" pitchFamily="34" charset="-122"/>
                <a:cs typeface="Calibri" pitchFamily="34" charset="-120"/>
              </a:rPr>
              <a:t>psychische Leiden zählen zu den häufigsten Gründen für Krankenstand &amp; Frühpension</a:t>
            </a:r>
            <a:endParaRPr lang="en-US" sz="1500" dirty="0"/>
          </a:p>
        </p:txBody>
      </p:sp>
      <p:sp>
        <p:nvSpPr>
          <p:cNvPr id="18" name="Text 15"/>
          <p:cNvSpPr/>
          <p:nvPr/>
        </p:nvSpPr>
        <p:spPr>
          <a:xfrm>
            <a:off x="566928" y="6035040"/>
            <a:ext cx="11057839" cy="365760"/>
          </a:xfrm>
          <a:prstGeom prst="rect">
            <a:avLst/>
          </a:prstGeom>
          <a:noFill/>
          <a:ln/>
        </p:spPr>
        <p:txBody>
          <a:bodyPr wrap="square" rtlCol="0" anchor="ctr"/>
          <a:lstStyle/>
          <a:p>
            <a:pPr indent="0" marL="0">
              <a:buNone/>
            </a:pPr>
            <a:r>
              <a:rPr lang="en-US" sz="1100" i="1" dirty="0">
                <a:solidFill>
                  <a:srgbClr val="EAF6EF"/>
                </a:solidFill>
                <a:latin typeface="Calibri" pitchFamily="34" charset="0"/>
                <a:ea typeface="Calibri" pitchFamily="34" charset="-122"/>
                <a:cs typeface="Calibri" pitchFamily="34" charset="-120"/>
              </a:rPr>
              <a:t>Zahlen sind Größenordnungen (Quellen u. a. Gesundheit Österreich, Statistik Austria, pro mente) – vor dem Einsatz auf Aktualität prüfen.</a:t>
            </a:r>
            <a:endParaRPr lang="en-US" sz="1100" dirty="0"/>
          </a:p>
        </p:txBody>
      </p:sp>
      <p:sp>
        <p:nvSpPr>
          <p:cNvPr id="20" name="Text 1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1" name="Text 1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WO HÖRT DAS NORMALE AUF?</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Stress · Krise · Erkrankung</a:t>
            </a:r>
            <a:endParaRPr lang="en-US" sz="3400" dirty="0"/>
          </a:p>
        </p:txBody>
      </p:sp>
      <p:sp>
        <p:nvSpPr>
          <p:cNvPr id="4" name="Shape 2"/>
          <p:cNvSpPr/>
          <p:nvPr/>
        </p:nvSpPr>
        <p:spPr>
          <a:xfrm>
            <a:off x="566928" y="1828800"/>
            <a:ext cx="3520440" cy="3566160"/>
          </a:xfrm>
          <a:prstGeom prst="roundRect">
            <a:avLst>
              <a:gd name="adj" fmla="val 2857"/>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566928" y="1828800"/>
            <a:ext cx="3520440" cy="164592"/>
          </a:xfrm>
          <a:prstGeom prst="roundRect">
            <a:avLst>
              <a:gd name="adj" fmla="val 38889"/>
            </a:avLst>
          </a:prstGeom>
          <a:solidFill>
            <a:srgbClr val="6FBE9C"/>
          </a:solidFill>
          <a:ln/>
        </p:spPr>
      </p:sp>
      <p:sp>
        <p:nvSpPr>
          <p:cNvPr id="6" name="Shape 4"/>
          <p:cNvSpPr/>
          <p:nvPr/>
        </p:nvSpPr>
        <p:spPr>
          <a:xfrm>
            <a:off x="886968" y="2212848"/>
            <a:ext cx="749808" cy="749808"/>
          </a:xfrm>
          <a:prstGeom prst="ellipse">
            <a:avLst/>
          </a:prstGeom>
          <a:solidFill>
            <a:srgbClr val="6FBE9C"/>
          </a:solidFill>
          <a:ln/>
        </p:spPr>
      </p:sp>
      <p:pic>
        <p:nvPicPr>
          <p:cNvPr id="7" name="Image 0" descr="preencoded.png">    </p:cNvPr>
          <p:cNvPicPr>
            <a:picLocks noChangeAspect="1"/>
          </p:cNvPicPr>
          <p:nvPr/>
        </p:nvPicPr>
        <p:blipFill>
          <a:blip r:embed="rId1"/>
          <a:stretch>
            <a:fillRect/>
          </a:stretch>
        </p:blipFill>
        <p:spPr>
          <a:xfrm>
            <a:off x="1081918" y="2407798"/>
            <a:ext cx="359908" cy="359908"/>
          </a:xfrm>
          <a:prstGeom prst="rect">
            <a:avLst/>
          </a:prstGeom>
        </p:spPr>
      </p:pic>
      <p:sp>
        <p:nvSpPr>
          <p:cNvPr id="8" name="Text 5"/>
          <p:cNvSpPr/>
          <p:nvPr/>
        </p:nvSpPr>
        <p:spPr>
          <a:xfrm>
            <a:off x="1773936" y="2304288"/>
            <a:ext cx="2148840" cy="54864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Stress / Belastung</a:t>
            </a:r>
            <a:endParaRPr lang="en-US" sz="1800" dirty="0"/>
          </a:p>
        </p:txBody>
      </p:sp>
      <p:sp>
        <p:nvSpPr>
          <p:cNvPr id="9" name="Text 6"/>
          <p:cNvSpPr/>
          <p:nvPr/>
        </p:nvSpPr>
        <p:spPr>
          <a:xfrm>
            <a:off x="886968" y="3154680"/>
            <a:ext cx="2926080" cy="155448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Eine normale Reaktion auf Anforderung. Geht vorbei, wenn die Belastung endet. Erholung funktioniert.</a:t>
            </a:r>
            <a:endParaRPr lang="en-US" sz="1450" dirty="0"/>
          </a:p>
        </p:txBody>
      </p:sp>
      <p:sp>
        <p:nvSpPr>
          <p:cNvPr id="10" name="Text 7"/>
          <p:cNvSpPr/>
          <p:nvPr/>
        </p:nvSpPr>
        <p:spPr>
          <a:xfrm>
            <a:off x="886968" y="4709160"/>
            <a:ext cx="2926080" cy="548640"/>
          </a:xfrm>
          <a:prstGeom prst="rect">
            <a:avLst/>
          </a:prstGeom>
          <a:noFill/>
          <a:ln/>
        </p:spPr>
        <p:txBody>
          <a:bodyPr wrap="square" rtlCol="0" anchor="ctr"/>
          <a:lstStyle/>
          <a:p>
            <a:pPr indent="0" marL="0">
              <a:buNone/>
            </a:pPr>
            <a:r>
              <a:rPr lang="en-US" sz="1400" i="1" dirty="0">
                <a:solidFill>
                  <a:srgbClr val="2E9284"/>
                </a:solidFill>
                <a:latin typeface="Calibri" pitchFamily="34" charset="0"/>
                <a:ea typeface="Calibri" pitchFamily="34" charset="-122"/>
                <a:cs typeface="Calibri" pitchFamily="34" charset="-120"/>
              </a:rPr>
              <a:t>„Ich bin gerade viel unterwegs.“</a:t>
            </a:r>
            <a:endParaRPr lang="en-US" sz="1400" dirty="0"/>
          </a:p>
        </p:txBody>
      </p:sp>
      <p:sp>
        <p:nvSpPr>
          <p:cNvPr id="11" name="Shape 8"/>
          <p:cNvSpPr/>
          <p:nvPr/>
        </p:nvSpPr>
        <p:spPr>
          <a:xfrm>
            <a:off x="4343400" y="1828800"/>
            <a:ext cx="3520440" cy="3566160"/>
          </a:xfrm>
          <a:prstGeom prst="roundRect">
            <a:avLst>
              <a:gd name="adj" fmla="val 2857"/>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2" name="Shape 9"/>
          <p:cNvSpPr/>
          <p:nvPr/>
        </p:nvSpPr>
        <p:spPr>
          <a:xfrm>
            <a:off x="4343400" y="1828800"/>
            <a:ext cx="3520440" cy="164592"/>
          </a:xfrm>
          <a:prstGeom prst="roundRect">
            <a:avLst>
              <a:gd name="adj" fmla="val 38889"/>
            </a:avLst>
          </a:prstGeom>
          <a:solidFill>
            <a:srgbClr val="E89A45"/>
          </a:solidFill>
          <a:ln/>
        </p:spPr>
      </p:sp>
      <p:sp>
        <p:nvSpPr>
          <p:cNvPr id="13" name="Shape 10"/>
          <p:cNvSpPr/>
          <p:nvPr/>
        </p:nvSpPr>
        <p:spPr>
          <a:xfrm>
            <a:off x="4663440" y="2212848"/>
            <a:ext cx="749808" cy="749808"/>
          </a:xfrm>
          <a:prstGeom prst="ellipse">
            <a:avLst/>
          </a:prstGeom>
          <a:solidFill>
            <a:srgbClr val="E89A45"/>
          </a:solidFill>
          <a:ln/>
        </p:spPr>
      </p:sp>
      <p:pic>
        <p:nvPicPr>
          <p:cNvPr id="14" name="Image 1" descr="preencoded.png">    </p:cNvPr>
          <p:cNvPicPr>
            <a:picLocks noChangeAspect="1"/>
          </p:cNvPicPr>
          <p:nvPr/>
        </p:nvPicPr>
        <p:blipFill>
          <a:blip r:embed="rId2"/>
          <a:stretch>
            <a:fillRect/>
          </a:stretch>
        </p:blipFill>
        <p:spPr>
          <a:xfrm>
            <a:off x="4858390" y="2407798"/>
            <a:ext cx="359908" cy="359908"/>
          </a:xfrm>
          <a:prstGeom prst="rect">
            <a:avLst/>
          </a:prstGeom>
        </p:spPr>
      </p:pic>
      <p:sp>
        <p:nvSpPr>
          <p:cNvPr id="15" name="Text 11"/>
          <p:cNvSpPr/>
          <p:nvPr/>
        </p:nvSpPr>
        <p:spPr>
          <a:xfrm>
            <a:off x="5550408" y="2304288"/>
            <a:ext cx="2148840" cy="54864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Krise</a:t>
            </a:r>
            <a:endParaRPr lang="en-US" sz="1800" dirty="0"/>
          </a:p>
        </p:txBody>
      </p:sp>
      <p:sp>
        <p:nvSpPr>
          <p:cNvPr id="16" name="Text 12"/>
          <p:cNvSpPr/>
          <p:nvPr/>
        </p:nvSpPr>
        <p:spPr>
          <a:xfrm>
            <a:off x="4663440" y="3154680"/>
            <a:ext cx="2926080" cy="155448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Ein einschneidendes Ereignis wirft uns aus der Bahn. Zeitlich begrenzt, aber überfordernd. Braucht Unterstützung.</a:t>
            </a:r>
            <a:endParaRPr lang="en-US" sz="1450" dirty="0"/>
          </a:p>
        </p:txBody>
      </p:sp>
      <p:sp>
        <p:nvSpPr>
          <p:cNvPr id="17" name="Text 13"/>
          <p:cNvSpPr/>
          <p:nvPr/>
        </p:nvSpPr>
        <p:spPr>
          <a:xfrm>
            <a:off x="4663440" y="4709160"/>
            <a:ext cx="2926080" cy="548640"/>
          </a:xfrm>
          <a:prstGeom prst="rect">
            <a:avLst/>
          </a:prstGeom>
          <a:noFill/>
          <a:ln/>
        </p:spPr>
        <p:txBody>
          <a:bodyPr wrap="square" rtlCol="0" anchor="ctr"/>
          <a:lstStyle/>
          <a:p>
            <a:pPr indent="0" marL="0">
              <a:buNone/>
            </a:pPr>
            <a:r>
              <a:rPr lang="en-US" sz="1400" i="1" dirty="0">
                <a:solidFill>
                  <a:srgbClr val="2E9284"/>
                </a:solidFill>
                <a:latin typeface="Calibri" pitchFamily="34" charset="0"/>
                <a:ea typeface="Calibri" pitchFamily="34" charset="-122"/>
                <a:cs typeface="Calibri" pitchFamily="34" charset="-120"/>
              </a:rPr>
              <a:t>„Ich weiß gerade nicht weiter.“</a:t>
            </a:r>
            <a:endParaRPr lang="en-US" sz="1400" dirty="0"/>
          </a:p>
        </p:txBody>
      </p:sp>
      <p:sp>
        <p:nvSpPr>
          <p:cNvPr id="18" name="Shape 14"/>
          <p:cNvSpPr/>
          <p:nvPr/>
        </p:nvSpPr>
        <p:spPr>
          <a:xfrm>
            <a:off x="8119872" y="1828800"/>
            <a:ext cx="3520440" cy="3566160"/>
          </a:xfrm>
          <a:prstGeom prst="roundRect">
            <a:avLst>
              <a:gd name="adj" fmla="val 2857"/>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9" name="Shape 15"/>
          <p:cNvSpPr/>
          <p:nvPr/>
        </p:nvSpPr>
        <p:spPr>
          <a:xfrm>
            <a:off x="8119872" y="1828800"/>
            <a:ext cx="3520440" cy="164592"/>
          </a:xfrm>
          <a:prstGeom prst="roundRect">
            <a:avLst>
              <a:gd name="adj" fmla="val 38889"/>
            </a:avLst>
          </a:prstGeom>
          <a:solidFill>
            <a:srgbClr val="2E9284"/>
          </a:solidFill>
          <a:ln/>
        </p:spPr>
      </p:sp>
      <p:sp>
        <p:nvSpPr>
          <p:cNvPr id="20" name="Shape 16"/>
          <p:cNvSpPr/>
          <p:nvPr/>
        </p:nvSpPr>
        <p:spPr>
          <a:xfrm>
            <a:off x="8439912" y="2212848"/>
            <a:ext cx="749808" cy="749808"/>
          </a:xfrm>
          <a:prstGeom prst="ellipse">
            <a:avLst/>
          </a:prstGeom>
          <a:solidFill>
            <a:srgbClr val="2E9284"/>
          </a:solidFill>
          <a:ln/>
        </p:spPr>
      </p:sp>
      <p:pic>
        <p:nvPicPr>
          <p:cNvPr id="21" name="Image 2" descr="preencoded.png">    </p:cNvPr>
          <p:cNvPicPr>
            <a:picLocks noChangeAspect="1"/>
          </p:cNvPicPr>
          <p:nvPr/>
        </p:nvPicPr>
        <p:blipFill>
          <a:blip r:embed="rId3"/>
          <a:stretch>
            <a:fillRect/>
          </a:stretch>
        </p:blipFill>
        <p:spPr>
          <a:xfrm>
            <a:off x="8634862" y="2407798"/>
            <a:ext cx="359908" cy="359908"/>
          </a:xfrm>
          <a:prstGeom prst="rect">
            <a:avLst/>
          </a:prstGeom>
        </p:spPr>
      </p:pic>
      <p:sp>
        <p:nvSpPr>
          <p:cNvPr id="22" name="Text 17"/>
          <p:cNvSpPr/>
          <p:nvPr/>
        </p:nvSpPr>
        <p:spPr>
          <a:xfrm>
            <a:off x="9326880" y="2304288"/>
            <a:ext cx="2148840" cy="54864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Erkrankung</a:t>
            </a:r>
            <a:endParaRPr lang="en-US" sz="1800" dirty="0"/>
          </a:p>
        </p:txBody>
      </p:sp>
      <p:sp>
        <p:nvSpPr>
          <p:cNvPr id="23" name="Text 18"/>
          <p:cNvSpPr/>
          <p:nvPr/>
        </p:nvSpPr>
        <p:spPr>
          <a:xfrm>
            <a:off x="8439912" y="3154680"/>
            <a:ext cx="2926080" cy="1554480"/>
          </a:xfrm>
          <a:prstGeom prst="rect">
            <a:avLst/>
          </a:prstGeom>
          <a:noFill/>
          <a:ln/>
        </p:spPr>
        <p:txBody>
          <a:bodyPr wrap="square" rtlCol="0" anchor="ctr"/>
          <a:lstStyle/>
          <a:p>
            <a:pPr indent="0" marL="0">
              <a:buNone/>
            </a:pPr>
            <a:r>
              <a:rPr lang="en-US" sz="1450" dirty="0">
                <a:solidFill>
                  <a:srgbClr val="23423C"/>
                </a:solidFill>
                <a:latin typeface="Calibri" pitchFamily="34" charset="0"/>
                <a:ea typeface="Calibri" pitchFamily="34" charset="-122"/>
                <a:cs typeface="Calibri" pitchFamily="34" charset="-120"/>
              </a:rPr>
              <a:t>Beschwerden bleiben (Wochen, Monate), belasten den Alltag stark und gehen nicht ‚von selbst‘ weg. Braucht Behandlung.</a:t>
            </a:r>
            <a:endParaRPr lang="en-US" sz="1450" dirty="0"/>
          </a:p>
        </p:txBody>
      </p:sp>
      <p:sp>
        <p:nvSpPr>
          <p:cNvPr id="24" name="Text 19"/>
          <p:cNvSpPr/>
          <p:nvPr/>
        </p:nvSpPr>
        <p:spPr>
          <a:xfrm>
            <a:off x="8439912" y="4709160"/>
            <a:ext cx="2926080" cy="548640"/>
          </a:xfrm>
          <a:prstGeom prst="rect">
            <a:avLst/>
          </a:prstGeom>
          <a:noFill/>
          <a:ln/>
        </p:spPr>
        <p:txBody>
          <a:bodyPr wrap="square" rtlCol="0" anchor="ctr"/>
          <a:lstStyle/>
          <a:p>
            <a:pPr indent="0" marL="0">
              <a:buNone/>
            </a:pPr>
            <a:r>
              <a:rPr lang="en-US" sz="1400" i="1" dirty="0">
                <a:solidFill>
                  <a:srgbClr val="2E9284"/>
                </a:solidFill>
                <a:latin typeface="Calibri" pitchFamily="34" charset="0"/>
                <a:ea typeface="Calibri" pitchFamily="34" charset="-122"/>
                <a:cs typeface="Calibri" pitchFamily="34" charset="-120"/>
              </a:rPr>
              <a:t>„Ich komme aus eigener Kraft nicht mehr raus.“</a:t>
            </a:r>
            <a:endParaRPr lang="en-US" sz="1400" dirty="0"/>
          </a:p>
        </p:txBody>
      </p:sp>
      <p:sp>
        <p:nvSpPr>
          <p:cNvPr id="25" name="Shape 20"/>
          <p:cNvSpPr/>
          <p:nvPr/>
        </p:nvSpPr>
        <p:spPr>
          <a:xfrm>
            <a:off x="2926080" y="5715000"/>
            <a:ext cx="6309360" cy="384048"/>
          </a:xfrm>
          <a:prstGeom prst="rightArrow">
            <a:avLst/>
          </a:prstGeom>
          <a:solidFill>
            <a:srgbClr val="E6F2EC"/>
          </a:solidFill>
          <a:ln w="12700">
            <a:solidFill>
              <a:srgbClr val="D9E9E1"/>
            </a:solidFill>
            <a:prstDash val="solid"/>
          </a:ln>
        </p:spPr>
      </p:sp>
      <p:sp>
        <p:nvSpPr>
          <p:cNvPr id="26" name="Text 21"/>
          <p:cNvSpPr/>
          <p:nvPr/>
        </p:nvSpPr>
        <p:spPr>
          <a:xfrm>
            <a:off x="2926080" y="5715000"/>
            <a:ext cx="6309360" cy="384048"/>
          </a:xfrm>
          <a:prstGeom prst="rect">
            <a:avLst/>
          </a:prstGeom>
          <a:noFill/>
          <a:ln/>
        </p:spPr>
        <p:txBody>
          <a:bodyPr wrap="square" rtlCol="0" anchor="ctr"/>
          <a:lstStyle/>
          <a:p>
            <a:pPr algn="ctr" indent="0" marL="0">
              <a:buNone/>
            </a:pPr>
            <a:r>
              <a:rPr lang="en-US" sz="1300" i="1" dirty="0">
                <a:solidFill>
                  <a:srgbClr val="5E736E"/>
                </a:solidFill>
                <a:latin typeface="Calibri" pitchFamily="34" charset="0"/>
                <a:ea typeface="Calibri" pitchFamily="34" charset="-122"/>
                <a:cs typeface="Calibri" pitchFamily="34" charset="-120"/>
              </a:rPr>
              <a:t>fließender Übergang – keine scharfe Grenze</a:t>
            </a:r>
            <a:endParaRPr lang="en-US" sz="1300" dirty="0"/>
          </a:p>
        </p:txBody>
      </p:sp>
      <p:sp>
        <p:nvSpPr>
          <p:cNvPr id="28" name="Text 22"/>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9" name="Text 23"/>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2 · ÜBERBLICK</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Fünf, über die wir heute sprechen</a:t>
            </a:r>
            <a:endParaRPr lang="en-US" sz="3400" dirty="0"/>
          </a:p>
        </p:txBody>
      </p:sp>
      <p:sp>
        <p:nvSpPr>
          <p:cNvPr id="4" name="Shape 2"/>
          <p:cNvSpPr/>
          <p:nvPr/>
        </p:nvSpPr>
        <p:spPr>
          <a:xfrm>
            <a:off x="566928" y="1783080"/>
            <a:ext cx="3456432" cy="1965960"/>
          </a:xfrm>
          <a:prstGeom prst="roundRect">
            <a:avLst>
              <a:gd name="adj" fmla="val 511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1792224" y="2075688"/>
            <a:ext cx="1005840" cy="100584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2053742" y="2337206"/>
            <a:ext cx="482803" cy="482803"/>
          </a:xfrm>
          <a:prstGeom prst="rect">
            <a:avLst/>
          </a:prstGeom>
        </p:spPr>
      </p:pic>
      <p:sp>
        <p:nvSpPr>
          <p:cNvPr id="7" name="Text 4"/>
          <p:cNvSpPr/>
          <p:nvPr/>
        </p:nvSpPr>
        <p:spPr>
          <a:xfrm>
            <a:off x="566928" y="3099816"/>
            <a:ext cx="3456432" cy="402336"/>
          </a:xfrm>
          <a:prstGeom prst="rect">
            <a:avLst/>
          </a:prstGeom>
          <a:noFill/>
          <a:ln/>
        </p:spPr>
        <p:txBody>
          <a:bodyPr wrap="square" rtlCol="0" anchor="ctr"/>
          <a:lstStyle/>
          <a:p>
            <a:pPr algn="ctr" indent="0" marL="0">
              <a:buNone/>
            </a:pPr>
            <a:r>
              <a:rPr lang="en-US" sz="1900" b="1" dirty="0">
                <a:solidFill>
                  <a:srgbClr val="2C7A6B"/>
                </a:solidFill>
                <a:latin typeface="Cambria" pitchFamily="34" charset="0"/>
                <a:ea typeface="Cambria" pitchFamily="34" charset="-122"/>
                <a:cs typeface="Cambria" pitchFamily="34" charset="-120"/>
              </a:rPr>
              <a:t>Depression</a:t>
            </a:r>
            <a:endParaRPr lang="en-US" sz="1900" dirty="0"/>
          </a:p>
        </p:txBody>
      </p:sp>
      <p:sp>
        <p:nvSpPr>
          <p:cNvPr id="8" name="Text 5"/>
          <p:cNvSpPr/>
          <p:nvPr/>
        </p:nvSpPr>
        <p:spPr>
          <a:xfrm>
            <a:off x="749808" y="3483864"/>
            <a:ext cx="3090672" cy="274320"/>
          </a:xfrm>
          <a:prstGeom prst="rect">
            <a:avLst/>
          </a:prstGeom>
          <a:noFill/>
          <a:ln/>
        </p:spPr>
        <p:txBody>
          <a:bodyPr wrap="square" rtlCol="0" anchor="ctr"/>
          <a:lstStyle/>
          <a:p>
            <a:pPr algn="ctr" indent="0" marL="0">
              <a:buNone/>
            </a:pPr>
            <a:r>
              <a:rPr lang="en-US" sz="1350" i="1" dirty="0">
                <a:solidFill>
                  <a:srgbClr val="5E736E"/>
                </a:solidFill>
                <a:latin typeface="Calibri" pitchFamily="34" charset="0"/>
                <a:ea typeface="Calibri" pitchFamily="34" charset="-122"/>
                <a:cs typeface="Calibri" pitchFamily="34" charset="-120"/>
              </a:rPr>
              <a:t>Die Farbe geht aus der Welt</a:t>
            </a:r>
            <a:endParaRPr lang="en-US" sz="1350" dirty="0"/>
          </a:p>
        </p:txBody>
      </p:sp>
      <p:sp>
        <p:nvSpPr>
          <p:cNvPr id="9" name="Shape 6"/>
          <p:cNvSpPr/>
          <p:nvPr/>
        </p:nvSpPr>
        <p:spPr>
          <a:xfrm>
            <a:off x="4279392" y="1783080"/>
            <a:ext cx="3456432" cy="1965960"/>
          </a:xfrm>
          <a:prstGeom prst="roundRect">
            <a:avLst>
              <a:gd name="adj" fmla="val 511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5504688" y="2075688"/>
            <a:ext cx="1005840" cy="1005840"/>
          </a:xfrm>
          <a:prstGeom prst="ellipse">
            <a:avLst/>
          </a:prstGeom>
          <a:solidFill>
            <a:srgbClr val="2E9284"/>
          </a:solidFill>
          <a:ln/>
        </p:spPr>
      </p:sp>
      <p:pic>
        <p:nvPicPr>
          <p:cNvPr id="11" name="Image 1" descr="preencoded.png">    </p:cNvPr>
          <p:cNvPicPr>
            <a:picLocks noChangeAspect="1"/>
          </p:cNvPicPr>
          <p:nvPr/>
        </p:nvPicPr>
        <p:blipFill>
          <a:blip r:embed="rId2"/>
          <a:stretch>
            <a:fillRect/>
          </a:stretch>
        </p:blipFill>
        <p:spPr>
          <a:xfrm>
            <a:off x="5766206" y="2337206"/>
            <a:ext cx="482803" cy="482803"/>
          </a:xfrm>
          <a:prstGeom prst="rect">
            <a:avLst/>
          </a:prstGeom>
        </p:spPr>
      </p:pic>
      <p:sp>
        <p:nvSpPr>
          <p:cNvPr id="12" name="Text 8"/>
          <p:cNvSpPr/>
          <p:nvPr/>
        </p:nvSpPr>
        <p:spPr>
          <a:xfrm>
            <a:off x="4279392" y="3099816"/>
            <a:ext cx="3456432" cy="402336"/>
          </a:xfrm>
          <a:prstGeom prst="rect">
            <a:avLst/>
          </a:prstGeom>
          <a:noFill/>
          <a:ln/>
        </p:spPr>
        <p:txBody>
          <a:bodyPr wrap="square" rtlCol="0" anchor="ctr"/>
          <a:lstStyle/>
          <a:p>
            <a:pPr algn="ctr" indent="0" marL="0">
              <a:buNone/>
            </a:pPr>
            <a:r>
              <a:rPr lang="en-US" sz="1900" b="1" dirty="0">
                <a:solidFill>
                  <a:srgbClr val="2C7A6B"/>
                </a:solidFill>
                <a:latin typeface="Cambria" pitchFamily="34" charset="0"/>
                <a:ea typeface="Cambria" pitchFamily="34" charset="-122"/>
                <a:cs typeface="Cambria" pitchFamily="34" charset="-120"/>
              </a:rPr>
              <a:t>Angst &amp; Panik</a:t>
            </a:r>
            <a:endParaRPr lang="en-US" sz="1900" dirty="0"/>
          </a:p>
        </p:txBody>
      </p:sp>
      <p:sp>
        <p:nvSpPr>
          <p:cNvPr id="13" name="Text 9"/>
          <p:cNvSpPr/>
          <p:nvPr/>
        </p:nvSpPr>
        <p:spPr>
          <a:xfrm>
            <a:off x="4462272" y="3483864"/>
            <a:ext cx="3090672" cy="274320"/>
          </a:xfrm>
          <a:prstGeom prst="rect">
            <a:avLst/>
          </a:prstGeom>
          <a:noFill/>
          <a:ln/>
        </p:spPr>
        <p:txBody>
          <a:bodyPr wrap="square" rtlCol="0" anchor="ctr"/>
          <a:lstStyle/>
          <a:p>
            <a:pPr algn="ctr" indent="0" marL="0">
              <a:buNone/>
            </a:pPr>
            <a:r>
              <a:rPr lang="en-US" sz="1350" i="1" dirty="0">
                <a:solidFill>
                  <a:srgbClr val="5E736E"/>
                </a:solidFill>
                <a:latin typeface="Calibri" pitchFamily="34" charset="0"/>
                <a:ea typeface="Calibri" pitchFamily="34" charset="-122"/>
                <a:cs typeface="Calibri" pitchFamily="34" charset="-120"/>
              </a:rPr>
              <a:t>Der Alarm, der grundlos schrillt</a:t>
            </a:r>
            <a:endParaRPr lang="en-US" sz="1350" dirty="0"/>
          </a:p>
        </p:txBody>
      </p:sp>
      <p:sp>
        <p:nvSpPr>
          <p:cNvPr id="14" name="Shape 10"/>
          <p:cNvSpPr/>
          <p:nvPr/>
        </p:nvSpPr>
        <p:spPr>
          <a:xfrm>
            <a:off x="7991856" y="1783080"/>
            <a:ext cx="3456432" cy="1965960"/>
          </a:xfrm>
          <a:prstGeom prst="roundRect">
            <a:avLst>
              <a:gd name="adj" fmla="val 511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9217152" y="2075688"/>
            <a:ext cx="1005840" cy="1005840"/>
          </a:xfrm>
          <a:prstGeom prst="ellipse">
            <a:avLst/>
          </a:prstGeom>
          <a:solidFill>
            <a:srgbClr val="2E9284"/>
          </a:solidFill>
          <a:ln/>
        </p:spPr>
      </p:sp>
      <p:pic>
        <p:nvPicPr>
          <p:cNvPr id="16" name="Image 2" descr="preencoded.png">    </p:cNvPr>
          <p:cNvPicPr>
            <a:picLocks noChangeAspect="1"/>
          </p:cNvPicPr>
          <p:nvPr/>
        </p:nvPicPr>
        <p:blipFill>
          <a:blip r:embed="rId3"/>
          <a:stretch>
            <a:fillRect/>
          </a:stretch>
        </p:blipFill>
        <p:spPr>
          <a:xfrm>
            <a:off x="9478670" y="2337206"/>
            <a:ext cx="482803" cy="482803"/>
          </a:xfrm>
          <a:prstGeom prst="rect">
            <a:avLst/>
          </a:prstGeom>
        </p:spPr>
      </p:pic>
      <p:sp>
        <p:nvSpPr>
          <p:cNvPr id="17" name="Text 12"/>
          <p:cNvSpPr/>
          <p:nvPr/>
        </p:nvSpPr>
        <p:spPr>
          <a:xfrm>
            <a:off x="7991856" y="3099816"/>
            <a:ext cx="3456432" cy="402336"/>
          </a:xfrm>
          <a:prstGeom prst="rect">
            <a:avLst/>
          </a:prstGeom>
          <a:noFill/>
          <a:ln/>
        </p:spPr>
        <p:txBody>
          <a:bodyPr wrap="square" rtlCol="0" anchor="ctr"/>
          <a:lstStyle/>
          <a:p>
            <a:pPr algn="ctr" indent="0" marL="0">
              <a:buNone/>
            </a:pPr>
            <a:r>
              <a:rPr lang="en-US" sz="1900" b="1" dirty="0">
                <a:solidFill>
                  <a:srgbClr val="2C7A6B"/>
                </a:solidFill>
                <a:latin typeface="Cambria" pitchFamily="34" charset="0"/>
                <a:ea typeface="Cambria" pitchFamily="34" charset="-122"/>
                <a:cs typeface="Cambria" pitchFamily="34" charset="-120"/>
              </a:rPr>
              <a:t>Burnout</a:t>
            </a:r>
            <a:endParaRPr lang="en-US" sz="1900" dirty="0"/>
          </a:p>
        </p:txBody>
      </p:sp>
      <p:sp>
        <p:nvSpPr>
          <p:cNvPr id="18" name="Text 13"/>
          <p:cNvSpPr/>
          <p:nvPr/>
        </p:nvSpPr>
        <p:spPr>
          <a:xfrm>
            <a:off x="8174736" y="3483864"/>
            <a:ext cx="3090672" cy="274320"/>
          </a:xfrm>
          <a:prstGeom prst="rect">
            <a:avLst/>
          </a:prstGeom>
          <a:noFill/>
          <a:ln/>
        </p:spPr>
        <p:txBody>
          <a:bodyPr wrap="square" rtlCol="0" anchor="ctr"/>
          <a:lstStyle/>
          <a:p>
            <a:pPr algn="ctr" indent="0" marL="0">
              <a:buNone/>
            </a:pPr>
            <a:r>
              <a:rPr lang="en-US" sz="1350" i="1" dirty="0">
                <a:solidFill>
                  <a:srgbClr val="5E736E"/>
                </a:solidFill>
                <a:latin typeface="Calibri" pitchFamily="34" charset="0"/>
                <a:ea typeface="Calibri" pitchFamily="34" charset="-122"/>
                <a:cs typeface="Calibri" pitchFamily="34" charset="-120"/>
              </a:rPr>
              <a:t>Der Akku, der leer bleibt</a:t>
            </a:r>
            <a:endParaRPr lang="en-US" sz="1350" dirty="0"/>
          </a:p>
        </p:txBody>
      </p:sp>
      <p:sp>
        <p:nvSpPr>
          <p:cNvPr id="19" name="Shape 14"/>
          <p:cNvSpPr/>
          <p:nvPr/>
        </p:nvSpPr>
        <p:spPr>
          <a:xfrm>
            <a:off x="2423160" y="4023360"/>
            <a:ext cx="3456432" cy="1965960"/>
          </a:xfrm>
          <a:prstGeom prst="roundRect">
            <a:avLst>
              <a:gd name="adj" fmla="val 511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3648456" y="4315968"/>
            <a:ext cx="1005840" cy="1005840"/>
          </a:xfrm>
          <a:prstGeom prst="ellipse">
            <a:avLst/>
          </a:prstGeom>
          <a:solidFill>
            <a:srgbClr val="2E9284"/>
          </a:solidFill>
          <a:ln/>
        </p:spPr>
      </p:sp>
      <p:pic>
        <p:nvPicPr>
          <p:cNvPr id="21" name="Image 3" descr="preencoded.png">    </p:cNvPr>
          <p:cNvPicPr>
            <a:picLocks noChangeAspect="1"/>
          </p:cNvPicPr>
          <p:nvPr/>
        </p:nvPicPr>
        <p:blipFill>
          <a:blip r:embed="rId4"/>
          <a:stretch>
            <a:fillRect/>
          </a:stretch>
        </p:blipFill>
        <p:spPr>
          <a:xfrm>
            <a:off x="3909974" y="4577486"/>
            <a:ext cx="482803" cy="482803"/>
          </a:xfrm>
          <a:prstGeom prst="rect">
            <a:avLst/>
          </a:prstGeom>
        </p:spPr>
      </p:pic>
      <p:sp>
        <p:nvSpPr>
          <p:cNvPr id="22" name="Text 16"/>
          <p:cNvSpPr/>
          <p:nvPr/>
        </p:nvSpPr>
        <p:spPr>
          <a:xfrm>
            <a:off x="2423160" y="5340096"/>
            <a:ext cx="3456432" cy="402336"/>
          </a:xfrm>
          <a:prstGeom prst="rect">
            <a:avLst/>
          </a:prstGeom>
          <a:noFill/>
          <a:ln/>
        </p:spPr>
        <p:txBody>
          <a:bodyPr wrap="square" rtlCol="0" anchor="ctr"/>
          <a:lstStyle/>
          <a:p>
            <a:pPr algn="ctr" indent="0" marL="0">
              <a:buNone/>
            </a:pPr>
            <a:r>
              <a:rPr lang="en-US" sz="1900" b="1" dirty="0">
                <a:solidFill>
                  <a:srgbClr val="2C7A6B"/>
                </a:solidFill>
                <a:latin typeface="Cambria" pitchFamily="34" charset="0"/>
                <a:ea typeface="Cambria" pitchFamily="34" charset="-122"/>
                <a:cs typeface="Cambria" pitchFamily="34" charset="-120"/>
              </a:rPr>
              <a:t>PTBS</a:t>
            </a:r>
            <a:endParaRPr lang="en-US" sz="1900" dirty="0"/>
          </a:p>
        </p:txBody>
      </p:sp>
      <p:sp>
        <p:nvSpPr>
          <p:cNvPr id="23" name="Text 17"/>
          <p:cNvSpPr/>
          <p:nvPr/>
        </p:nvSpPr>
        <p:spPr>
          <a:xfrm>
            <a:off x="2606040" y="5724144"/>
            <a:ext cx="3090672" cy="274320"/>
          </a:xfrm>
          <a:prstGeom prst="rect">
            <a:avLst/>
          </a:prstGeom>
          <a:noFill/>
          <a:ln/>
        </p:spPr>
        <p:txBody>
          <a:bodyPr wrap="square" rtlCol="0" anchor="ctr"/>
          <a:lstStyle/>
          <a:p>
            <a:pPr algn="ctr" indent="0" marL="0">
              <a:buNone/>
            </a:pPr>
            <a:r>
              <a:rPr lang="en-US" sz="1350" i="1" dirty="0">
                <a:solidFill>
                  <a:srgbClr val="5E736E"/>
                </a:solidFill>
                <a:latin typeface="Calibri" pitchFamily="34" charset="0"/>
                <a:ea typeface="Calibri" pitchFamily="34" charset="-122"/>
                <a:cs typeface="Calibri" pitchFamily="34" charset="-120"/>
              </a:rPr>
              <a:t>Wenn die Vergangenheit nicht vergeht</a:t>
            </a:r>
            <a:endParaRPr lang="en-US" sz="1350" dirty="0"/>
          </a:p>
        </p:txBody>
      </p:sp>
      <p:sp>
        <p:nvSpPr>
          <p:cNvPr id="24" name="Shape 18"/>
          <p:cNvSpPr/>
          <p:nvPr/>
        </p:nvSpPr>
        <p:spPr>
          <a:xfrm>
            <a:off x="6135624" y="4023360"/>
            <a:ext cx="3456432" cy="1965960"/>
          </a:xfrm>
          <a:prstGeom prst="roundRect">
            <a:avLst>
              <a:gd name="adj" fmla="val 511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5" name="Shape 19"/>
          <p:cNvSpPr/>
          <p:nvPr/>
        </p:nvSpPr>
        <p:spPr>
          <a:xfrm>
            <a:off x="7360920" y="4315968"/>
            <a:ext cx="1005840" cy="1005840"/>
          </a:xfrm>
          <a:prstGeom prst="ellipse">
            <a:avLst/>
          </a:prstGeom>
          <a:solidFill>
            <a:srgbClr val="2E9284"/>
          </a:solidFill>
          <a:ln/>
        </p:spPr>
      </p:sp>
      <p:pic>
        <p:nvPicPr>
          <p:cNvPr id="26" name="Image 4" descr="preencoded.png">    </p:cNvPr>
          <p:cNvPicPr>
            <a:picLocks noChangeAspect="1"/>
          </p:cNvPicPr>
          <p:nvPr/>
        </p:nvPicPr>
        <p:blipFill>
          <a:blip r:embed="rId5"/>
          <a:stretch>
            <a:fillRect/>
          </a:stretch>
        </p:blipFill>
        <p:spPr>
          <a:xfrm>
            <a:off x="7622438" y="4577486"/>
            <a:ext cx="482803" cy="482803"/>
          </a:xfrm>
          <a:prstGeom prst="rect">
            <a:avLst/>
          </a:prstGeom>
        </p:spPr>
      </p:pic>
      <p:sp>
        <p:nvSpPr>
          <p:cNvPr id="27" name="Text 20"/>
          <p:cNvSpPr/>
          <p:nvPr/>
        </p:nvSpPr>
        <p:spPr>
          <a:xfrm>
            <a:off x="6135624" y="5340096"/>
            <a:ext cx="3456432" cy="402336"/>
          </a:xfrm>
          <a:prstGeom prst="rect">
            <a:avLst/>
          </a:prstGeom>
          <a:noFill/>
          <a:ln/>
        </p:spPr>
        <p:txBody>
          <a:bodyPr wrap="square" rtlCol="0" anchor="ctr"/>
          <a:lstStyle/>
          <a:p>
            <a:pPr algn="ctr" indent="0" marL="0">
              <a:buNone/>
            </a:pPr>
            <a:r>
              <a:rPr lang="en-US" sz="1900" b="1" dirty="0">
                <a:solidFill>
                  <a:srgbClr val="2C7A6B"/>
                </a:solidFill>
                <a:latin typeface="Cambria" pitchFamily="34" charset="0"/>
                <a:ea typeface="Cambria" pitchFamily="34" charset="-122"/>
                <a:cs typeface="Cambria" pitchFamily="34" charset="-120"/>
              </a:rPr>
              <a:t>Bipolare Störung</a:t>
            </a:r>
            <a:endParaRPr lang="en-US" sz="1900" dirty="0"/>
          </a:p>
        </p:txBody>
      </p:sp>
      <p:sp>
        <p:nvSpPr>
          <p:cNvPr id="28" name="Text 21"/>
          <p:cNvSpPr/>
          <p:nvPr/>
        </p:nvSpPr>
        <p:spPr>
          <a:xfrm>
            <a:off x="6318504" y="5724144"/>
            <a:ext cx="3090672" cy="274320"/>
          </a:xfrm>
          <a:prstGeom prst="rect">
            <a:avLst/>
          </a:prstGeom>
          <a:noFill/>
          <a:ln/>
        </p:spPr>
        <p:txBody>
          <a:bodyPr wrap="square" rtlCol="0" anchor="ctr"/>
          <a:lstStyle/>
          <a:p>
            <a:pPr algn="ctr" indent="0" marL="0">
              <a:buNone/>
            </a:pPr>
            <a:r>
              <a:rPr lang="en-US" sz="1350" i="1" dirty="0">
                <a:solidFill>
                  <a:srgbClr val="5E736E"/>
                </a:solidFill>
                <a:latin typeface="Calibri" pitchFamily="34" charset="0"/>
                <a:ea typeface="Calibri" pitchFamily="34" charset="-122"/>
                <a:cs typeface="Calibri" pitchFamily="34" charset="-120"/>
              </a:rPr>
              <a:t>Zwischen Hoch und Tief</a:t>
            </a:r>
            <a:endParaRPr lang="en-US" sz="1350" dirty="0"/>
          </a:p>
        </p:txBody>
      </p:sp>
      <p:sp>
        <p:nvSpPr>
          <p:cNvPr id="30" name="Text 22"/>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1" name="Text 23"/>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img_depression.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2C7A6B">
              <a:alpha val="72000"/>
            </a:srgbClr>
          </a:solidFill>
          <a:ln/>
        </p:spPr>
      </p:sp>
      <p:sp>
        <p:nvSpPr>
          <p:cNvPr id="4" name="Shape 1"/>
          <p:cNvSpPr/>
          <p:nvPr/>
        </p:nvSpPr>
        <p:spPr>
          <a:xfrm>
            <a:off x="0" y="0"/>
            <a:ext cx="4206240" cy="2651760"/>
          </a:xfrm>
          <a:prstGeom prst="rect">
            <a:avLst/>
          </a:prstGeom>
          <a:solidFill>
            <a:srgbClr val="2C7A6B">
              <a:alpha val="92000"/>
            </a:srgbClr>
          </a:solidFill>
          <a:ln/>
        </p:spPr>
      </p:sp>
      <p:sp>
        <p:nvSpPr>
          <p:cNvPr id="5" name="Shape 2"/>
          <p:cNvSpPr/>
          <p:nvPr/>
        </p:nvSpPr>
        <p:spPr>
          <a:xfrm>
            <a:off x="566928" y="566928"/>
            <a:ext cx="1051560" cy="105156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40334" y="840334"/>
            <a:ext cx="504749" cy="504749"/>
          </a:xfrm>
          <a:prstGeom prst="rect">
            <a:avLst/>
          </a:prstGeom>
        </p:spPr>
      </p:pic>
      <p:sp>
        <p:nvSpPr>
          <p:cNvPr id="7" name="Text 3"/>
          <p:cNvSpPr/>
          <p:nvPr/>
        </p:nvSpPr>
        <p:spPr>
          <a:xfrm>
            <a:off x="548640" y="1783080"/>
            <a:ext cx="3383280" cy="91440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Depression</a:t>
            </a:r>
            <a:endParaRPr lang="en-US" sz="3100" dirty="0"/>
          </a:p>
        </p:txBody>
      </p:sp>
      <p:sp>
        <p:nvSpPr>
          <p:cNvPr id="8" name="Shape 4"/>
          <p:cNvSpPr/>
          <p:nvPr/>
        </p:nvSpPr>
        <p:spPr>
          <a:xfrm>
            <a:off x="548640" y="3703320"/>
            <a:ext cx="3200400" cy="2377440"/>
          </a:xfrm>
          <a:prstGeom prst="roundRect">
            <a:avLst>
              <a:gd name="adj" fmla="val 3462"/>
            </a:avLst>
          </a:prstGeom>
          <a:solidFill>
            <a:srgbClr val="24685C">
              <a:alpha val="94000"/>
            </a:srgbClr>
          </a:solidFill>
          <a:ln/>
        </p:spPr>
      </p:sp>
      <p:sp>
        <p:nvSpPr>
          <p:cNvPr id="9" name="Text 5"/>
          <p:cNvSpPr/>
          <p:nvPr/>
        </p:nvSpPr>
        <p:spPr>
          <a:xfrm>
            <a:off x="777240" y="3886200"/>
            <a:ext cx="2743200" cy="274320"/>
          </a:xfrm>
          <a:prstGeom prst="rect">
            <a:avLst/>
          </a:prstGeom>
          <a:noFill/>
          <a:ln/>
        </p:spPr>
        <p:txBody>
          <a:bodyPr wrap="square" rtlCol="0" anchor="ctr"/>
          <a:lstStyle/>
          <a:p>
            <a:pPr indent="0" marL="0">
              <a:buNone/>
            </a:pPr>
            <a:r>
              <a:rPr lang="en-US" sz="1150" b="1" spc="200" kern="0" dirty="0">
                <a:solidFill>
                  <a:srgbClr val="E89A45"/>
                </a:solidFill>
                <a:latin typeface="Calibri" pitchFamily="34" charset="0"/>
                <a:ea typeface="Calibri" pitchFamily="34" charset="-122"/>
                <a:cs typeface="Calibri" pitchFamily="34" charset="-120"/>
              </a:rPr>
              <a:t>BILD DAFÜR</a:t>
            </a:r>
            <a:endParaRPr lang="en-US" sz="1150" dirty="0"/>
          </a:p>
        </p:txBody>
      </p:sp>
      <p:sp>
        <p:nvSpPr>
          <p:cNvPr id="10" name="Text 6"/>
          <p:cNvSpPr/>
          <p:nvPr/>
        </p:nvSpPr>
        <p:spPr>
          <a:xfrm>
            <a:off x="777240" y="4114800"/>
            <a:ext cx="2743200" cy="548640"/>
          </a:xfrm>
          <a:prstGeom prst="rect">
            <a:avLst/>
          </a:prstGeom>
          <a:noFill/>
          <a:ln/>
        </p:spPr>
        <p:txBody>
          <a:bodyPr wrap="square"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Graufilter</a:t>
            </a:r>
            <a:endParaRPr lang="en-US" sz="1700" dirty="0"/>
          </a:p>
        </p:txBody>
      </p:sp>
      <p:sp>
        <p:nvSpPr>
          <p:cNvPr id="11" name="Text 7"/>
          <p:cNvSpPr/>
          <p:nvPr/>
        </p:nvSpPr>
        <p:spPr>
          <a:xfrm>
            <a:off x="777240" y="4681728"/>
            <a:ext cx="2743200" cy="1325880"/>
          </a:xfrm>
          <a:prstGeom prst="rect">
            <a:avLst/>
          </a:prstGeom>
          <a:noFill/>
          <a:ln/>
        </p:spPr>
        <p:txBody>
          <a:bodyPr wrap="square" rtlCol="0" anchor="ctr"/>
          <a:lstStyle/>
          <a:p>
            <a:pPr indent="0" marL="0">
              <a:lnSpc>
                <a:spcPts val="1900"/>
              </a:lnSpc>
              <a:buNone/>
            </a:pPr>
            <a:r>
              <a:rPr lang="en-US" sz="1350" dirty="0">
                <a:solidFill>
                  <a:srgbClr val="F1FAF5"/>
                </a:solidFill>
                <a:latin typeface="Calibri" pitchFamily="34" charset="0"/>
                <a:ea typeface="Calibri" pitchFamily="34" charset="-122"/>
                <a:cs typeface="Calibri" pitchFamily="34" charset="-120"/>
              </a:rPr>
              <a:t>Als hätte jemand die Farbe und den Ton aus der Welt gedreht. Nicht Traurigkeit – eher Leere.</a:t>
            </a:r>
            <a:endParaRPr lang="en-US" sz="1350" dirty="0"/>
          </a:p>
        </p:txBody>
      </p:sp>
      <p:sp>
        <p:nvSpPr>
          <p:cNvPr id="12" name="Text 8"/>
          <p:cNvSpPr/>
          <p:nvPr/>
        </p:nvSpPr>
        <p:spPr>
          <a:xfrm>
            <a:off x="4572000" y="530352"/>
            <a:ext cx="6949440" cy="292608"/>
          </a:xfrm>
          <a:prstGeom prst="rect">
            <a:avLst/>
          </a:prstGeom>
          <a:noFill/>
          <a:ln/>
        </p:spPr>
        <p:txBody>
          <a:bodyPr wrap="square" rtlCol="0" anchor="ctr"/>
          <a:lstStyle/>
          <a:p>
            <a:pPr indent="0" marL="0">
              <a:buNone/>
            </a:pPr>
            <a:r>
              <a:rPr lang="en-US" sz="1250" b="1" spc="200" kern="0" dirty="0">
                <a:solidFill>
                  <a:srgbClr val="BC722A"/>
                </a:solidFill>
                <a:latin typeface="Calibri" pitchFamily="34" charset="0"/>
                <a:ea typeface="Calibri" pitchFamily="34" charset="-122"/>
                <a:cs typeface="Calibri" pitchFamily="34" charset="-120"/>
              </a:rPr>
              <a:t>DIE HÄUFIGEN ERKRANKUNGEN</a:t>
            </a:r>
            <a:endParaRPr lang="en-US" sz="1250" dirty="0"/>
          </a:p>
        </p:txBody>
      </p:sp>
      <p:sp>
        <p:nvSpPr>
          <p:cNvPr id="13" name="Text 9"/>
          <p:cNvSpPr/>
          <p:nvPr/>
        </p:nvSpPr>
        <p:spPr>
          <a:xfrm>
            <a:off x="4572000" y="822960"/>
            <a:ext cx="7040880" cy="566928"/>
          </a:xfrm>
          <a:prstGeom prst="rect">
            <a:avLst/>
          </a:prstGeom>
          <a:noFill/>
          <a:ln/>
        </p:spPr>
        <p:txBody>
          <a:bodyPr wrap="square" rtlCol="0" anchor="ctr"/>
          <a:lstStyle/>
          <a:p>
            <a:pPr indent="0" marL="0">
              <a:buNone/>
            </a:pPr>
            <a:r>
              <a:rPr lang="en-US" sz="2500" b="1" dirty="0">
                <a:solidFill>
                  <a:srgbClr val="2C7A6B"/>
                </a:solidFill>
                <a:latin typeface="Cambria" pitchFamily="34" charset="0"/>
                <a:ea typeface="Cambria" pitchFamily="34" charset="-122"/>
                <a:cs typeface="Cambria" pitchFamily="34" charset="-120"/>
              </a:rPr>
              <a:t>Mehr als „traurig sein“</a:t>
            </a:r>
            <a:endParaRPr lang="en-US" sz="2500" dirty="0"/>
          </a:p>
        </p:txBody>
      </p:sp>
      <p:sp>
        <p:nvSpPr>
          <p:cNvPr id="14" name="Shape 10"/>
          <p:cNvSpPr/>
          <p:nvPr/>
        </p:nvSpPr>
        <p:spPr>
          <a:xfrm>
            <a:off x="4617720" y="2020824"/>
            <a:ext cx="201168" cy="201168"/>
          </a:xfrm>
          <a:prstGeom prst="ellipse">
            <a:avLst/>
          </a:prstGeom>
          <a:solidFill>
            <a:srgbClr val="2E9284"/>
          </a:solidFill>
          <a:ln/>
        </p:spPr>
      </p:sp>
      <p:sp>
        <p:nvSpPr>
          <p:cNvPr id="15" name="Text 11"/>
          <p:cNvSpPr/>
          <p:nvPr/>
        </p:nvSpPr>
        <p:spPr>
          <a:xfrm>
            <a:off x="4983480" y="1691640"/>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Antriebslosigkeit: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Selbst Aufstehen, Duschen, Zähneputzen fühlt sich riesig an.</a:t>
            </a:r>
            <a:endParaRPr lang="en-US" sz="1600" dirty="0"/>
          </a:p>
        </p:txBody>
      </p:sp>
      <p:sp>
        <p:nvSpPr>
          <p:cNvPr id="16" name="Shape 12"/>
          <p:cNvSpPr/>
          <p:nvPr/>
        </p:nvSpPr>
        <p:spPr>
          <a:xfrm>
            <a:off x="4617720" y="2880360"/>
            <a:ext cx="201168" cy="201168"/>
          </a:xfrm>
          <a:prstGeom prst="ellipse">
            <a:avLst/>
          </a:prstGeom>
          <a:solidFill>
            <a:srgbClr val="2E9284"/>
          </a:solidFill>
          <a:ln/>
        </p:spPr>
      </p:sp>
      <p:sp>
        <p:nvSpPr>
          <p:cNvPr id="17" name="Text 13"/>
          <p:cNvSpPr/>
          <p:nvPr/>
        </p:nvSpPr>
        <p:spPr>
          <a:xfrm>
            <a:off x="4983480" y="2551176"/>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Freudlosigkeit: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Nichts macht mehr Freude – auch das, was man liebt.</a:t>
            </a:r>
            <a:endParaRPr lang="en-US" sz="1600" dirty="0"/>
          </a:p>
        </p:txBody>
      </p:sp>
      <p:sp>
        <p:nvSpPr>
          <p:cNvPr id="18" name="Shape 14"/>
          <p:cNvSpPr/>
          <p:nvPr/>
        </p:nvSpPr>
        <p:spPr>
          <a:xfrm>
            <a:off x="4617720" y="3739896"/>
            <a:ext cx="201168" cy="201168"/>
          </a:xfrm>
          <a:prstGeom prst="ellipse">
            <a:avLst/>
          </a:prstGeom>
          <a:solidFill>
            <a:srgbClr val="2E9284"/>
          </a:solidFill>
          <a:ln/>
        </p:spPr>
      </p:sp>
      <p:sp>
        <p:nvSpPr>
          <p:cNvPr id="19" name="Text 15"/>
          <p:cNvSpPr/>
          <p:nvPr/>
        </p:nvSpPr>
        <p:spPr>
          <a:xfrm>
            <a:off x="4983480" y="3410712"/>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Erschöpfung: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Bleierne Müdigkeit, die kein Schlaf behebt.</a:t>
            </a:r>
            <a:endParaRPr lang="en-US" sz="1600" dirty="0"/>
          </a:p>
        </p:txBody>
      </p:sp>
      <p:sp>
        <p:nvSpPr>
          <p:cNvPr id="20" name="Shape 16"/>
          <p:cNvSpPr/>
          <p:nvPr/>
        </p:nvSpPr>
        <p:spPr>
          <a:xfrm>
            <a:off x="4617720" y="4599432"/>
            <a:ext cx="201168" cy="201168"/>
          </a:xfrm>
          <a:prstGeom prst="ellipse">
            <a:avLst/>
          </a:prstGeom>
          <a:solidFill>
            <a:srgbClr val="2E9284"/>
          </a:solidFill>
          <a:ln/>
        </p:spPr>
      </p:sp>
      <p:sp>
        <p:nvSpPr>
          <p:cNvPr id="21" name="Text 17"/>
          <p:cNvSpPr/>
          <p:nvPr/>
        </p:nvSpPr>
        <p:spPr>
          <a:xfrm>
            <a:off x="4983480" y="4270248"/>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Gedankenkreisen: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„Ich bin wertlos, eine Last“ – oft gegen besseres Wissen.</a:t>
            </a:r>
            <a:endParaRPr lang="en-US" sz="1600" dirty="0"/>
          </a:p>
        </p:txBody>
      </p:sp>
      <p:sp>
        <p:nvSpPr>
          <p:cNvPr id="22" name="Shape 18"/>
          <p:cNvSpPr/>
          <p:nvPr/>
        </p:nvSpPr>
        <p:spPr>
          <a:xfrm>
            <a:off x="4617720" y="5458968"/>
            <a:ext cx="201168" cy="201168"/>
          </a:xfrm>
          <a:prstGeom prst="ellipse">
            <a:avLst/>
          </a:prstGeom>
          <a:solidFill>
            <a:srgbClr val="2E9284"/>
          </a:solidFill>
          <a:ln/>
        </p:spPr>
      </p:sp>
      <p:sp>
        <p:nvSpPr>
          <p:cNvPr id="23" name="Text 19"/>
          <p:cNvSpPr/>
          <p:nvPr/>
        </p:nvSpPr>
        <p:spPr>
          <a:xfrm>
            <a:off x="4983480" y="5129784"/>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Körper: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Schlaf, Appetit, Konzentration verändern sich.</a:t>
            </a:r>
            <a:endParaRPr lang="en-US" sz="1600" dirty="0"/>
          </a:p>
        </p:txBody>
      </p:sp>
      <p:sp>
        <p:nvSpPr>
          <p:cNvPr id="25" name="Text 2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img_angst.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2C7A6B">
              <a:alpha val="72000"/>
            </a:srgbClr>
          </a:solidFill>
          <a:ln/>
        </p:spPr>
      </p:sp>
      <p:sp>
        <p:nvSpPr>
          <p:cNvPr id="4" name="Shape 1"/>
          <p:cNvSpPr/>
          <p:nvPr/>
        </p:nvSpPr>
        <p:spPr>
          <a:xfrm>
            <a:off x="0" y="0"/>
            <a:ext cx="4206240" cy="2651760"/>
          </a:xfrm>
          <a:prstGeom prst="rect">
            <a:avLst/>
          </a:prstGeom>
          <a:solidFill>
            <a:srgbClr val="2C7A6B">
              <a:alpha val="92000"/>
            </a:srgbClr>
          </a:solidFill>
          <a:ln/>
        </p:spPr>
      </p:sp>
      <p:sp>
        <p:nvSpPr>
          <p:cNvPr id="5" name="Shape 2"/>
          <p:cNvSpPr/>
          <p:nvPr/>
        </p:nvSpPr>
        <p:spPr>
          <a:xfrm>
            <a:off x="566928" y="566928"/>
            <a:ext cx="1051560" cy="105156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40334" y="840334"/>
            <a:ext cx="504749" cy="504749"/>
          </a:xfrm>
          <a:prstGeom prst="rect">
            <a:avLst/>
          </a:prstGeom>
        </p:spPr>
      </p:pic>
      <p:sp>
        <p:nvSpPr>
          <p:cNvPr id="7" name="Text 3"/>
          <p:cNvSpPr/>
          <p:nvPr/>
        </p:nvSpPr>
        <p:spPr>
          <a:xfrm>
            <a:off x="548640" y="1783080"/>
            <a:ext cx="3383280" cy="91440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Angst &amp; Panik</a:t>
            </a:r>
            <a:endParaRPr lang="en-US" sz="3100" dirty="0"/>
          </a:p>
        </p:txBody>
      </p:sp>
      <p:sp>
        <p:nvSpPr>
          <p:cNvPr id="8" name="Shape 4"/>
          <p:cNvSpPr/>
          <p:nvPr/>
        </p:nvSpPr>
        <p:spPr>
          <a:xfrm>
            <a:off x="548640" y="3703320"/>
            <a:ext cx="3200400" cy="2377440"/>
          </a:xfrm>
          <a:prstGeom prst="roundRect">
            <a:avLst>
              <a:gd name="adj" fmla="val 3462"/>
            </a:avLst>
          </a:prstGeom>
          <a:solidFill>
            <a:srgbClr val="24685C">
              <a:alpha val="94000"/>
            </a:srgbClr>
          </a:solidFill>
          <a:ln/>
        </p:spPr>
      </p:sp>
      <p:sp>
        <p:nvSpPr>
          <p:cNvPr id="9" name="Text 5"/>
          <p:cNvSpPr/>
          <p:nvPr/>
        </p:nvSpPr>
        <p:spPr>
          <a:xfrm>
            <a:off x="777240" y="3886200"/>
            <a:ext cx="2743200" cy="274320"/>
          </a:xfrm>
          <a:prstGeom prst="rect">
            <a:avLst/>
          </a:prstGeom>
          <a:noFill/>
          <a:ln/>
        </p:spPr>
        <p:txBody>
          <a:bodyPr wrap="square" rtlCol="0" anchor="ctr"/>
          <a:lstStyle/>
          <a:p>
            <a:pPr indent="0" marL="0">
              <a:buNone/>
            </a:pPr>
            <a:r>
              <a:rPr lang="en-US" sz="1150" b="1" spc="200" kern="0" dirty="0">
                <a:solidFill>
                  <a:srgbClr val="E89A45"/>
                </a:solidFill>
                <a:latin typeface="Calibri" pitchFamily="34" charset="0"/>
                <a:ea typeface="Calibri" pitchFamily="34" charset="-122"/>
                <a:cs typeface="Calibri" pitchFamily="34" charset="-120"/>
              </a:rPr>
              <a:t>BILD DAFÜR</a:t>
            </a:r>
            <a:endParaRPr lang="en-US" sz="1150" dirty="0"/>
          </a:p>
        </p:txBody>
      </p:sp>
      <p:sp>
        <p:nvSpPr>
          <p:cNvPr id="10" name="Text 6"/>
          <p:cNvSpPr/>
          <p:nvPr/>
        </p:nvSpPr>
        <p:spPr>
          <a:xfrm>
            <a:off x="777240" y="4114800"/>
            <a:ext cx="2743200" cy="548640"/>
          </a:xfrm>
          <a:prstGeom prst="rect">
            <a:avLst/>
          </a:prstGeom>
          <a:noFill/>
          <a:ln/>
        </p:spPr>
        <p:txBody>
          <a:bodyPr wrap="square"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Rauchmelder</a:t>
            </a:r>
            <a:endParaRPr lang="en-US" sz="1700" dirty="0"/>
          </a:p>
        </p:txBody>
      </p:sp>
      <p:sp>
        <p:nvSpPr>
          <p:cNvPr id="11" name="Text 7"/>
          <p:cNvSpPr/>
          <p:nvPr/>
        </p:nvSpPr>
        <p:spPr>
          <a:xfrm>
            <a:off x="777240" y="4681728"/>
            <a:ext cx="2743200" cy="1325880"/>
          </a:xfrm>
          <a:prstGeom prst="rect">
            <a:avLst/>
          </a:prstGeom>
          <a:noFill/>
          <a:ln/>
        </p:spPr>
        <p:txBody>
          <a:bodyPr wrap="square" rtlCol="0" anchor="ctr"/>
          <a:lstStyle/>
          <a:p>
            <a:pPr indent="0" marL="0">
              <a:lnSpc>
                <a:spcPts val="1900"/>
              </a:lnSpc>
              <a:buNone/>
            </a:pPr>
            <a:r>
              <a:rPr lang="en-US" sz="1350" dirty="0">
                <a:solidFill>
                  <a:srgbClr val="F1FAF5"/>
                </a:solidFill>
                <a:latin typeface="Calibri" pitchFamily="34" charset="0"/>
                <a:ea typeface="Calibri" pitchFamily="34" charset="-122"/>
                <a:cs typeface="Calibri" pitchFamily="34" charset="-120"/>
              </a:rPr>
              <a:t>Ein Rauchmelder, der schon beim Toasten losheult. Der Alarm ist echt – die Gefahr ist es nicht.</a:t>
            </a:r>
            <a:endParaRPr lang="en-US" sz="1350" dirty="0"/>
          </a:p>
        </p:txBody>
      </p:sp>
      <p:sp>
        <p:nvSpPr>
          <p:cNvPr id="12" name="Text 8"/>
          <p:cNvSpPr/>
          <p:nvPr/>
        </p:nvSpPr>
        <p:spPr>
          <a:xfrm>
            <a:off x="4572000" y="530352"/>
            <a:ext cx="6949440" cy="292608"/>
          </a:xfrm>
          <a:prstGeom prst="rect">
            <a:avLst/>
          </a:prstGeom>
          <a:noFill/>
          <a:ln/>
        </p:spPr>
        <p:txBody>
          <a:bodyPr wrap="square" rtlCol="0" anchor="ctr"/>
          <a:lstStyle/>
          <a:p>
            <a:pPr indent="0" marL="0">
              <a:buNone/>
            </a:pPr>
            <a:r>
              <a:rPr lang="en-US" sz="1250" b="1" spc="200" kern="0" dirty="0">
                <a:solidFill>
                  <a:srgbClr val="BC722A"/>
                </a:solidFill>
                <a:latin typeface="Calibri" pitchFamily="34" charset="0"/>
                <a:ea typeface="Calibri" pitchFamily="34" charset="-122"/>
                <a:cs typeface="Calibri" pitchFamily="34" charset="-120"/>
              </a:rPr>
              <a:t>DIE HÄUFIGEN ERKRANKUNGEN</a:t>
            </a:r>
            <a:endParaRPr lang="en-US" sz="1250" dirty="0"/>
          </a:p>
        </p:txBody>
      </p:sp>
      <p:sp>
        <p:nvSpPr>
          <p:cNvPr id="13" name="Text 9"/>
          <p:cNvSpPr/>
          <p:nvPr/>
        </p:nvSpPr>
        <p:spPr>
          <a:xfrm>
            <a:off x="4572000" y="822960"/>
            <a:ext cx="7040880" cy="566928"/>
          </a:xfrm>
          <a:prstGeom prst="rect">
            <a:avLst/>
          </a:prstGeom>
          <a:noFill/>
          <a:ln/>
        </p:spPr>
        <p:txBody>
          <a:bodyPr wrap="square" rtlCol="0" anchor="ctr"/>
          <a:lstStyle/>
          <a:p>
            <a:pPr indent="0" marL="0">
              <a:buNone/>
            </a:pPr>
            <a:r>
              <a:rPr lang="en-US" sz="2500" b="1" dirty="0">
                <a:solidFill>
                  <a:srgbClr val="2C7A6B"/>
                </a:solidFill>
                <a:latin typeface="Cambria" pitchFamily="34" charset="0"/>
                <a:ea typeface="Cambria" pitchFamily="34" charset="-122"/>
                <a:cs typeface="Cambria" pitchFamily="34" charset="-120"/>
              </a:rPr>
              <a:t>Alarm ohne Feuer</a:t>
            </a:r>
            <a:endParaRPr lang="en-US" sz="2500" dirty="0"/>
          </a:p>
        </p:txBody>
      </p:sp>
      <p:sp>
        <p:nvSpPr>
          <p:cNvPr id="14" name="Shape 10"/>
          <p:cNvSpPr/>
          <p:nvPr/>
        </p:nvSpPr>
        <p:spPr>
          <a:xfrm>
            <a:off x="4617720" y="2020824"/>
            <a:ext cx="201168" cy="201168"/>
          </a:xfrm>
          <a:prstGeom prst="ellipse">
            <a:avLst/>
          </a:prstGeom>
          <a:solidFill>
            <a:srgbClr val="E89A45"/>
          </a:solidFill>
          <a:ln/>
        </p:spPr>
      </p:sp>
      <p:sp>
        <p:nvSpPr>
          <p:cNvPr id="15" name="Text 11"/>
          <p:cNvSpPr/>
          <p:nvPr/>
        </p:nvSpPr>
        <p:spPr>
          <a:xfrm>
            <a:off x="4983480" y="1691640"/>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Daueranspannung: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Ständige Sorge, Grübeln, „Was, wenn …?“</a:t>
            </a:r>
            <a:endParaRPr lang="en-US" sz="1600" dirty="0"/>
          </a:p>
        </p:txBody>
      </p:sp>
      <p:sp>
        <p:nvSpPr>
          <p:cNvPr id="16" name="Shape 12"/>
          <p:cNvSpPr/>
          <p:nvPr/>
        </p:nvSpPr>
        <p:spPr>
          <a:xfrm>
            <a:off x="4617720" y="2880360"/>
            <a:ext cx="201168" cy="201168"/>
          </a:xfrm>
          <a:prstGeom prst="ellipse">
            <a:avLst/>
          </a:prstGeom>
          <a:solidFill>
            <a:srgbClr val="E89A45"/>
          </a:solidFill>
          <a:ln/>
        </p:spPr>
      </p:sp>
      <p:sp>
        <p:nvSpPr>
          <p:cNvPr id="17" name="Text 13"/>
          <p:cNvSpPr/>
          <p:nvPr/>
        </p:nvSpPr>
        <p:spPr>
          <a:xfrm>
            <a:off x="4983480" y="2551176"/>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Panikattacken: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Herzrasen, Atemnot, Todesangst – in Minuten da.</a:t>
            </a:r>
            <a:endParaRPr lang="en-US" sz="1600" dirty="0"/>
          </a:p>
        </p:txBody>
      </p:sp>
      <p:sp>
        <p:nvSpPr>
          <p:cNvPr id="18" name="Shape 14"/>
          <p:cNvSpPr/>
          <p:nvPr/>
        </p:nvSpPr>
        <p:spPr>
          <a:xfrm>
            <a:off x="4617720" y="3739896"/>
            <a:ext cx="201168" cy="201168"/>
          </a:xfrm>
          <a:prstGeom prst="ellipse">
            <a:avLst/>
          </a:prstGeom>
          <a:solidFill>
            <a:srgbClr val="E89A45"/>
          </a:solidFill>
          <a:ln/>
        </p:spPr>
      </p:sp>
      <p:sp>
        <p:nvSpPr>
          <p:cNvPr id="19" name="Text 15"/>
          <p:cNvSpPr/>
          <p:nvPr/>
        </p:nvSpPr>
        <p:spPr>
          <a:xfrm>
            <a:off x="4983480" y="3410712"/>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Vermeidung: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Orte werden gemieden, die Welt wird enger.</a:t>
            </a:r>
            <a:endParaRPr lang="en-US" sz="1600" dirty="0"/>
          </a:p>
        </p:txBody>
      </p:sp>
      <p:sp>
        <p:nvSpPr>
          <p:cNvPr id="20" name="Shape 16"/>
          <p:cNvSpPr/>
          <p:nvPr/>
        </p:nvSpPr>
        <p:spPr>
          <a:xfrm>
            <a:off x="4617720" y="4599432"/>
            <a:ext cx="201168" cy="201168"/>
          </a:xfrm>
          <a:prstGeom prst="ellipse">
            <a:avLst/>
          </a:prstGeom>
          <a:solidFill>
            <a:srgbClr val="E89A45"/>
          </a:solidFill>
          <a:ln/>
        </p:spPr>
      </p:sp>
      <p:sp>
        <p:nvSpPr>
          <p:cNvPr id="21" name="Text 17"/>
          <p:cNvSpPr/>
          <p:nvPr/>
        </p:nvSpPr>
        <p:spPr>
          <a:xfrm>
            <a:off x="4983480" y="4270248"/>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Körper zuerst: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Der Körper schlägt Alarm, bevor der Kopf ‚Gefahr‘ denkt.</a:t>
            </a:r>
            <a:endParaRPr lang="en-US" sz="1600" dirty="0"/>
          </a:p>
        </p:txBody>
      </p:sp>
      <p:sp>
        <p:nvSpPr>
          <p:cNvPr id="22" name="Shape 18"/>
          <p:cNvSpPr/>
          <p:nvPr/>
        </p:nvSpPr>
        <p:spPr>
          <a:xfrm>
            <a:off x="4617720" y="5458968"/>
            <a:ext cx="201168" cy="201168"/>
          </a:xfrm>
          <a:prstGeom prst="ellipse">
            <a:avLst/>
          </a:prstGeom>
          <a:solidFill>
            <a:srgbClr val="E89A45"/>
          </a:solidFill>
          <a:ln/>
        </p:spPr>
      </p:sp>
      <p:sp>
        <p:nvSpPr>
          <p:cNvPr id="23" name="Text 19"/>
          <p:cNvSpPr/>
          <p:nvPr/>
        </p:nvSpPr>
        <p:spPr>
          <a:xfrm>
            <a:off x="4983480" y="5129784"/>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Erschöpfung: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Dauernd wachsam zu sein, zehrt enorm.</a:t>
            </a:r>
            <a:endParaRPr lang="en-US" sz="1600" dirty="0"/>
          </a:p>
        </p:txBody>
      </p:sp>
      <p:sp>
        <p:nvSpPr>
          <p:cNvPr id="25" name="Text 2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img_burnout.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2C7A6B">
              <a:alpha val="72000"/>
            </a:srgbClr>
          </a:solidFill>
          <a:ln/>
        </p:spPr>
      </p:sp>
      <p:sp>
        <p:nvSpPr>
          <p:cNvPr id="4" name="Shape 1"/>
          <p:cNvSpPr/>
          <p:nvPr/>
        </p:nvSpPr>
        <p:spPr>
          <a:xfrm>
            <a:off x="0" y="0"/>
            <a:ext cx="4206240" cy="2651760"/>
          </a:xfrm>
          <a:prstGeom prst="rect">
            <a:avLst/>
          </a:prstGeom>
          <a:solidFill>
            <a:srgbClr val="2C7A6B">
              <a:alpha val="92000"/>
            </a:srgbClr>
          </a:solidFill>
          <a:ln/>
        </p:spPr>
      </p:sp>
      <p:sp>
        <p:nvSpPr>
          <p:cNvPr id="5" name="Shape 2"/>
          <p:cNvSpPr/>
          <p:nvPr/>
        </p:nvSpPr>
        <p:spPr>
          <a:xfrm>
            <a:off x="566928" y="566928"/>
            <a:ext cx="1051560" cy="105156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40334" y="840334"/>
            <a:ext cx="504749" cy="504749"/>
          </a:xfrm>
          <a:prstGeom prst="rect">
            <a:avLst/>
          </a:prstGeom>
        </p:spPr>
      </p:pic>
      <p:sp>
        <p:nvSpPr>
          <p:cNvPr id="7" name="Text 3"/>
          <p:cNvSpPr/>
          <p:nvPr/>
        </p:nvSpPr>
        <p:spPr>
          <a:xfrm>
            <a:off x="548640" y="1783080"/>
            <a:ext cx="3383280" cy="91440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Burnout</a:t>
            </a:r>
            <a:endParaRPr lang="en-US" sz="3100" dirty="0"/>
          </a:p>
        </p:txBody>
      </p:sp>
      <p:sp>
        <p:nvSpPr>
          <p:cNvPr id="8" name="Shape 4"/>
          <p:cNvSpPr/>
          <p:nvPr/>
        </p:nvSpPr>
        <p:spPr>
          <a:xfrm>
            <a:off x="548640" y="3703320"/>
            <a:ext cx="3200400" cy="2377440"/>
          </a:xfrm>
          <a:prstGeom prst="roundRect">
            <a:avLst>
              <a:gd name="adj" fmla="val 3462"/>
            </a:avLst>
          </a:prstGeom>
          <a:solidFill>
            <a:srgbClr val="24685C">
              <a:alpha val="94000"/>
            </a:srgbClr>
          </a:solidFill>
          <a:ln/>
        </p:spPr>
      </p:sp>
      <p:sp>
        <p:nvSpPr>
          <p:cNvPr id="9" name="Text 5"/>
          <p:cNvSpPr/>
          <p:nvPr/>
        </p:nvSpPr>
        <p:spPr>
          <a:xfrm>
            <a:off x="777240" y="3886200"/>
            <a:ext cx="2743200" cy="274320"/>
          </a:xfrm>
          <a:prstGeom prst="rect">
            <a:avLst/>
          </a:prstGeom>
          <a:noFill/>
          <a:ln/>
        </p:spPr>
        <p:txBody>
          <a:bodyPr wrap="square" rtlCol="0" anchor="ctr"/>
          <a:lstStyle/>
          <a:p>
            <a:pPr indent="0" marL="0">
              <a:buNone/>
            </a:pPr>
            <a:r>
              <a:rPr lang="en-US" sz="1150" b="1" spc="200" kern="0" dirty="0">
                <a:solidFill>
                  <a:srgbClr val="E89A45"/>
                </a:solidFill>
                <a:latin typeface="Calibri" pitchFamily="34" charset="0"/>
                <a:ea typeface="Calibri" pitchFamily="34" charset="-122"/>
                <a:cs typeface="Calibri" pitchFamily="34" charset="-120"/>
              </a:rPr>
              <a:t>BILD DAFÜR</a:t>
            </a:r>
            <a:endParaRPr lang="en-US" sz="1150" dirty="0"/>
          </a:p>
        </p:txBody>
      </p:sp>
      <p:sp>
        <p:nvSpPr>
          <p:cNvPr id="10" name="Text 6"/>
          <p:cNvSpPr/>
          <p:nvPr/>
        </p:nvSpPr>
        <p:spPr>
          <a:xfrm>
            <a:off x="777240" y="4114800"/>
            <a:ext cx="2743200" cy="548640"/>
          </a:xfrm>
          <a:prstGeom prst="rect">
            <a:avLst/>
          </a:prstGeom>
          <a:noFill/>
          <a:ln/>
        </p:spPr>
        <p:txBody>
          <a:bodyPr wrap="square"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Erloschenes Feuer</a:t>
            </a:r>
            <a:endParaRPr lang="en-US" sz="1700" dirty="0"/>
          </a:p>
        </p:txBody>
      </p:sp>
      <p:sp>
        <p:nvSpPr>
          <p:cNvPr id="11" name="Text 7"/>
          <p:cNvSpPr/>
          <p:nvPr/>
        </p:nvSpPr>
        <p:spPr>
          <a:xfrm>
            <a:off x="777240" y="4681728"/>
            <a:ext cx="2743200" cy="1325880"/>
          </a:xfrm>
          <a:prstGeom prst="rect">
            <a:avLst/>
          </a:prstGeom>
          <a:noFill/>
          <a:ln/>
        </p:spPr>
        <p:txBody>
          <a:bodyPr wrap="square" rtlCol="0" anchor="ctr"/>
          <a:lstStyle/>
          <a:p>
            <a:pPr indent="0" marL="0">
              <a:lnSpc>
                <a:spcPts val="1900"/>
              </a:lnSpc>
              <a:buNone/>
            </a:pPr>
            <a:r>
              <a:rPr lang="en-US" sz="1350" dirty="0">
                <a:solidFill>
                  <a:srgbClr val="F1FAF5"/>
                </a:solidFill>
                <a:latin typeface="Calibri" pitchFamily="34" charset="0"/>
                <a:ea typeface="Calibri" pitchFamily="34" charset="-122"/>
                <a:cs typeface="Calibri" pitchFamily="34" charset="-120"/>
              </a:rPr>
              <a:t>Ein Feuer, das ausgeht, weil man zu lange geheizt hat, ohne Holz nachzulegen.</a:t>
            </a:r>
            <a:endParaRPr lang="en-US" sz="1350" dirty="0"/>
          </a:p>
        </p:txBody>
      </p:sp>
      <p:sp>
        <p:nvSpPr>
          <p:cNvPr id="12" name="Text 8"/>
          <p:cNvSpPr/>
          <p:nvPr/>
        </p:nvSpPr>
        <p:spPr>
          <a:xfrm>
            <a:off x="4572000" y="530352"/>
            <a:ext cx="6949440" cy="292608"/>
          </a:xfrm>
          <a:prstGeom prst="rect">
            <a:avLst/>
          </a:prstGeom>
          <a:noFill/>
          <a:ln/>
        </p:spPr>
        <p:txBody>
          <a:bodyPr wrap="square" rtlCol="0" anchor="ctr"/>
          <a:lstStyle/>
          <a:p>
            <a:pPr indent="0" marL="0">
              <a:buNone/>
            </a:pPr>
            <a:r>
              <a:rPr lang="en-US" sz="1250" b="1" spc="200" kern="0" dirty="0">
                <a:solidFill>
                  <a:srgbClr val="BC722A"/>
                </a:solidFill>
                <a:latin typeface="Calibri" pitchFamily="34" charset="0"/>
                <a:ea typeface="Calibri" pitchFamily="34" charset="-122"/>
                <a:cs typeface="Calibri" pitchFamily="34" charset="-120"/>
              </a:rPr>
              <a:t>DIE HÄUFIGEN ERKRANKUNGEN</a:t>
            </a:r>
            <a:endParaRPr lang="en-US" sz="1250" dirty="0"/>
          </a:p>
        </p:txBody>
      </p:sp>
      <p:sp>
        <p:nvSpPr>
          <p:cNvPr id="13" name="Text 9"/>
          <p:cNvSpPr/>
          <p:nvPr/>
        </p:nvSpPr>
        <p:spPr>
          <a:xfrm>
            <a:off x="4572000" y="822960"/>
            <a:ext cx="7040880" cy="566928"/>
          </a:xfrm>
          <a:prstGeom prst="rect">
            <a:avLst/>
          </a:prstGeom>
          <a:noFill/>
          <a:ln/>
        </p:spPr>
        <p:txBody>
          <a:bodyPr wrap="square" rtlCol="0" anchor="ctr"/>
          <a:lstStyle/>
          <a:p>
            <a:pPr indent="0" marL="0">
              <a:buNone/>
            </a:pPr>
            <a:r>
              <a:rPr lang="en-US" sz="2500" b="1" dirty="0">
                <a:solidFill>
                  <a:srgbClr val="2C7A6B"/>
                </a:solidFill>
                <a:latin typeface="Cambria" pitchFamily="34" charset="0"/>
                <a:ea typeface="Cambria" pitchFamily="34" charset="-122"/>
                <a:cs typeface="Cambria" pitchFamily="34" charset="-120"/>
              </a:rPr>
              <a:t>Ausgebrannt, nicht faul</a:t>
            </a:r>
            <a:endParaRPr lang="en-US" sz="2500" dirty="0"/>
          </a:p>
        </p:txBody>
      </p:sp>
      <p:sp>
        <p:nvSpPr>
          <p:cNvPr id="14" name="Shape 10"/>
          <p:cNvSpPr/>
          <p:nvPr/>
        </p:nvSpPr>
        <p:spPr>
          <a:xfrm>
            <a:off x="4617720" y="2020824"/>
            <a:ext cx="201168" cy="201168"/>
          </a:xfrm>
          <a:prstGeom prst="ellipse">
            <a:avLst/>
          </a:prstGeom>
          <a:solidFill>
            <a:srgbClr val="6FBE9C"/>
          </a:solidFill>
          <a:ln/>
        </p:spPr>
      </p:sp>
      <p:sp>
        <p:nvSpPr>
          <p:cNvPr id="15" name="Text 11"/>
          <p:cNvSpPr/>
          <p:nvPr/>
        </p:nvSpPr>
        <p:spPr>
          <a:xfrm>
            <a:off x="4983480" y="1691640"/>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Erschöpfung: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Tief und anhaltend – körperlich und emotional leer.</a:t>
            </a:r>
            <a:endParaRPr lang="en-US" sz="1600" dirty="0"/>
          </a:p>
        </p:txBody>
      </p:sp>
      <p:sp>
        <p:nvSpPr>
          <p:cNvPr id="16" name="Shape 12"/>
          <p:cNvSpPr/>
          <p:nvPr/>
        </p:nvSpPr>
        <p:spPr>
          <a:xfrm>
            <a:off x="4617720" y="2880360"/>
            <a:ext cx="201168" cy="201168"/>
          </a:xfrm>
          <a:prstGeom prst="ellipse">
            <a:avLst/>
          </a:prstGeom>
          <a:solidFill>
            <a:srgbClr val="6FBE9C"/>
          </a:solidFill>
          <a:ln/>
        </p:spPr>
      </p:sp>
      <p:sp>
        <p:nvSpPr>
          <p:cNvPr id="17" name="Text 13"/>
          <p:cNvSpPr/>
          <p:nvPr/>
        </p:nvSpPr>
        <p:spPr>
          <a:xfrm>
            <a:off x="4983480" y="2551176"/>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Distanzierung: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Zynismus, innerer Rückzug, „mir ist alles egal“.</a:t>
            </a:r>
            <a:endParaRPr lang="en-US" sz="1600" dirty="0"/>
          </a:p>
        </p:txBody>
      </p:sp>
      <p:sp>
        <p:nvSpPr>
          <p:cNvPr id="18" name="Shape 14"/>
          <p:cNvSpPr/>
          <p:nvPr/>
        </p:nvSpPr>
        <p:spPr>
          <a:xfrm>
            <a:off x="4617720" y="3739896"/>
            <a:ext cx="201168" cy="201168"/>
          </a:xfrm>
          <a:prstGeom prst="ellipse">
            <a:avLst/>
          </a:prstGeom>
          <a:solidFill>
            <a:srgbClr val="6FBE9C"/>
          </a:solidFill>
          <a:ln/>
        </p:spPr>
      </p:sp>
      <p:sp>
        <p:nvSpPr>
          <p:cNvPr id="19" name="Text 15"/>
          <p:cNvSpPr/>
          <p:nvPr/>
        </p:nvSpPr>
        <p:spPr>
          <a:xfrm>
            <a:off x="4983480" y="3410712"/>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Leistungsknick: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Das Gefühl, nichts mehr zu schaffen, trotz Mühe.</a:t>
            </a:r>
            <a:endParaRPr lang="en-US" sz="1600" dirty="0"/>
          </a:p>
        </p:txBody>
      </p:sp>
      <p:sp>
        <p:nvSpPr>
          <p:cNvPr id="20" name="Shape 16"/>
          <p:cNvSpPr/>
          <p:nvPr/>
        </p:nvSpPr>
        <p:spPr>
          <a:xfrm>
            <a:off x="4617720" y="4599432"/>
            <a:ext cx="201168" cy="201168"/>
          </a:xfrm>
          <a:prstGeom prst="ellipse">
            <a:avLst/>
          </a:prstGeom>
          <a:solidFill>
            <a:srgbClr val="6FBE9C"/>
          </a:solidFill>
          <a:ln/>
        </p:spPr>
      </p:sp>
      <p:sp>
        <p:nvSpPr>
          <p:cNvPr id="21" name="Text 17"/>
          <p:cNvSpPr/>
          <p:nvPr/>
        </p:nvSpPr>
        <p:spPr>
          <a:xfrm>
            <a:off x="4983480" y="4270248"/>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Prozess: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Entsteht schleichend über Monate – oft bei engagierten Menschen.</a:t>
            </a:r>
            <a:endParaRPr lang="en-US" sz="1600" dirty="0"/>
          </a:p>
        </p:txBody>
      </p:sp>
      <p:sp>
        <p:nvSpPr>
          <p:cNvPr id="22" name="Shape 18"/>
          <p:cNvSpPr/>
          <p:nvPr/>
        </p:nvSpPr>
        <p:spPr>
          <a:xfrm>
            <a:off x="4617720" y="5458968"/>
            <a:ext cx="201168" cy="201168"/>
          </a:xfrm>
          <a:prstGeom prst="ellipse">
            <a:avLst/>
          </a:prstGeom>
          <a:solidFill>
            <a:srgbClr val="6FBE9C"/>
          </a:solidFill>
          <a:ln/>
        </p:spPr>
      </p:sp>
      <p:sp>
        <p:nvSpPr>
          <p:cNvPr id="23" name="Text 19"/>
          <p:cNvSpPr/>
          <p:nvPr/>
        </p:nvSpPr>
        <p:spPr>
          <a:xfrm>
            <a:off x="4983480" y="5129784"/>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Übergang: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Kann in eine Depression münden.</a:t>
            </a:r>
            <a:endParaRPr lang="en-US" sz="1600" dirty="0"/>
          </a:p>
        </p:txBody>
      </p:sp>
      <p:sp>
        <p:nvSpPr>
          <p:cNvPr id="25" name="Text 2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img_ptbs.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2C7A6B">
              <a:alpha val="72000"/>
            </a:srgbClr>
          </a:solidFill>
          <a:ln/>
        </p:spPr>
      </p:sp>
      <p:sp>
        <p:nvSpPr>
          <p:cNvPr id="4" name="Shape 1"/>
          <p:cNvSpPr/>
          <p:nvPr/>
        </p:nvSpPr>
        <p:spPr>
          <a:xfrm>
            <a:off x="0" y="0"/>
            <a:ext cx="4206240" cy="2651760"/>
          </a:xfrm>
          <a:prstGeom prst="rect">
            <a:avLst/>
          </a:prstGeom>
          <a:solidFill>
            <a:srgbClr val="2C7A6B">
              <a:alpha val="92000"/>
            </a:srgbClr>
          </a:solidFill>
          <a:ln/>
        </p:spPr>
      </p:sp>
      <p:sp>
        <p:nvSpPr>
          <p:cNvPr id="5" name="Shape 2"/>
          <p:cNvSpPr/>
          <p:nvPr/>
        </p:nvSpPr>
        <p:spPr>
          <a:xfrm>
            <a:off x="566928" y="566928"/>
            <a:ext cx="1051560" cy="105156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40334" y="840334"/>
            <a:ext cx="504749" cy="504749"/>
          </a:xfrm>
          <a:prstGeom prst="rect">
            <a:avLst/>
          </a:prstGeom>
        </p:spPr>
      </p:pic>
      <p:sp>
        <p:nvSpPr>
          <p:cNvPr id="7" name="Text 3"/>
          <p:cNvSpPr/>
          <p:nvPr/>
        </p:nvSpPr>
        <p:spPr>
          <a:xfrm>
            <a:off x="548640" y="1783080"/>
            <a:ext cx="3383280" cy="91440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PTBS</a:t>
            </a:r>
            <a:endParaRPr lang="en-US" sz="3100" dirty="0"/>
          </a:p>
        </p:txBody>
      </p:sp>
      <p:sp>
        <p:nvSpPr>
          <p:cNvPr id="8" name="Shape 4"/>
          <p:cNvSpPr/>
          <p:nvPr/>
        </p:nvSpPr>
        <p:spPr>
          <a:xfrm>
            <a:off x="548640" y="3703320"/>
            <a:ext cx="3200400" cy="2377440"/>
          </a:xfrm>
          <a:prstGeom prst="roundRect">
            <a:avLst>
              <a:gd name="adj" fmla="val 3462"/>
            </a:avLst>
          </a:prstGeom>
          <a:solidFill>
            <a:srgbClr val="24685C">
              <a:alpha val="94000"/>
            </a:srgbClr>
          </a:solidFill>
          <a:ln/>
        </p:spPr>
      </p:sp>
      <p:sp>
        <p:nvSpPr>
          <p:cNvPr id="9" name="Text 5"/>
          <p:cNvSpPr/>
          <p:nvPr/>
        </p:nvSpPr>
        <p:spPr>
          <a:xfrm>
            <a:off x="777240" y="3886200"/>
            <a:ext cx="2743200" cy="274320"/>
          </a:xfrm>
          <a:prstGeom prst="rect">
            <a:avLst/>
          </a:prstGeom>
          <a:noFill/>
          <a:ln/>
        </p:spPr>
        <p:txBody>
          <a:bodyPr wrap="square" rtlCol="0" anchor="ctr"/>
          <a:lstStyle/>
          <a:p>
            <a:pPr indent="0" marL="0">
              <a:buNone/>
            </a:pPr>
            <a:r>
              <a:rPr lang="en-US" sz="1150" b="1" spc="200" kern="0" dirty="0">
                <a:solidFill>
                  <a:srgbClr val="E89A45"/>
                </a:solidFill>
                <a:latin typeface="Calibri" pitchFamily="34" charset="0"/>
                <a:ea typeface="Calibri" pitchFamily="34" charset="-122"/>
                <a:cs typeface="Calibri" pitchFamily="34" charset="-120"/>
              </a:rPr>
              <a:t>BILD DAFÜR</a:t>
            </a:r>
            <a:endParaRPr lang="en-US" sz="1150" dirty="0"/>
          </a:p>
        </p:txBody>
      </p:sp>
      <p:sp>
        <p:nvSpPr>
          <p:cNvPr id="10" name="Text 6"/>
          <p:cNvSpPr/>
          <p:nvPr/>
        </p:nvSpPr>
        <p:spPr>
          <a:xfrm>
            <a:off x="777240" y="4114800"/>
            <a:ext cx="2743200" cy="548640"/>
          </a:xfrm>
          <a:prstGeom prst="rect">
            <a:avLst/>
          </a:prstGeom>
          <a:noFill/>
          <a:ln/>
        </p:spPr>
        <p:txBody>
          <a:bodyPr wrap="square"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Alarmanlage in der Zeit</a:t>
            </a:r>
            <a:endParaRPr lang="en-US" sz="1700" dirty="0"/>
          </a:p>
        </p:txBody>
      </p:sp>
      <p:sp>
        <p:nvSpPr>
          <p:cNvPr id="11" name="Text 7"/>
          <p:cNvSpPr/>
          <p:nvPr/>
        </p:nvSpPr>
        <p:spPr>
          <a:xfrm>
            <a:off x="777240" y="4681728"/>
            <a:ext cx="2743200" cy="1325880"/>
          </a:xfrm>
          <a:prstGeom prst="rect">
            <a:avLst/>
          </a:prstGeom>
          <a:noFill/>
          <a:ln/>
        </p:spPr>
        <p:txBody>
          <a:bodyPr wrap="square" rtlCol="0" anchor="ctr"/>
          <a:lstStyle/>
          <a:p>
            <a:pPr indent="0" marL="0">
              <a:lnSpc>
                <a:spcPts val="1900"/>
              </a:lnSpc>
              <a:buNone/>
            </a:pPr>
            <a:r>
              <a:rPr lang="en-US" sz="1350" dirty="0">
                <a:solidFill>
                  <a:srgbClr val="F1FAF5"/>
                </a:solidFill>
                <a:latin typeface="Calibri" pitchFamily="34" charset="0"/>
                <a:ea typeface="Calibri" pitchFamily="34" charset="-122"/>
                <a:cs typeface="Calibri" pitchFamily="34" charset="-120"/>
              </a:rPr>
              <a:t>Der Körper verwechselt Vergangenheit mit Gegenwart. Ein Geräusch – und die Gefahr ist ‚jetzt‘.</a:t>
            </a:r>
            <a:endParaRPr lang="en-US" sz="1350" dirty="0"/>
          </a:p>
        </p:txBody>
      </p:sp>
      <p:sp>
        <p:nvSpPr>
          <p:cNvPr id="12" name="Text 8"/>
          <p:cNvSpPr/>
          <p:nvPr/>
        </p:nvSpPr>
        <p:spPr>
          <a:xfrm>
            <a:off x="4572000" y="530352"/>
            <a:ext cx="6949440" cy="292608"/>
          </a:xfrm>
          <a:prstGeom prst="rect">
            <a:avLst/>
          </a:prstGeom>
          <a:noFill/>
          <a:ln/>
        </p:spPr>
        <p:txBody>
          <a:bodyPr wrap="square" rtlCol="0" anchor="ctr"/>
          <a:lstStyle/>
          <a:p>
            <a:pPr indent="0" marL="0">
              <a:buNone/>
            </a:pPr>
            <a:r>
              <a:rPr lang="en-US" sz="1250" b="1" spc="200" kern="0" dirty="0">
                <a:solidFill>
                  <a:srgbClr val="BC722A"/>
                </a:solidFill>
                <a:latin typeface="Calibri" pitchFamily="34" charset="0"/>
                <a:ea typeface="Calibri" pitchFamily="34" charset="-122"/>
                <a:cs typeface="Calibri" pitchFamily="34" charset="-120"/>
              </a:rPr>
              <a:t>DIE HÄUFIGEN ERKRANKUNGEN</a:t>
            </a:r>
            <a:endParaRPr lang="en-US" sz="1250" dirty="0"/>
          </a:p>
        </p:txBody>
      </p:sp>
      <p:sp>
        <p:nvSpPr>
          <p:cNvPr id="13" name="Text 9"/>
          <p:cNvSpPr/>
          <p:nvPr/>
        </p:nvSpPr>
        <p:spPr>
          <a:xfrm>
            <a:off x="4572000" y="822960"/>
            <a:ext cx="7040880" cy="566928"/>
          </a:xfrm>
          <a:prstGeom prst="rect">
            <a:avLst/>
          </a:prstGeom>
          <a:noFill/>
          <a:ln/>
        </p:spPr>
        <p:txBody>
          <a:bodyPr wrap="square" rtlCol="0" anchor="ctr"/>
          <a:lstStyle/>
          <a:p>
            <a:pPr indent="0" marL="0">
              <a:buNone/>
            </a:pPr>
            <a:r>
              <a:rPr lang="en-US" sz="2500" b="1" dirty="0">
                <a:solidFill>
                  <a:srgbClr val="2C7A6B"/>
                </a:solidFill>
                <a:latin typeface="Cambria" pitchFamily="34" charset="0"/>
                <a:ea typeface="Cambria" pitchFamily="34" charset="-122"/>
                <a:cs typeface="Cambria" pitchFamily="34" charset="-120"/>
              </a:rPr>
              <a:t>Wenn die Vergangenheit nicht vergeht</a:t>
            </a:r>
            <a:endParaRPr lang="en-US" sz="2500" dirty="0"/>
          </a:p>
        </p:txBody>
      </p:sp>
      <p:sp>
        <p:nvSpPr>
          <p:cNvPr id="14" name="Shape 10"/>
          <p:cNvSpPr/>
          <p:nvPr/>
        </p:nvSpPr>
        <p:spPr>
          <a:xfrm>
            <a:off x="4617720" y="2020824"/>
            <a:ext cx="201168" cy="201168"/>
          </a:xfrm>
          <a:prstGeom prst="ellipse">
            <a:avLst/>
          </a:prstGeom>
          <a:solidFill>
            <a:srgbClr val="E89A45"/>
          </a:solidFill>
          <a:ln/>
        </p:spPr>
      </p:sp>
      <p:sp>
        <p:nvSpPr>
          <p:cNvPr id="15" name="Text 11"/>
          <p:cNvSpPr/>
          <p:nvPr/>
        </p:nvSpPr>
        <p:spPr>
          <a:xfrm>
            <a:off x="4983480" y="1691640"/>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Flashbacks: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Das Erlebte kehrt zurück – als Wiedererleben, nicht als Erinnerung.</a:t>
            </a:r>
            <a:endParaRPr lang="en-US" sz="1600" dirty="0"/>
          </a:p>
        </p:txBody>
      </p:sp>
      <p:sp>
        <p:nvSpPr>
          <p:cNvPr id="16" name="Shape 12"/>
          <p:cNvSpPr/>
          <p:nvPr/>
        </p:nvSpPr>
        <p:spPr>
          <a:xfrm>
            <a:off x="4617720" y="2880360"/>
            <a:ext cx="201168" cy="201168"/>
          </a:xfrm>
          <a:prstGeom prst="ellipse">
            <a:avLst/>
          </a:prstGeom>
          <a:solidFill>
            <a:srgbClr val="E89A45"/>
          </a:solidFill>
          <a:ln/>
        </p:spPr>
      </p:sp>
      <p:sp>
        <p:nvSpPr>
          <p:cNvPr id="17" name="Text 13"/>
          <p:cNvSpPr/>
          <p:nvPr/>
        </p:nvSpPr>
        <p:spPr>
          <a:xfrm>
            <a:off x="4983480" y="2551176"/>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Übererregung: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Schreckhaftigkeit, Schlafstörung, ständige Alarmbereitschaft.</a:t>
            </a:r>
            <a:endParaRPr lang="en-US" sz="1600" dirty="0"/>
          </a:p>
        </p:txBody>
      </p:sp>
      <p:sp>
        <p:nvSpPr>
          <p:cNvPr id="18" name="Shape 14"/>
          <p:cNvSpPr/>
          <p:nvPr/>
        </p:nvSpPr>
        <p:spPr>
          <a:xfrm>
            <a:off x="4617720" y="3739896"/>
            <a:ext cx="201168" cy="201168"/>
          </a:xfrm>
          <a:prstGeom prst="ellipse">
            <a:avLst/>
          </a:prstGeom>
          <a:solidFill>
            <a:srgbClr val="E89A45"/>
          </a:solidFill>
          <a:ln/>
        </p:spPr>
      </p:sp>
      <p:sp>
        <p:nvSpPr>
          <p:cNvPr id="19" name="Text 15"/>
          <p:cNvSpPr/>
          <p:nvPr/>
        </p:nvSpPr>
        <p:spPr>
          <a:xfrm>
            <a:off x="4983480" y="3410712"/>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Vermeidung: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Orte, Geräusche, Gerüche, die erinnern, werden gemieden.</a:t>
            </a:r>
            <a:endParaRPr lang="en-US" sz="1600" dirty="0"/>
          </a:p>
        </p:txBody>
      </p:sp>
      <p:sp>
        <p:nvSpPr>
          <p:cNvPr id="20" name="Shape 16"/>
          <p:cNvSpPr/>
          <p:nvPr/>
        </p:nvSpPr>
        <p:spPr>
          <a:xfrm>
            <a:off x="4617720" y="4599432"/>
            <a:ext cx="201168" cy="201168"/>
          </a:xfrm>
          <a:prstGeom prst="ellipse">
            <a:avLst/>
          </a:prstGeom>
          <a:solidFill>
            <a:srgbClr val="E89A45"/>
          </a:solidFill>
          <a:ln/>
        </p:spPr>
      </p:sp>
      <p:sp>
        <p:nvSpPr>
          <p:cNvPr id="21" name="Text 17"/>
          <p:cNvSpPr/>
          <p:nvPr/>
        </p:nvSpPr>
        <p:spPr>
          <a:xfrm>
            <a:off x="4983480" y="4270248"/>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Trigger: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Ein Detail genügt – und der Körper ist wieder ‚dort‘.</a:t>
            </a:r>
            <a:endParaRPr lang="en-US" sz="1600" dirty="0"/>
          </a:p>
        </p:txBody>
      </p:sp>
      <p:sp>
        <p:nvSpPr>
          <p:cNvPr id="22" name="Shape 18"/>
          <p:cNvSpPr/>
          <p:nvPr/>
        </p:nvSpPr>
        <p:spPr>
          <a:xfrm>
            <a:off x="4617720" y="5458968"/>
            <a:ext cx="201168" cy="201168"/>
          </a:xfrm>
          <a:prstGeom prst="ellipse">
            <a:avLst/>
          </a:prstGeom>
          <a:solidFill>
            <a:srgbClr val="E89A45"/>
          </a:solidFill>
          <a:ln/>
        </p:spPr>
      </p:sp>
      <p:sp>
        <p:nvSpPr>
          <p:cNvPr id="23" name="Text 19"/>
          <p:cNvSpPr/>
          <p:nvPr/>
        </p:nvSpPr>
        <p:spPr>
          <a:xfrm>
            <a:off x="4983480" y="5129784"/>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Betäubung: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Gefühllosigkeit, Entfremdung, „nicht richtig da sein“.</a:t>
            </a:r>
            <a:endParaRPr lang="en-US" sz="1600" dirty="0"/>
          </a:p>
        </p:txBody>
      </p:sp>
      <p:sp>
        <p:nvSpPr>
          <p:cNvPr id="25" name="Text 2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8F4"/>
        </a:solidFill>
      </p:bgPr>
    </p:bg>
    <p:spTree>
      <p:nvGrpSpPr>
        <p:cNvPr id="1" name=""/>
        <p:cNvGrpSpPr/>
        <p:nvPr/>
      </p:nvGrpSpPr>
      <p:grpSpPr>
        <a:xfrm>
          <a:off x="0" y="0"/>
          <a:ext cx="0" cy="0"/>
          <a:chOff x="0" y="0"/>
          <a:chExt cx="0" cy="0"/>
        </a:xfrm>
      </p:grpSpPr>
      <p:pic>
        <p:nvPicPr>
          <p:cNvPr id="2" name="Image 0" descr="/tmp/claude-0/-home-user-spanwerk-datenschutz/aecddc76-056b-54e2-a906-9229bc8dda84/scratchpad/final/img_bipolar.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2C7A6B">
              <a:alpha val="72000"/>
            </a:srgbClr>
          </a:solidFill>
          <a:ln/>
        </p:spPr>
      </p:sp>
      <p:sp>
        <p:nvSpPr>
          <p:cNvPr id="4" name="Shape 1"/>
          <p:cNvSpPr/>
          <p:nvPr/>
        </p:nvSpPr>
        <p:spPr>
          <a:xfrm>
            <a:off x="0" y="0"/>
            <a:ext cx="4206240" cy="2651760"/>
          </a:xfrm>
          <a:prstGeom prst="rect">
            <a:avLst/>
          </a:prstGeom>
          <a:solidFill>
            <a:srgbClr val="2C7A6B">
              <a:alpha val="92000"/>
            </a:srgbClr>
          </a:solidFill>
          <a:ln/>
        </p:spPr>
      </p:sp>
      <p:sp>
        <p:nvSpPr>
          <p:cNvPr id="5" name="Shape 2"/>
          <p:cNvSpPr/>
          <p:nvPr/>
        </p:nvSpPr>
        <p:spPr>
          <a:xfrm>
            <a:off x="566928" y="566928"/>
            <a:ext cx="1051560" cy="105156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40334" y="840334"/>
            <a:ext cx="504749" cy="504749"/>
          </a:xfrm>
          <a:prstGeom prst="rect">
            <a:avLst/>
          </a:prstGeom>
        </p:spPr>
      </p:pic>
      <p:sp>
        <p:nvSpPr>
          <p:cNvPr id="7" name="Text 3"/>
          <p:cNvSpPr/>
          <p:nvPr/>
        </p:nvSpPr>
        <p:spPr>
          <a:xfrm>
            <a:off x="548640" y="1783080"/>
            <a:ext cx="3383280" cy="91440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Bipolare Störung</a:t>
            </a:r>
            <a:endParaRPr lang="en-US" sz="3100" dirty="0"/>
          </a:p>
        </p:txBody>
      </p:sp>
      <p:sp>
        <p:nvSpPr>
          <p:cNvPr id="8" name="Shape 4"/>
          <p:cNvSpPr/>
          <p:nvPr/>
        </p:nvSpPr>
        <p:spPr>
          <a:xfrm>
            <a:off x="548640" y="3703320"/>
            <a:ext cx="3200400" cy="2377440"/>
          </a:xfrm>
          <a:prstGeom prst="roundRect">
            <a:avLst>
              <a:gd name="adj" fmla="val 3462"/>
            </a:avLst>
          </a:prstGeom>
          <a:solidFill>
            <a:srgbClr val="24685C">
              <a:alpha val="94000"/>
            </a:srgbClr>
          </a:solidFill>
          <a:ln/>
        </p:spPr>
      </p:sp>
      <p:sp>
        <p:nvSpPr>
          <p:cNvPr id="9" name="Text 5"/>
          <p:cNvSpPr/>
          <p:nvPr/>
        </p:nvSpPr>
        <p:spPr>
          <a:xfrm>
            <a:off x="777240" y="3886200"/>
            <a:ext cx="2743200" cy="274320"/>
          </a:xfrm>
          <a:prstGeom prst="rect">
            <a:avLst/>
          </a:prstGeom>
          <a:noFill/>
          <a:ln/>
        </p:spPr>
        <p:txBody>
          <a:bodyPr wrap="square" rtlCol="0" anchor="ctr"/>
          <a:lstStyle/>
          <a:p>
            <a:pPr indent="0" marL="0">
              <a:buNone/>
            </a:pPr>
            <a:r>
              <a:rPr lang="en-US" sz="1150" b="1" spc="200" kern="0" dirty="0">
                <a:solidFill>
                  <a:srgbClr val="E89A45"/>
                </a:solidFill>
                <a:latin typeface="Calibri" pitchFamily="34" charset="0"/>
                <a:ea typeface="Calibri" pitchFamily="34" charset="-122"/>
                <a:cs typeface="Calibri" pitchFamily="34" charset="-120"/>
              </a:rPr>
              <a:t>BILD DAFÜR</a:t>
            </a:r>
            <a:endParaRPr lang="en-US" sz="1150" dirty="0"/>
          </a:p>
        </p:txBody>
      </p:sp>
      <p:sp>
        <p:nvSpPr>
          <p:cNvPr id="10" name="Text 6"/>
          <p:cNvSpPr/>
          <p:nvPr/>
        </p:nvSpPr>
        <p:spPr>
          <a:xfrm>
            <a:off x="777240" y="4114800"/>
            <a:ext cx="2743200" cy="548640"/>
          </a:xfrm>
          <a:prstGeom prst="rect">
            <a:avLst/>
          </a:prstGeom>
          <a:noFill/>
          <a:ln/>
        </p:spPr>
        <p:txBody>
          <a:bodyPr wrap="square"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Gezeiten</a:t>
            </a:r>
            <a:endParaRPr lang="en-US" sz="1700" dirty="0"/>
          </a:p>
        </p:txBody>
      </p:sp>
      <p:sp>
        <p:nvSpPr>
          <p:cNvPr id="11" name="Text 7"/>
          <p:cNvSpPr/>
          <p:nvPr/>
        </p:nvSpPr>
        <p:spPr>
          <a:xfrm>
            <a:off x="777240" y="4681728"/>
            <a:ext cx="2743200" cy="1325880"/>
          </a:xfrm>
          <a:prstGeom prst="rect">
            <a:avLst/>
          </a:prstGeom>
          <a:noFill/>
          <a:ln/>
        </p:spPr>
        <p:txBody>
          <a:bodyPr wrap="square" rtlCol="0" anchor="ctr"/>
          <a:lstStyle/>
          <a:p>
            <a:pPr indent="0" marL="0">
              <a:lnSpc>
                <a:spcPts val="1900"/>
              </a:lnSpc>
              <a:buNone/>
            </a:pPr>
            <a:r>
              <a:rPr lang="en-US" sz="1350" dirty="0">
                <a:solidFill>
                  <a:srgbClr val="F1FAF5"/>
                </a:solidFill>
                <a:latin typeface="Calibri" pitchFamily="34" charset="0"/>
                <a:ea typeface="Calibri" pitchFamily="34" charset="-122"/>
                <a:cs typeface="Calibri" pitchFamily="34" charset="-120"/>
              </a:rPr>
              <a:t>Nicht die kleinen Wellen des Alltags – sondern Ebbe und Flut, die den ganzen Strand verändern.</a:t>
            </a:r>
            <a:endParaRPr lang="en-US" sz="1350" dirty="0"/>
          </a:p>
        </p:txBody>
      </p:sp>
      <p:sp>
        <p:nvSpPr>
          <p:cNvPr id="12" name="Text 8"/>
          <p:cNvSpPr/>
          <p:nvPr/>
        </p:nvSpPr>
        <p:spPr>
          <a:xfrm>
            <a:off x="4572000" y="530352"/>
            <a:ext cx="6949440" cy="292608"/>
          </a:xfrm>
          <a:prstGeom prst="rect">
            <a:avLst/>
          </a:prstGeom>
          <a:noFill/>
          <a:ln/>
        </p:spPr>
        <p:txBody>
          <a:bodyPr wrap="square" rtlCol="0" anchor="ctr"/>
          <a:lstStyle/>
          <a:p>
            <a:pPr indent="0" marL="0">
              <a:buNone/>
            </a:pPr>
            <a:r>
              <a:rPr lang="en-US" sz="1250" b="1" spc="200" kern="0" dirty="0">
                <a:solidFill>
                  <a:srgbClr val="BC722A"/>
                </a:solidFill>
                <a:latin typeface="Calibri" pitchFamily="34" charset="0"/>
                <a:ea typeface="Calibri" pitchFamily="34" charset="-122"/>
                <a:cs typeface="Calibri" pitchFamily="34" charset="-120"/>
              </a:rPr>
              <a:t>DIE HÄUFIGEN ERKRANKUNGEN</a:t>
            </a:r>
            <a:endParaRPr lang="en-US" sz="1250" dirty="0"/>
          </a:p>
        </p:txBody>
      </p:sp>
      <p:sp>
        <p:nvSpPr>
          <p:cNvPr id="13" name="Text 9"/>
          <p:cNvSpPr/>
          <p:nvPr/>
        </p:nvSpPr>
        <p:spPr>
          <a:xfrm>
            <a:off x="4572000" y="822960"/>
            <a:ext cx="7040880" cy="566928"/>
          </a:xfrm>
          <a:prstGeom prst="rect">
            <a:avLst/>
          </a:prstGeom>
          <a:noFill/>
          <a:ln/>
        </p:spPr>
        <p:txBody>
          <a:bodyPr wrap="square" rtlCol="0" anchor="ctr"/>
          <a:lstStyle/>
          <a:p>
            <a:pPr indent="0" marL="0">
              <a:buNone/>
            </a:pPr>
            <a:r>
              <a:rPr lang="en-US" sz="2500" b="1" dirty="0">
                <a:solidFill>
                  <a:srgbClr val="2C7A6B"/>
                </a:solidFill>
                <a:latin typeface="Cambria" pitchFamily="34" charset="0"/>
                <a:ea typeface="Cambria" pitchFamily="34" charset="-122"/>
                <a:cs typeface="Cambria" pitchFamily="34" charset="-120"/>
              </a:rPr>
              <a:t>Zwischen Hoch und Tief</a:t>
            </a:r>
            <a:endParaRPr lang="en-US" sz="2500" dirty="0"/>
          </a:p>
        </p:txBody>
      </p:sp>
      <p:sp>
        <p:nvSpPr>
          <p:cNvPr id="14" name="Shape 10"/>
          <p:cNvSpPr/>
          <p:nvPr/>
        </p:nvSpPr>
        <p:spPr>
          <a:xfrm>
            <a:off x="4617720" y="2020824"/>
            <a:ext cx="201168" cy="201168"/>
          </a:xfrm>
          <a:prstGeom prst="ellipse">
            <a:avLst/>
          </a:prstGeom>
          <a:solidFill>
            <a:srgbClr val="2E9284"/>
          </a:solidFill>
          <a:ln/>
        </p:spPr>
      </p:sp>
      <p:sp>
        <p:nvSpPr>
          <p:cNvPr id="15" name="Text 11"/>
          <p:cNvSpPr/>
          <p:nvPr/>
        </p:nvSpPr>
        <p:spPr>
          <a:xfrm>
            <a:off x="4983480" y="1691640"/>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Depressive Phasen: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Wie bei der Depression – Leere, Antriebslosigkeit.</a:t>
            </a:r>
            <a:endParaRPr lang="en-US" sz="1600" dirty="0"/>
          </a:p>
        </p:txBody>
      </p:sp>
      <p:sp>
        <p:nvSpPr>
          <p:cNvPr id="16" name="Shape 12"/>
          <p:cNvSpPr/>
          <p:nvPr/>
        </p:nvSpPr>
        <p:spPr>
          <a:xfrm>
            <a:off x="4617720" y="2880360"/>
            <a:ext cx="201168" cy="201168"/>
          </a:xfrm>
          <a:prstGeom prst="ellipse">
            <a:avLst/>
          </a:prstGeom>
          <a:solidFill>
            <a:srgbClr val="2E9284"/>
          </a:solidFill>
          <a:ln/>
        </p:spPr>
      </p:sp>
      <p:sp>
        <p:nvSpPr>
          <p:cNvPr id="17" name="Text 13"/>
          <p:cNvSpPr/>
          <p:nvPr/>
        </p:nvSpPr>
        <p:spPr>
          <a:xfrm>
            <a:off x="4983480" y="2551176"/>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Manische Phasen: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Übersteigerte Energie, wenig Schlafbedarf, Größengefühl.</a:t>
            </a:r>
            <a:endParaRPr lang="en-US" sz="1600" dirty="0"/>
          </a:p>
        </p:txBody>
      </p:sp>
      <p:sp>
        <p:nvSpPr>
          <p:cNvPr id="18" name="Shape 14"/>
          <p:cNvSpPr/>
          <p:nvPr/>
        </p:nvSpPr>
        <p:spPr>
          <a:xfrm>
            <a:off x="4617720" y="3739896"/>
            <a:ext cx="201168" cy="201168"/>
          </a:xfrm>
          <a:prstGeom prst="ellipse">
            <a:avLst/>
          </a:prstGeom>
          <a:solidFill>
            <a:srgbClr val="2E9284"/>
          </a:solidFill>
          <a:ln/>
        </p:spPr>
      </p:sp>
      <p:sp>
        <p:nvSpPr>
          <p:cNvPr id="19" name="Text 15"/>
          <p:cNvSpPr/>
          <p:nvPr/>
        </p:nvSpPr>
        <p:spPr>
          <a:xfrm>
            <a:off x="4983480" y="3410712"/>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Riskantes Handeln: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In der Manie oft Geld-, Risiko- oder Konfliktverhalten.</a:t>
            </a:r>
            <a:endParaRPr lang="en-US" sz="1600" dirty="0"/>
          </a:p>
        </p:txBody>
      </p:sp>
      <p:sp>
        <p:nvSpPr>
          <p:cNvPr id="20" name="Shape 16"/>
          <p:cNvSpPr/>
          <p:nvPr/>
        </p:nvSpPr>
        <p:spPr>
          <a:xfrm>
            <a:off x="4617720" y="4599432"/>
            <a:ext cx="201168" cy="201168"/>
          </a:xfrm>
          <a:prstGeom prst="ellipse">
            <a:avLst/>
          </a:prstGeom>
          <a:solidFill>
            <a:srgbClr val="2E9284"/>
          </a:solidFill>
          <a:ln/>
        </p:spPr>
      </p:sp>
      <p:sp>
        <p:nvSpPr>
          <p:cNvPr id="21" name="Text 17"/>
          <p:cNvSpPr/>
          <p:nvPr/>
        </p:nvSpPr>
        <p:spPr>
          <a:xfrm>
            <a:off x="4983480" y="4270248"/>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Wechsel: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Echte Phasen – nicht ‚Stimmungsschwankungen‘ im Alltag.</a:t>
            </a:r>
            <a:endParaRPr lang="en-US" sz="1600" dirty="0"/>
          </a:p>
        </p:txBody>
      </p:sp>
      <p:sp>
        <p:nvSpPr>
          <p:cNvPr id="22" name="Shape 18"/>
          <p:cNvSpPr/>
          <p:nvPr/>
        </p:nvSpPr>
        <p:spPr>
          <a:xfrm>
            <a:off x="4617720" y="5458968"/>
            <a:ext cx="201168" cy="201168"/>
          </a:xfrm>
          <a:prstGeom prst="ellipse">
            <a:avLst/>
          </a:prstGeom>
          <a:solidFill>
            <a:srgbClr val="2E9284"/>
          </a:solidFill>
          <a:ln/>
        </p:spPr>
      </p:sp>
      <p:sp>
        <p:nvSpPr>
          <p:cNvPr id="23" name="Text 19"/>
          <p:cNvSpPr/>
          <p:nvPr/>
        </p:nvSpPr>
        <p:spPr>
          <a:xfrm>
            <a:off x="4983480" y="5129784"/>
            <a:ext cx="6629400" cy="859536"/>
          </a:xfrm>
          <a:prstGeom prst="rect">
            <a:avLst/>
          </a:prstGeom>
          <a:noFill/>
          <a:ln/>
        </p:spPr>
        <p:txBody>
          <a:bodyPr wrap="square" rtlCol="0" anchor="ctr"/>
          <a:lstStyle/>
          <a:p>
            <a:pPr indent="0" marL="0">
              <a:lnSpc>
                <a:spcPts val="1900"/>
              </a:lnSpc>
              <a:buNone/>
            </a:pPr>
            <a:r>
              <a:rPr lang="en-US" sz="1600" b="1" dirty="0">
                <a:solidFill>
                  <a:srgbClr val="2C7A6B"/>
                </a:solidFill>
                <a:latin typeface="Calibri" pitchFamily="34" charset="0"/>
                <a:ea typeface="Calibri" pitchFamily="34" charset="-122"/>
                <a:cs typeface="Calibri" pitchFamily="34" charset="-120"/>
              </a:rPr>
              <a:t>Gut behandelbar:  </a:t>
            </a:r>
            <a:pPr indent="0" marL="0">
              <a:lnSpc>
                <a:spcPts val="1900"/>
              </a:lnSpc>
              <a:buNone/>
            </a:pPr>
            <a:r>
              <a:rPr lang="en-US" sz="1600" dirty="0">
                <a:solidFill>
                  <a:srgbClr val="23423C"/>
                </a:solidFill>
                <a:latin typeface="Calibri" pitchFamily="34" charset="0"/>
                <a:ea typeface="Calibri" pitchFamily="34" charset="-122"/>
                <a:cs typeface="Calibri" pitchFamily="34" charset="-120"/>
              </a:rPr>
              <a:t>Mit Therapie &amp; Medikamenten meist gut stabilisierbar.</a:t>
            </a:r>
            <a:endParaRPr lang="en-US" sz="1600" dirty="0"/>
          </a:p>
        </p:txBody>
      </p:sp>
      <p:sp>
        <p:nvSpPr>
          <p:cNvPr id="25" name="Text 2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6000"/>
            </a:srgbClr>
          </a:solidFill>
          <a:ln/>
        </p:spPr>
      </p:sp>
      <p:sp>
        <p:nvSpPr>
          <p:cNvPr id="5" name="Text 2"/>
          <p:cNvSpPr/>
          <p:nvPr/>
        </p:nvSpPr>
        <p:spPr>
          <a:xfrm>
            <a:off x="566928" y="2103120"/>
            <a:ext cx="10058400" cy="365760"/>
          </a:xfrm>
          <a:prstGeom prst="rect">
            <a:avLst/>
          </a:prstGeom>
          <a:noFill/>
          <a:ln/>
        </p:spPr>
        <p:txBody>
          <a:bodyPr wrap="square" rtlCol="0" anchor="ctr"/>
          <a:lstStyle/>
          <a:p>
            <a:pPr indent="0" marL="0">
              <a:buNone/>
            </a:pPr>
            <a:r>
              <a:rPr lang="en-US" sz="1400" b="1" spc="300" kern="0" dirty="0">
                <a:solidFill>
                  <a:srgbClr val="F4D9B8"/>
                </a:solidFill>
                <a:latin typeface="Calibri" pitchFamily="34" charset="0"/>
                <a:ea typeface="Calibri" pitchFamily="34" charset="-122"/>
                <a:cs typeface="Calibri" pitchFamily="34" charset="-120"/>
              </a:rPr>
              <a:t>MODUL 3  ·  DAS HERZSTÜCK</a:t>
            </a:r>
            <a:endParaRPr lang="en-US" sz="1400" dirty="0"/>
          </a:p>
        </p:txBody>
      </p:sp>
      <p:sp>
        <p:nvSpPr>
          <p:cNvPr id="6" name="Text 3"/>
          <p:cNvSpPr/>
          <p:nvPr/>
        </p:nvSpPr>
        <p:spPr>
          <a:xfrm>
            <a:off x="566928" y="2514600"/>
            <a:ext cx="109728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Wie fühlt sich das an?</a:t>
            </a:r>
            <a:endParaRPr lang="en-US" sz="4800" dirty="0"/>
          </a:p>
        </p:txBody>
      </p:sp>
      <p:sp>
        <p:nvSpPr>
          <p:cNvPr id="7" name="Text 4"/>
          <p:cNvSpPr/>
          <p:nvPr/>
        </p:nvSpPr>
        <p:spPr>
          <a:xfrm>
            <a:off x="566928" y="3703320"/>
            <a:ext cx="10241280" cy="914400"/>
          </a:xfrm>
          <a:prstGeom prst="rect">
            <a:avLst/>
          </a:prstGeom>
          <a:noFill/>
          <a:ln/>
        </p:spPr>
        <p:txBody>
          <a:bodyPr wrap="square" rtlCol="0" anchor="ctr"/>
          <a:lstStyle/>
          <a:p>
            <a:pPr indent="0" marL="0">
              <a:lnSpc>
                <a:spcPts val="2700"/>
              </a:lnSpc>
              <a:buNone/>
            </a:pPr>
            <a:r>
              <a:rPr lang="en-US" sz="1900" i="1" dirty="0">
                <a:solidFill>
                  <a:srgbClr val="F2FAF5"/>
                </a:solidFill>
                <a:latin typeface="Calibri" pitchFamily="34" charset="0"/>
                <a:ea typeface="Calibri" pitchFamily="34" charset="-122"/>
                <a:cs typeface="Calibri" pitchFamily="34" charset="-120"/>
              </a:rPr>
              <a:t>Jetzt verlassen wir das Lehrbuch. Wir versuchen zu fühlen, was man von außen nicht sieht – mit Bildern, die jeder kennt.</a:t>
            </a:r>
            <a:endParaRPr lang="en-US" sz="1900" dirty="0"/>
          </a:p>
        </p:txBody>
      </p:sp>
      <p:sp>
        <p:nvSpPr>
          <p:cNvPr id="9" name="Text 5"/>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0" name="Text 6"/>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BILD 1 · DEPRESSION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Der unsichtbare Rucksack</a:t>
            </a:r>
            <a:endParaRPr lang="en-US" sz="3400" dirty="0"/>
          </a:p>
        </p:txBody>
      </p:sp>
      <p:sp>
        <p:nvSpPr>
          <p:cNvPr id="4" name="Shape 2"/>
          <p:cNvSpPr/>
          <p:nvPr/>
        </p:nvSpPr>
        <p:spPr>
          <a:xfrm>
            <a:off x="8138160" y="1737360"/>
            <a:ext cx="3474720" cy="3977640"/>
          </a:xfrm>
          <a:prstGeom prst="roundRect">
            <a:avLst>
              <a:gd name="adj" fmla="val 2895"/>
            </a:avLst>
          </a:prstGeom>
          <a:solidFill>
            <a:srgbClr val="2C7A6B"/>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9418320" y="2194560"/>
            <a:ext cx="914400" cy="914400"/>
          </a:xfrm>
          <a:prstGeom prst="ellipse">
            <a:avLst/>
          </a:prstGeom>
          <a:solidFill>
            <a:srgbClr val="E89A45"/>
          </a:solidFill>
          <a:ln/>
        </p:spPr>
      </p:sp>
      <p:pic>
        <p:nvPicPr>
          <p:cNvPr id="6" name="Image 0" descr="preencoded.png">    </p:cNvPr>
          <p:cNvPicPr>
            <a:picLocks noChangeAspect="1"/>
          </p:cNvPicPr>
          <p:nvPr/>
        </p:nvPicPr>
        <p:blipFill>
          <a:blip r:embed="rId1"/>
          <a:stretch>
            <a:fillRect/>
          </a:stretch>
        </p:blipFill>
        <p:spPr>
          <a:xfrm>
            <a:off x="9656064" y="2432304"/>
            <a:ext cx="438912" cy="438912"/>
          </a:xfrm>
          <a:prstGeom prst="rect">
            <a:avLst/>
          </a:prstGeom>
        </p:spPr>
      </p:pic>
      <p:sp>
        <p:nvSpPr>
          <p:cNvPr id="7" name="Text 4"/>
          <p:cNvSpPr/>
          <p:nvPr/>
        </p:nvSpPr>
        <p:spPr>
          <a:xfrm>
            <a:off x="8138160" y="3310128"/>
            <a:ext cx="3474720" cy="64008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+15 kg</a:t>
            </a:r>
            <a:endParaRPr lang="en-US" sz="4200" dirty="0"/>
          </a:p>
        </p:txBody>
      </p:sp>
      <p:sp>
        <p:nvSpPr>
          <p:cNvPr id="8" name="Text 5"/>
          <p:cNvSpPr/>
          <p:nvPr/>
        </p:nvSpPr>
        <p:spPr>
          <a:xfrm>
            <a:off x="8138160" y="4023360"/>
            <a:ext cx="3474720" cy="365760"/>
          </a:xfrm>
          <a:prstGeom prst="rect">
            <a:avLst/>
          </a:prstGeom>
          <a:noFill/>
          <a:ln/>
        </p:spPr>
        <p:txBody>
          <a:bodyPr wrap="square" rtlCol="0" anchor="ctr"/>
          <a:lstStyle/>
          <a:p>
            <a:pPr algn="ctr" indent="0" marL="0">
              <a:buNone/>
            </a:pPr>
            <a:r>
              <a:rPr lang="en-US" sz="1500" i="1" dirty="0">
                <a:solidFill>
                  <a:srgbClr val="EAF6EF"/>
                </a:solidFill>
                <a:latin typeface="Calibri" pitchFamily="34" charset="0"/>
                <a:ea typeface="Calibri" pitchFamily="34" charset="-122"/>
                <a:cs typeface="Calibri" pitchFamily="34" charset="-120"/>
              </a:rPr>
              <a:t>auf alles, was du tust</a:t>
            </a:r>
            <a:endParaRPr lang="en-US" sz="1500" dirty="0"/>
          </a:p>
        </p:txBody>
      </p:sp>
      <p:sp>
        <p:nvSpPr>
          <p:cNvPr id="9" name="Text 6"/>
          <p:cNvSpPr/>
          <p:nvPr/>
        </p:nvSpPr>
        <p:spPr>
          <a:xfrm>
            <a:off x="8321040" y="4590288"/>
            <a:ext cx="3108960" cy="914400"/>
          </a:xfrm>
          <a:prstGeom prst="rect">
            <a:avLst/>
          </a:prstGeom>
          <a:noFill/>
          <a:ln/>
        </p:spPr>
        <p:txBody>
          <a:bodyPr wrap="square" rtlCol="0" anchor="ctr"/>
          <a:lstStyle/>
          <a:p>
            <a:pPr algn="ctr" indent="0" marL="0">
              <a:lnSpc>
                <a:spcPts val="2100"/>
              </a:lnSpc>
              <a:buNone/>
            </a:pPr>
            <a:r>
              <a:rPr lang="en-US" sz="1400" dirty="0">
                <a:solidFill>
                  <a:srgbClr val="DFF0E8"/>
                </a:solidFill>
                <a:latin typeface="Calibri" pitchFamily="34" charset="0"/>
                <a:ea typeface="Calibri" pitchFamily="34" charset="-122"/>
                <a:cs typeface="Calibri" pitchFamily="34" charset="-120"/>
              </a:rPr>
              <a:t>Aufstehen · Duschen · Antworten</a:t>
            </a:r>
            <a:endParaRPr lang="en-US" sz="1400" dirty="0"/>
          </a:p>
          <a:p>
            <a:pPr algn="ctr" indent="0" marL="0">
              <a:lnSpc>
                <a:spcPts val="2100"/>
              </a:lnSpc>
              <a:buNone/>
            </a:pPr>
            <a:r>
              <a:rPr lang="en-US" sz="1400" dirty="0">
                <a:solidFill>
                  <a:srgbClr val="DFF0E8"/>
                </a:solidFill>
                <a:latin typeface="Calibri" pitchFamily="34" charset="0"/>
                <a:ea typeface="Calibri" pitchFamily="34" charset="-122"/>
                <a:cs typeface="Calibri" pitchFamily="34" charset="-120"/>
              </a:rPr>
              <a:t>· Lächeln · Weitermachen</a:t>
            </a:r>
            <a:endParaRPr lang="en-US" sz="1400" dirty="0"/>
          </a:p>
        </p:txBody>
      </p:sp>
      <p:sp>
        <p:nvSpPr>
          <p:cNvPr id="10" name="Text 7"/>
          <p:cNvSpPr/>
          <p:nvPr/>
        </p:nvSpPr>
        <p:spPr>
          <a:xfrm>
            <a:off x="566928" y="1783080"/>
            <a:ext cx="7223760" cy="3931920"/>
          </a:xfrm>
          <a:prstGeom prst="rect">
            <a:avLst/>
          </a:prstGeom>
          <a:noFill/>
          <a:ln/>
        </p:spPr>
        <p:txBody>
          <a:bodyPr wrap="square" rtlCol="0" anchor="t"/>
          <a:lstStyle/>
          <a:p>
            <a:pPr indent="0" marL="0">
              <a:lnSpc>
                <a:spcPts val="2500"/>
              </a:lnSpc>
              <a:buNone/>
            </a:pPr>
            <a:r>
              <a:rPr lang="en-US" sz="1800" dirty="0">
                <a:solidFill>
                  <a:srgbClr val="23423C"/>
                </a:solidFill>
              </a:rPr>
              <a:t>Stellen Sie sich vor, Sie tragen einen Rucksack, der jeden Tag schwerer wird – und niemand sieht ihn.
</a:t>
            </a:r>
            <a:endParaRPr lang="en-US" sz="1800" dirty="0"/>
          </a:p>
          <a:p>
            <a:pPr indent="0" marL="0">
              <a:lnSpc>
                <a:spcPts val="2500"/>
              </a:lnSpc>
              <a:buNone/>
            </a:pPr>
            <a:r>
              <a:rPr lang="en-US" sz="1800" dirty="0">
                <a:solidFill>
                  <a:srgbClr val="23423C"/>
                </a:solidFill>
              </a:rPr>
              <a:t>Jede kleinste Aufgabe kostet plötzlich Kraft, als hätten alle anderen leichtes Gepäck und Sie schleppen Steine.
</a:t>
            </a:r>
            <a:endParaRPr lang="en-US" sz="1800" dirty="0"/>
          </a:p>
          <a:p>
            <a:pPr indent="0" marL="0">
              <a:lnSpc>
                <a:spcPts val="2500"/>
              </a:lnSpc>
              <a:buNone/>
            </a:pPr>
            <a:r>
              <a:rPr lang="en-US" sz="1800" i="1" dirty="0">
                <a:solidFill>
                  <a:srgbClr val="2C7A6B"/>
                </a:solidFill>
              </a:rPr>
              <a:t>Wenn eine depressive Person morgens aufsteht und zur Arbeit geht, hat sie oft schon einen Marathon hinter sich, von dem keiner weiß.</a:t>
            </a:r>
            <a:endParaRPr lang="en-US" sz="1800" dirty="0"/>
          </a:p>
        </p:txBody>
      </p:sp>
      <p:sp>
        <p:nvSpPr>
          <p:cNvPr id="12" name="Text 8"/>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3" name="Text 9"/>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78000"/>
            </a:srgbClr>
          </a:solidFill>
          <a:ln/>
        </p:spPr>
      </p:sp>
      <p:sp>
        <p:nvSpPr>
          <p:cNvPr id="4" name="Text 1"/>
          <p:cNvSpPr/>
          <p:nvPr/>
        </p:nvSpPr>
        <p:spPr>
          <a:xfrm>
            <a:off x="566928" y="502920"/>
            <a:ext cx="100584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BILD 2 · DAS UNSICHTBARE</a:t>
            </a:r>
            <a:endParaRPr lang="en-US" sz="1250" dirty="0"/>
          </a:p>
        </p:txBody>
      </p:sp>
      <p:sp>
        <p:nvSpPr>
          <p:cNvPr id="5" name="Text 2"/>
          <p:cNvSpPr/>
          <p:nvPr/>
        </p:nvSpPr>
        <p:spPr>
          <a:xfrm>
            <a:off x="566928" y="822960"/>
            <a:ext cx="10972800" cy="640080"/>
          </a:xfrm>
          <a:prstGeom prst="rect">
            <a:avLst/>
          </a:prstGeom>
          <a:noFill/>
          <a:ln/>
        </p:spPr>
        <p:txBody>
          <a:bodyPr wrap="square"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Was man sieht – und was darunter liegt</a:t>
            </a:r>
            <a:endParaRPr lang="en-US" sz="2900" dirty="0"/>
          </a:p>
        </p:txBody>
      </p:sp>
      <p:sp>
        <p:nvSpPr>
          <p:cNvPr id="6" name="Shape 3"/>
          <p:cNvSpPr/>
          <p:nvPr/>
        </p:nvSpPr>
        <p:spPr>
          <a:xfrm>
            <a:off x="0" y="2788920"/>
            <a:ext cx="12191695" cy="27432"/>
          </a:xfrm>
          <a:prstGeom prst="rect">
            <a:avLst/>
          </a:prstGeom>
          <a:solidFill>
            <a:srgbClr val="FFFFFF"/>
          </a:solidFill>
          <a:ln/>
        </p:spPr>
      </p:sp>
      <p:sp>
        <p:nvSpPr>
          <p:cNvPr id="7" name="Text 4"/>
          <p:cNvSpPr/>
          <p:nvPr/>
        </p:nvSpPr>
        <p:spPr>
          <a:xfrm>
            <a:off x="7680960" y="2377440"/>
            <a:ext cx="4023360" cy="320040"/>
          </a:xfrm>
          <a:prstGeom prst="rect">
            <a:avLst/>
          </a:prstGeom>
          <a:noFill/>
          <a:ln/>
        </p:spPr>
        <p:txBody>
          <a:bodyPr wrap="square" rtlCol="0" anchor="ctr"/>
          <a:lstStyle/>
          <a:p>
            <a:pPr algn="r" indent="0" marL="0">
              <a:buNone/>
            </a:pPr>
            <a:r>
              <a:rPr lang="en-US" sz="1150" i="1" dirty="0">
                <a:solidFill>
                  <a:srgbClr val="EAF6EF"/>
                </a:solidFill>
                <a:latin typeface="Calibri" pitchFamily="34" charset="0"/>
                <a:ea typeface="Calibri" pitchFamily="34" charset="-122"/>
                <a:cs typeface="Calibri" pitchFamily="34" charset="-120"/>
              </a:rPr>
              <a:t>Wasserlinie – was andere sehen</a:t>
            </a:r>
            <a:endParaRPr lang="en-US" sz="1150" dirty="0"/>
          </a:p>
        </p:txBody>
      </p:sp>
      <p:sp>
        <p:nvSpPr>
          <p:cNvPr id="8" name="Shape 5"/>
          <p:cNvSpPr/>
          <p:nvPr/>
        </p:nvSpPr>
        <p:spPr>
          <a:xfrm flipV="1">
            <a:off x="4480560" y="1600200"/>
            <a:ext cx="3200400" cy="1188720"/>
          </a:xfrm>
          <a:prstGeom prst="triangle">
            <a:avLst/>
          </a:prstGeom>
          <a:solidFill>
            <a:srgbClr val="FFFFFF"/>
          </a:solidFill>
          <a:ln/>
        </p:spPr>
      </p:sp>
      <p:sp>
        <p:nvSpPr>
          <p:cNvPr id="9" name="Text 6"/>
          <p:cNvSpPr/>
          <p:nvPr/>
        </p:nvSpPr>
        <p:spPr>
          <a:xfrm>
            <a:off x="4480560" y="1874520"/>
            <a:ext cx="3200400" cy="457200"/>
          </a:xfrm>
          <a:prstGeom prst="rect">
            <a:avLst/>
          </a:prstGeom>
          <a:noFill/>
          <a:ln/>
        </p:spPr>
        <p:txBody>
          <a:bodyPr wrap="square" rtlCol="0" anchor="ctr"/>
          <a:lstStyle/>
          <a:p>
            <a:pPr algn="ctr" indent="0" marL="0">
              <a:buNone/>
            </a:pPr>
            <a:r>
              <a:rPr lang="en-US" sz="1600" b="1" dirty="0">
                <a:solidFill>
                  <a:srgbClr val="2C7A6B"/>
                </a:solidFill>
                <a:latin typeface="Cambria" pitchFamily="34" charset="0"/>
                <a:ea typeface="Cambria" pitchFamily="34" charset="-122"/>
                <a:cs typeface="Cambria" pitchFamily="34" charset="-120"/>
              </a:rPr>
              <a:t>„Mir geht’s gut.“</a:t>
            </a:r>
            <a:endParaRPr lang="en-US" sz="1600" dirty="0"/>
          </a:p>
        </p:txBody>
      </p:sp>
      <p:sp>
        <p:nvSpPr>
          <p:cNvPr id="10" name="Shape 7"/>
          <p:cNvSpPr/>
          <p:nvPr/>
        </p:nvSpPr>
        <p:spPr>
          <a:xfrm>
            <a:off x="2377440" y="2834640"/>
            <a:ext cx="7406640" cy="3063240"/>
          </a:xfrm>
          <a:prstGeom prst="triangle">
            <a:avLst/>
          </a:prstGeom>
          <a:solidFill>
            <a:srgbClr val="24685C">
              <a:alpha val="88000"/>
            </a:srgbClr>
          </a:solidFill>
          <a:ln w="12700">
            <a:solidFill>
              <a:srgbClr val="FFFFFF"/>
            </a:solidFill>
            <a:prstDash val="solid"/>
          </a:ln>
        </p:spPr>
      </p:sp>
      <p:sp>
        <p:nvSpPr>
          <p:cNvPr id="11" name="Text 8"/>
          <p:cNvSpPr/>
          <p:nvPr/>
        </p:nvSpPr>
        <p:spPr>
          <a:xfrm>
            <a:off x="3291840" y="3108960"/>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Erschöpfung</a:t>
            </a:r>
            <a:endParaRPr lang="en-US" sz="1550" dirty="0"/>
          </a:p>
        </p:txBody>
      </p:sp>
      <p:sp>
        <p:nvSpPr>
          <p:cNvPr id="12" name="Text 9"/>
          <p:cNvSpPr/>
          <p:nvPr/>
        </p:nvSpPr>
        <p:spPr>
          <a:xfrm>
            <a:off x="6400800" y="3108960"/>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Scham &amp; Schuld</a:t>
            </a:r>
            <a:endParaRPr lang="en-US" sz="1550" dirty="0"/>
          </a:p>
        </p:txBody>
      </p:sp>
      <p:sp>
        <p:nvSpPr>
          <p:cNvPr id="13" name="Text 10"/>
          <p:cNvSpPr/>
          <p:nvPr/>
        </p:nvSpPr>
        <p:spPr>
          <a:xfrm>
            <a:off x="3291840" y="3675888"/>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Angst</a:t>
            </a:r>
            <a:endParaRPr lang="en-US" sz="1550" dirty="0"/>
          </a:p>
        </p:txBody>
      </p:sp>
      <p:sp>
        <p:nvSpPr>
          <p:cNvPr id="14" name="Text 11"/>
          <p:cNvSpPr/>
          <p:nvPr/>
        </p:nvSpPr>
        <p:spPr>
          <a:xfrm>
            <a:off x="6400800" y="3675888"/>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innere Leere</a:t>
            </a:r>
            <a:endParaRPr lang="en-US" sz="1550" dirty="0"/>
          </a:p>
        </p:txBody>
      </p:sp>
      <p:sp>
        <p:nvSpPr>
          <p:cNvPr id="15" name="Text 12"/>
          <p:cNvSpPr/>
          <p:nvPr/>
        </p:nvSpPr>
        <p:spPr>
          <a:xfrm>
            <a:off x="3291840" y="4242816"/>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Selbstzweifel</a:t>
            </a:r>
            <a:endParaRPr lang="en-US" sz="1550" dirty="0"/>
          </a:p>
        </p:txBody>
      </p:sp>
      <p:sp>
        <p:nvSpPr>
          <p:cNvPr id="16" name="Text 13"/>
          <p:cNvSpPr/>
          <p:nvPr/>
        </p:nvSpPr>
        <p:spPr>
          <a:xfrm>
            <a:off x="6400800" y="4242816"/>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Einsamkeit</a:t>
            </a:r>
            <a:endParaRPr lang="en-US" sz="1550" dirty="0"/>
          </a:p>
        </p:txBody>
      </p:sp>
      <p:sp>
        <p:nvSpPr>
          <p:cNvPr id="17" name="Text 14"/>
          <p:cNvSpPr/>
          <p:nvPr/>
        </p:nvSpPr>
        <p:spPr>
          <a:xfrm>
            <a:off x="3291840" y="4809744"/>
            <a:ext cx="3108960" cy="411480"/>
          </a:xfrm>
          <a:prstGeom prst="rect">
            <a:avLst/>
          </a:prstGeom>
          <a:noFill/>
          <a:ln/>
        </p:spPr>
        <p:txBody>
          <a:bodyPr wrap="square" rtlCol="0" anchor="ctr"/>
          <a:lstStyle/>
          <a:p>
            <a:pPr indent="0" marL="0">
              <a:buNone/>
            </a:pPr>
            <a:r>
              <a:rPr lang="en-US" sz="1550" dirty="0">
                <a:solidFill>
                  <a:srgbClr val="F2FAF5"/>
                </a:solidFill>
                <a:latin typeface="Calibri" pitchFamily="34" charset="0"/>
                <a:ea typeface="Calibri" pitchFamily="34" charset="-122"/>
                <a:cs typeface="Calibri" pitchFamily="34" charset="-120"/>
              </a:rPr>
              <a:t>•  „Ich funktioniere nur noch“</a:t>
            </a:r>
            <a:endParaRPr lang="en-US" sz="1550" dirty="0"/>
          </a:p>
        </p:txBody>
      </p:sp>
      <p:sp>
        <p:nvSpPr>
          <p:cNvPr id="19" name="Text 15"/>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0" name="Text 16"/>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BILD 3 · DIE MASKE</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Warum man es oft nicht sieht</a:t>
            </a:r>
            <a:endParaRPr lang="en-US" sz="3400" dirty="0"/>
          </a:p>
        </p:txBody>
      </p:sp>
      <p:sp>
        <p:nvSpPr>
          <p:cNvPr id="4" name="Shape 2"/>
          <p:cNvSpPr/>
          <p:nvPr/>
        </p:nvSpPr>
        <p:spPr>
          <a:xfrm>
            <a:off x="566928" y="1783080"/>
            <a:ext cx="5394960" cy="3931920"/>
          </a:xfrm>
          <a:prstGeom prst="roundRect">
            <a:avLst>
              <a:gd name="adj" fmla="val 2558"/>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2715768" y="2148840"/>
            <a:ext cx="1097280" cy="109728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3001061" y="2434133"/>
            <a:ext cx="526694" cy="526694"/>
          </a:xfrm>
          <a:prstGeom prst="rect">
            <a:avLst/>
          </a:prstGeom>
        </p:spPr>
      </p:pic>
      <p:sp>
        <p:nvSpPr>
          <p:cNvPr id="7" name="Text 4"/>
          <p:cNvSpPr/>
          <p:nvPr/>
        </p:nvSpPr>
        <p:spPr>
          <a:xfrm>
            <a:off x="566928" y="3410712"/>
            <a:ext cx="5394960" cy="457200"/>
          </a:xfrm>
          <a:prstGeom prst="rect">
            <a:avLst/>
          </a:prstGeom>
          <a:noFill/>
          <a:ln/>
        </p:spPr>
        <p:txBody>
          <a:bodyPr wrap="square" rtlCol="0" anchor="ctr"/>
          <a:lstStyle/>
          <a:p>
            <a:pPr algn="ctr" indent="0" marL="0">
              <a:buNone/>
            </a:pPr>
            <a:r>
              <a:rPr lang="en-US" sz="2100" b="1" dirty="0">
                <a:solidFill>
                  <a:srgbClr val="2C7A6B"/>
                </a:solidFill>
                <a:latin typeface="Cambria" pitchFamily="34" charset="0"/>
                <a:ea typeface="Cambria" pitchFamily="34" charset="-122"/>
                <a:cs typeface="Cambria" pitchFamily="34" charset="-120"/>
              </a:rPr>
              <a:t>Nach außen</a:t>
            </a:r>
            <a:endParaRPr lang="en-US" sz="2100" dirty="0"/>
          </a:p>
        </p:txBody>
      </p:sp>
      <p:sp>
        <p:nvSpPr>
          <p:cNvPr id="8" name="Text 5"/>
          <p:cNvSpPr/>
          <p:nvPr/>
        </p:nvSpPr>
        <p:spPr>
          <a:xfrm>
            <a:off x="841248" y="3977640"/>
            <a:ext cx="4846320" cy="1463040"/>
          </a:xfrm>
          <a:prstGeom prst="rect">
            <a:avLst/>
          </a:prstGeom>
          <a:noFill/>
          <a:ln/>
        </p:spPr>
        <p:txBody>
          <a:bodyPr wrap="square" rtlCol="0" anchor="ctr"/>
          <a:lstStyle/>
          <a:p>
            <a:pPr algn="ctr" indent="0" marL="0">
              <a:lnSpc>
                <a:spcPts val="2600"/>
              </a:lnSpc>
              <a:buNone/>
            </a:pPr>
            <a:r>
              <a:rPr lang="en-US" sz="1600" dirty="0">
                <a:solidFill>
                  <a:srgbClr val="23423C"/>
                </a:solidFill>
                <a:latin typeface="Calibri" pitchFamily="34" charset="0"/>
                <a:ea typeface="Calibri" pitchFamily="34" charset="-122"/>
                <a:cs typeface="Calibri" pitchFamily="34" charset="-120"/>
              </a:rPr>
              <a:t>„Alles bestens.“  ·  pünktlich  ·  lächelt</a:t>
            </a:r>
            <a:endParaRPr lang="en-US" sz="1600" dirty="0"/>
          </a:p>
          <a:p>
            <a:pPr algn="ctr" indent="0" marL="0">
              <a:lnSpc>
                <a:spcPts val="2600"/>
              </a:lnSpc>
              <a:buNone/>
            </a:pPr>
            <a:r>
              <a:rPr lang="en-US" sz="1600" dirty="0">
                <a:solidFill>
                  <a:srgbClr val="23423C"/>
                </a:solidFill>
                <a:latin typeface="Calibri" pitchFamily="34" charset="0"/>
                <a:ea typeface="Calibri" pitchFamily="34" charset="-122"/>
                <a:cs typeface="Calibri" pitchFamily="34" charset="-120"/>
              </a:rPr>
              <a:t>· funktioniert  ·  witzelt  ·  hilft anderen</a:t>
            </a:r>
            <a:endParaRPr lang="en-US" sz="1600" dirty="0"/>
          </a:p>
        </p:txBody>
      </p:sp>
      <p:sp>
        <p:nvSpPr>
          <p:cNvPr id="9" name="Shape 6"/>
          <p:cNvSpPr/>
          <p:nvPr/>
        </p:nvSpPr>
        <p:spPr>
          <a:xfrm>
            <a:off x="6263640" y="1783080"/>
            <a:ext cx="5394960" cy="3931920"/>
          </a:xfrm>
          <a:prstGeom prst="roundRect">
            <a:avLst>
              <a:gd name="adj" fmla="val 2558"/>
            </a:avLst>
          </a:prstGeom>
          <a:solidFill>
            <a:srgbClr val="2C7A6B"/>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8412480" y="2148840"/>
            <a:ext cx="1097280" cy="1097280"/>
          </a:xfrm>
          <a:prstGeom prst="ellipse">
            <a:avLst/>
          </a:prstGeom>
          <a:solidFill>
            <a:srgbClr val="E89A45"/>
          </a:solidFill>
          <a:ln/>
        </p:spPr>
      </p:sp>
      <p:pic>
        <p:nvPicPr>
          <p:cNvPr id="11" name="Image 1" descr="preencoded.png">    </p:cNvPr>
          <p:cNvPicPr>
            <a:picLocks noChangeAspect="1"/>
          </p:cNvPicPr>
          <p:nvPr/>
        </p:nvPicPr>
        <p:blipFill>
          <a:blip r:embed="rId2"/>
          <a:stretch>
            <a:fillRect/>
          </a:stretch>
        </p:blipFill>
        <p:spPr>
          <a:xfrm>
            <a:off x="8697773" y="2434133"/>
            <a:ext cx="526694" cy="526694"/>
          </a:xfrm>
          <a:prstGeom prst="rect">
            <a:avLst/>
          </a:prstGeom>
        </p:spPr>
      </p:pic>
      <p:sp>
        <p:nvSpPr>
          <p:cNvPr id="12" name="Text 8"/>
          <p:cNvSpPr/>
          <p:nvPr/>
        </p:nvSpPr>
        <p:spPr>
          <a:xfrm>
            <a:off x="6263640" y="3410712"/>
            <a:ext cx="5394960" cy="45720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Nach innen</a:t>
            </a:r>
            <a:endParaRPr lang="en-US" sz="2100" dirty="0"/>
          </a:p>
        </p:txBody>
      </p:sp>
      <p:sp>
        <p:nvSpPr>
          <p:cNvPr id="13" name="Text 9"/>
          <p:cNvSpPr/>
          <p:nvPr/>
        </p:nvSpPr>
        <p:spPr>
          <a:xfrm>
            <a:off x="6537960" y="3977640"/>
            <a:ext cx="4846320" cy="1463040"/>
          </a:xfrm>
          <a:prstGeom prst="rect">
            <a:avLst/>
          </a:prstGeom>
          <a:noFill/>
          <a:ln/>
        </p:spPr>
        <p:txBody>
          <a:bodyPr wrap="square" rtlCol="0" anchor="ctr"/>
          <a:lstStyle/>
          <a:p>
            <a:pPr algn="ctr" indent="0" marL="0">
              <a:lnSpc>
                <a:spcPts val="2600"/>
              </a:lnSpc>
              <a:buNone/>
            </a:pPr>
            <a:r>
              <a:rPr lang="en-US" sz="1600" dirty="0">
                <a:solidFill>
                  <a:srgbClr val="EAF6EF"/>
                </a:solidFill>
                <a:latin typeface="Calibri" pitchFamily="34" charset="0"/>
                <a:ea typeface="Calibri" pitchFamily="34" charset="-122"/>
                <a:cs typeface="Calibri" pitchFamily="34" charset="-120"/>
              </a:rPr>
              <a:t>erschöpft  ·  leer  ·  voller Angst</a:t>
            </a:r>
            <a:endParaRPr lang="en-US" sz="1600" dirty="0"/>
          </a:p>
          <a:p>
            <a:pPr algn="ctr" indent="0" marL="0">
              <a:lnSpc>
                <a:spcPts val="2600"/>
              </a:lnSpc>
              <a:buNone/>
            </a:pPr>
            <a:r>
              <a:rPr lang="en-US" sz="1600" dirty="0">
                <a:solidFill>
                  <a:srgbClr val="EAF6EF"/>
                </a:solidFill>
                <a:latin typeface="Calibri" pitchFamily="34" charset="0"/>
                <a:ea typeface="Calibri" pitchFamily="34" charset="-122"/>
                <a:cs typeface="Calibri" pitchFamily="34" charset="-120"/>
              </a:rPr>
              <a:t>· „nur bis nach Hause durchhalten“</a:t>
            </a:r>
            <a:endParaRPr lang="en-US" sz="1600" dirty="0"/>
          </a:p>
        </p:txBody>
      </p:sp>
      <p:sp>
        <p:nvSpPr>
          <p:cNvPr id="14" name="Text 10"/>
          <p:cNvSpPr/>
          <p:nvPr/>
        </p:nvSpPr>
        <p:spPr>
          <a:xfrm>
            <a:off x="566928" y="5943600"/>
            <a:ext cx="11057839" cy="457200"/>
          </a:xfrm>
          <a:prstGeom prst="rect">
            <a:avLst/>
          </a:prstGeom>
          <a:noFill/>
          <a:ln/>
        </p:spPr>
        <p:txBody>
          <a:bodyPr wrap="square" rtlCol="0" anchor="ctr"/>
          <a:lstStyle/>
          <a:p>
            <a:pPr algn="ctr" indent="0" marL="0">
              <a:buNone/>
            </a:pPr>
            <a:r>
              <a:rPr lang="en-US" sz="1450" i="1" dirty="0">
                <a:solidFill>
                  <a:srgbClr val="2E9284"/>
                </a:solidFill>
                <a:latin typeface="Calibri" pitchFamily="34" charset="0"/>
                <a:ea typeface="Calibri" pitchFamily="34" charset="-122"/>
                <a:cs typeface="Calibri" pitchFamily="34" charset="-120"/>
              </a:rPr>
              <a:t>Viele Betroffene sind Meister im Verbergen – aus Angst vor Mitleid, Nachteilen und Vorurteilen. Das Funktionieren kostet die letzte Kraft.</a:t>
            </a:r>
            <a:endParaRPr lang="en-US" sz="1450" dirty="0"/>
          </a:p>
        </p:txBody>
      </p:sp>
      <p:sp>
        <p:nvSpPr>
          <p:cNvPr id="16" name="Text 11"/>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7" name="Text 12"/>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BILD 4 · DER DENKFEHLER</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Warum „positiv denken“ nicht reicht</a:t>
            </a:r>
            <a:endParaRPr lang="en-US" sz="3400" dirty="0"/>
          </a:p>
        </p:txBody>
      </p:sp>
      <p:sp>
        <p:nvSpPr>
          <p:cNvPr id="4" name="Shape 2"/>
          <p:cNvSpPr/>
          <p:nvPr/>
        </p:nvSpPr>
        <p:spPr>
          <a:xfrm>
            <a:off x="566928" y="1828800"/>
            <a:ext cx="11057839" cy="1920240"/>
          </a:xfrm>
          <a:prstGeom prst="roundRect">
            <a:avLst>
              <a:gd name="adj" fmla="val 5238"/>
            </a:avLst>
          </a:prstGeom>
          <a:solidFill>
            <a:srgbClr val="2C7A6B"/>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978408" y="2240280"/>
            <a:ext cx="1051560" cy="1051560"/>
          </a:xfrm>
          <a:prstGeom prst="ellipse">
            <a:avLst/>
          </a:prstGeom>
          <a:solidFill>
            <a:srgbClr val="E89A45"/>
          </a:solidFill>
          <a:ln/>
        </p:spPr>
      </p:sp>
      <p:pic>
        <p:nvPicPr>
          <p:cNvPr id="6" name="Image 0" descr="preencoded.png">    </p:cNvPr>
          <p:cNvPicPr>
            <a:picLocks noChangeAspect="1"/>
          </p:cNvPicPr>
          <p:nvPr/>
        </p:nvPicPr>
        <p:blipFill>
          <a:blip r:embed="rId1"/>
          <a:stretch>
            <a:fillRect/>
          </a:stretch>
        </p:blipFill>
        <p:spPr>
          <a:xfrm>
            <a:off x="1251814" y="2513686"/>
            <a:ext cx="504749" cy="504749"/>
          </a:xfrm>
          <a:prstGeom prst="rect">
            <a:avLst/>
          </a:prstGeom>
        </p:spPr>
      </p:pic>
      <p:sp>
        <p:nvSpPr>
          <p:cNvPr id="7" name="Text 4"/>
          <p:cNvSpPr/>
          <p:nvPr/>
        </p:nvSpPr>
        <p:spPr>
          <a:xfrm>
            <a:off x="2350008" y="2148840"/>
            <a:ext cx="8778240" cy="1280160"/>
          </a:xfrm>
          <a:prstGeom prst="rect">
            <a:avLst/>
          </a:prstGeom>
          <a:noFill/>
          <a:ln/>
        </p:spPr>
        <p:txBody>
          <a:bodyPr wrap="square" rtlCol="0" anchor="ctr"/>
          <a:lstStyle/>
          <a:p>
            <a:pPr indent="0" marL="0">
              <a:lnSpc>
                <a:spcPts val="2800"/>
              </a:lnSpc>
              <a:buNone/>
            </a:pPr>
            <a:r>
              <a:rPr lang="en-US" sz="2300" b="1" dirty="0">
                <a:solidFill>
                  <a:srgbClr val="FFFFFF"/>
                </a:solidFill>
              </a:rPr>
              <a:t>„Denk doch einfach positiv.“
</a:t>
            </a:r>
            <a:endParaRPr lang="en-US" sz="2300" dirty="0"/>
          </a:p>
          <a:p>
            <a:pPr indent="0" marL="0">
              <a:lnSpc>
                <a:spcPts val="2800"/>
              </a:lnSpc>
              <a:buNone/>
            </a:pPr>
            <a:r>
              <a:rPr lang="en-US" sz="1800" i="1" dirty="0">
                <a:solidFill>
                  <a:srgbClr val="EAF6EF"/>
                </a:solidFill>
              </a:rPr>
              <a:t>…ist bei einer Depression so hilfreich wie „Lauf halt einfach“ bei einem gebrochenen Bein.</a:t>
            </a:r>
            <a:endParaRPr lang="en-US" sz="2300" dirty="0"/>
          </a:p>
        </p:txBody>
      </p:sp>
      <p:sp>
        <p:nvSpPr>
          <p:cNvPr id="8" name="Shape 5"/>
          <p:cNvSpPr/>
          <p:nvPr/>
        </p:nvSpPr>
        <p:spPr>
          <a:xfrm>
            <a:off x="566928" y="3977640"/>
            <a:ext cx="3520440" cy="1920240"/>
          </a:xfrm>
          <a:prstGeom prst="roundRect">
            <a:avLst>
              <a:gd name="adj" fmla="val 5238"/>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9" name="Shape 6"/>
          <p:cNvSpPr/>
          <p:nvPr/>
        </p:nvSpPr>
        <p:spPr>
          <a:xfrm>
            <a:off x="859536" y="4270248"/>
            <a:ext cx="658368" cy="658368"/>
          </a:xfrm>
          <a:prstGeom prst="ellipse">
            <a:avLst/>
          </a:prstGeom>
          <a:solidFill>
            <a:srgbClr val="2E9284"/>
          </a:solidFill>
          <a:ln/>
        </p:spPr>
      </p:sp>
      <p:pic>
        <p:nvPicPr>
          <p:cNvPr id="10" name="Image 1" descr="preencoded.png">    </p:cNvPr>
          <p:cNvPicPr>
            <a:picLocks noChangeAspect="1"/>
          </p:cNvPicPr>
          <p:nvPr/>
        </p:nvPicPr>
        <p:blipFill>
          <a:blip r:embed="rId2"/>
          <a:stretch>
            <a:fillRect/>
          </a:stretch>
        </p:blipFill>
        <p:spPr>
          <a:xfrm>
            <a:off x="1030712" y="4441424"/>
            <a:ext cx="316017" cy="316017"/>
          </a:xfrm>
          <a:prstGeom prst="rect">
            <a:avLst/>
          </a:prstGeom>
        </p:spPr>
      </p:pic>
      <p:sp>
        <p:nvSpPr>
          <p:cNvPr id="11" name="Text 7"/>
          <p:cNvSpPr/>
          <p:nvPr/>
        </p:nvSpPr>
        <p:spPr>
          <a:xfrm>
            <a:off x="1645920" y="4306824"/>
            <a:ext cx="2286000" cy="64008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Es ist eine Erkrankung</a:t>
            </a:r>
            <a:endParaRPr lang="en-US" sz="1600" dirty="0"/>
          </a:p>
        </p:txBody>
      </p:sp>
      <p:sp>
        <p:nvSpPr>
          <p:cNvPr id="12" name="Text 8"/>
          <p:cNvSpPr/>
          <p:nvPr/>
        </p:nvSpPr>
        <p:spPr>
          <a:xfrm>
            <a:off x="859536" y="5029200"/>
            <a:ext cx="301752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Depression verändert Hirnstoffwechsel und Antrieb – das lässt sich nicht ‚wegdenken‘.</a:t>
            </a:r>
            <a:endParaRPr lang="en-US" sz="1350" dirty="0"/>
          </a:p>
        </p:txBody>
      </p:sp>
      <p:sp>
        <p:nvSpPr>
          <p:cNvPr id="13" name="Shape 9"/>
          <p:cNvSpPr/>
          <p:nvPr/>
        </p:nvSpPr>
        <p:spPr>
          <a:xfrm>
            <a:off x="4343400" y="3977640"/>
            <a:ext cx="3520440" cy="1920240"/>
          </a:xfrm>
          <a:prstGeom prst="roundRect">
            <a:avLst>
              <a:gd name="adj" fmla="val 5238"/>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4" name="Shape 10"/>
          <p:cNvSpPr/>
          <p:nvPr/>
        </p:nvSpPr>
        <p:spPr>
          <a:xfrm>
            <a:off x="4636008" y="4270248"/>
            <a:ext cx="658368" cy="658368"/>
          </a:xfrm>
          <a:prstGeom prst="ellipse">
            <a:avLst/>
          </a:prstGeom>
          <a:solidFill>
            <a:srgbClr val="2E9284"/>
          </a:solidFill>
          <a:ln/>
        </p:spPr>
      </p:sp>
      <p:pic>
        <p:nvPicPr>
          <p:cNvPr id="15" name="Image 2" descr="preencoded.png">    </p:cNvPr>
          <p:cNvPicPr>
            <a:picLocks noChangeAspect="1"/>
          </p:cNvPicPr>
          <p:nvPr/>
        </p:nvPicPr>
        <p:blipFill>
          <a:blip r:embed="rId3"/>
          <a:stretch>
            <a:fillRect/>
          </a:stretch>
        </p:blipFill>
        <p:spPr>
          <a:xfrm>
            <a:off x="4807184" y="4441424"/>
            <a:ext cx="316017" cy="316017"/>
          </a:xfrm>
          <a:prstGeom prst="rect">
            <a:avLst/>
          </a:prstGeom>
        </p:spPr>
      </p:pic>
      <p:sp>
        <p:nvSpPr>
          <p:cNvPr id="16" name="Text 11"/>
          <p:cNvSpPr/>
          <p:nvPr/>
        </p:nvSpPr>
        <p:spPr>
          <a:xfrm>
            <a:off x="5422392" y="4306824"/>
            <a:ext cx="2286000" cy="64008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Der Wille ist nicht das Problem</a:t>
            </a:r>
            <a:endParaRPr lang="en-US" sz="1600" dirty="0"/>
          </a:p>
        </p:txBody>
      </p:sp>
      <p:sp>
        <p:nvSpPr>
          <p:cNvPr id="17" name="Text 12"/>
          <p:cNvSpPr/>
          <p:nvPr/>
        </p:nvSpPr>
        <p:spPr>
          <a:xfrm>
            <a:off x="4636008" y="5029200"/>
            <a:ext cx="301752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Betroffene wollen oft verzweifelt – sie können nicht. Willenskraft heilt keine Krankheit.</a:t>
            </a:r>
            <a:endParaRPr lang="en-US" sz="1350" dirty="0"/>
          </a:p>
        </p:txBody>
      </p:sp>
      <p:sp>
        <p:nvSpPr>
          <p:cNvPr id="18" name="Shape 13"/>
          <p:cNvSpPr/>
          <p:nvPr/>
        </p:nvSpPr>
        <p:spPr>
          <a:xfrm>
            <a:off x="8119872" y="3977640"/>
            <a:ext cx="3520440" cy="1920240"/>
          </a:xfrm>
          <a:prstGeom prst="roundRect">
            <a:avLst>
              <a:gd name="adj" fmla="val 5238"/>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9" name="Shape 14"/>
          <p:cNvSpPr/>
          <p:nvPr/>
        </p:nvSpPr>
        <p:spPr>
          <a:xfrm>
            <a:off x="8412480" y="4270248"/>
            <a:ext cx="658368" cy="658368"/>
          </a:xfrm>
          <a:prstGeom prst="ellipse">
            <a:avLst/>
          </a:prstGeom>
          <a:solidFill>
            <a:srgbClr val="2E9284"/>
          </a:solidFill>
          <a:ln/>
        </p:spPr>
      </p:sp>
      <p:pic>
        <p:nvPicPr>
          <p:cNvPr id="20" name="Image 3" descr="preencoded.png">    </p:cNvPr>
          <p:cNvPicPr>
            <a:picLocks noChangeAspect="1"/>
          </p:cNvPicPr>
          <p:nvPr/>
        </p:nvPicPr>
        <p:blipFill>
          <a:blip r:embed="rId4"/>
          <a:stretch>
            <a:fillRect/>
          </a:stretch>
        </p:blipFill>
        <p:spPr>
          <a:xfrm>
            <a:off x="8583656" y="4441424"/>
            <a:ext cx="316017" cy="316017"/>
          </a:xfrm>
          <a:prstGeom prst="rect">
            <a:avLst/>
          </a:prstGeom>
        </p:spPr>
      </p:pic>
      <p:sp>
        <p:nvSpPr>
          <p:cNvPr id="21" name="Text 15"/>
          <p:cNvSpPr/>
          <p:nvPr/>
        </p:nvSpPr>
        <p:spPr>
          <a:xfrm>
            <a:off x="9198864" y="4306824"/>
            <a:ext cx="2286000" cy="64008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Appelle verstärken Scham</a:t>
            </a:r>
            <a:endParaRPr lang="en-US" sz="1600" dirty="0"/>
          </a:p>
        </p:txBody>
      </p:sp>
      <p:sp>
        <p:nvSpPr>
          <p:cNvPr id="22" name="Text 16"/>
          <p:cNvSpPr/>
          <p:nvPr/>
        </p:nvSpPr>
        <p:spPr>
          <a:xfrm>
            <a:off x="8412480" y="5029200"/>
            <a:ext cx="301752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‚Reiß dich zusammen‘ sagt: ‚Du bist selbst schuld.‘ Das drückt tiefer, statt zu helfen.</a:t>
            </a:r>
            <a:endParaRPr lang="en-US" sz="1350" dirty="0"/>
          </a:p>
        </p:txBody>
      </p:sp>
      <p:sp>
        <p:nvSpPr>
          <p:cNvPr id="24" name="Text 17"/>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5" name="Text 18"/>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BILD 5 · DER FAIRE VERGLEICH</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Wie ein Beinbruch – nur unsichtbar</a:t>
            </a:r>
            <a:endParaRPr lang="en-US" sz="3400" dirty="0"/>
          </a:p>
        </p:txBody>
      </p:sp>
      <p:sp>
        <p:nvSpPr>
          <p:cNvPr id="4" name="Shape 2"/>
          <p:cNvSpPr/>
          <p:nvPr/>
        </p:nvSpPr>
        <p:spPr>
          <a:xfrm>
            <a:off x="566928" y="1783080"/>
            <a:ext cx="5391760" cy="585216"/>
          </a:xfrm>
          <a:prstGeom prst="roundRect">
            <a:avLst>
              <a:gd name="adj" fmla="val 10938"/>
            </a:avLst>
          </a:prstGeom>
          <a:solidFill>
            <a:srgbClr val="2E9284"/>
          </a:solidFill>
          <a:ln/>
        </p:spPr>
      </p:sp>
      <p:sp>
        <p:nvSpPr>
          <p:cNvPr id="5" name="Shape 3"/>
          <p:cNvSpPr/>
          <p:nvPr/>
        </p:nvSpPr>
        <p:spPr>
          <a:xfrm>
            <a:off x="6233008" y="1783080"/>
            <a:ext cx="5391760" cy="585216"/>
          </a:xfrm>
          <a:prstGeom prst="roundRect">
            <a:avLst>
              <a:gd name="adj" fmla="val 10938"/>
            </a:avLst>
          </a:prstGeom>
          <a:solidFill>
            <a:srgbClr val="2C7A6B"/>
          </a:solidFill>
          <a:ln/>
        </p:spPr>
      </p:sp>
      <p:sp>
        <p:nvSpPr>
          <p:cNvPr id="6" name="Text 4"/>
          <p:cNvSpPr/>
          <p:nvPr/>
        </p:nvSpPr>
        <p:spPr>
          <a:xfrm>
            <a:off x="566928" y="1783080"/>
            <a:ext cx="5391760" cy="585216"/>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Körperlich</a:t>
            </a:r>
            <a:endParaRPr lang="en-US" sz="1800" dirty="0"/>
          </a:p>
        </p:txBody>
      </p:sp>
      <p:sp>
        <p:nvSpPr>
          <p:cNvPr id="7" name="Text 5"/>
          <p:cNvSpPr/>
          <p:nvPr/>
        </p:nvSpPr>
        <p:spPr>
          <a:xfrm>
            <a:off x="6233008" y="1783080"/>
            <a:ext cx="5391760" cy="585216"/>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Psychisch</a:t>
            </a:r>
            <a:endParaRPr lang="en-US" sz="1800" dirty="0"/>
          </a:p>
        </p:txBody>
      </p:sp>
      <p:sp>
        <p:nvSpPr>
          <p:cNvPr id="8" name="Shape 6"/>
          <p:cNvSpPr/>
          <p:nvPr/>
        </p:nvSpPr>
        <p:spPr>
          <a:xfrm>
            <a:off x="566928" y="2487168"/>
            <a:ext cx="5391760" cy="676656"/>
          </a:xfrm>
          <a:prstGeom prst="rect">
            <a:avLst/>
          </a:prstGeom>
          <a:solidFill>
            <a:srgbClr val="FFFFFF"/>
          </a:solidFill>
          <a:ln w="6350">
            <a:solidFill>
              <a:srgbClr val="D9E9E1"/>
            </a:solidFill>
            <a:prstDash val="solid"/>
          </a:ln>
        </p:spPr>
      </p:sp>
      <p:sp>
        <p:nvSpPr>
          <p:cNvPr id="9" name="Shape 7"/>
          <p:cNvSpPr/>
          <p:nvPr/>
        </p:nvSpPr>
        <p:spPr>
          <a:xfrm>
            <a:off x="6233008" y="2487168"/>
            <a:ext cx="5391760" cy="676656"/>
          </a:xfrm>
          <a:prstGeom prst="rect">
            <a:avLst/>
          </a:prstGeom>
          <a:solidFill>
            <a:srgbClr val="FFFFFF"/>
          </a:solidFill>
          <a:ln w="6350">
            <a:solidFill>
              <a:srgbClr val="D9E9E1"/>
            </a:solidFill>
            <a:prstDash val="solid"/>
          </a:ln>
        </p:spPr>
      </p:sp>
      <p:sp>
        <p:nvSpPr>
          <p:cNvPr id="10" name="Text 8"/>
          <p:cNvSpPr/>
          <p:nvPr/>
        </p:nvSpPr>
        <p:spPr>
          <a:xfrm>
            <a:off x="841248" y="2487168"/>
            <a:ext cx="4888840" cy="676656"/>
          </a:xfrm>
          <a:prstGeom prst="rect">
            <a:avLst/>
          </a:prstGeom>
          <a:noFill/>
          <a:ln/>
        </p:spPr>
        <p:txBody>
          <a:bodyPr wrap="square" rtlCol="0" anchor="ctr"/>
          <a:lstStyle/>
          <a:p>
            <a:pPr indent="0" marL="0">
              <a:buNone/>
            </a:pPr>
            <a:r>
              <a:rPr lang="en-US" sz="1550" dirty="0">
                <a:solidFill>
                  <a:srgbClr val="23423C"/>
                </a:solidFill>
                <a:latin typeface="Calibri" pitchFamily="34" charset="0"/>
                <a:ea typeface="Calibri" pitchFamily="34" charset="-122"/>
                <a:cs typeface="Calibri" pitchFamily="34" charset="-120"/>
              </a:rPr>
              <a:t>Man sieht den Gips</a:t>
            </a:r>
            <a:endParaRPr lang="en-US" sz="1550" dirty="0"/>
          </a:p>
        </p:txBody>
      </p:sp>
      <p:sp>
        <p:nvSpPr>
          <p:cNvPr id="11" name="Text 9"/>
          <p:cNvSpPr/>
          <p:nvPr/>
        </p:nvSpPr>
        <p:spPr>
          <a:xfrm>
            <a:off x="6507328" y="2487168"/>
            <a:ext cx="4888840" cy="676656"/>
          </a:xfrm>
          <a:prstGeom prst="rect">
            <a:avLst/>
          </a:prstGeom>
          <a:noFill/>
          <a:ln/>
        </p:spPr>
        <p:txBody>
          <a:bodyPr wrap="square" rtlCol="0" anchor="ctr"/>
          <a:lstStyle/>
          <a:p>
            <a:pPr indent="0" marL="0">
              <a:buNone/>
            </a:pPr>
            <a:r>
              <a:rPr lang="en-US" sz="1550" b="1" dirty="0">
                <a:solidFill>
                  <a:srgbClr val="2C7A6B"/>
                </a:solidFill>
                <a:latin typeface="Calibri" pitchFamily="34" charset="0"/>
                <a:ea typeface="Calibri" pitchFamily="34" charset="-122"/>
                <a:cs typeface="Calibri" pitchFamily="34" charset="-120"/>
              </a:rPr>
              <a:t>Man sieht nichts</a:t>
            </a:r>
            <a:endParaRPr lang="en-US" sz="1550" dirty="0"/>
          </a:p>
        </p:txBody>
      </p:sp>
      <p:sp>
        <p:nvSpPr>
          <p:cNvPr id="12" name="Shape 10"/>
          <p:cNvSpPr/>
          <p:nvPr/>
        </p:nvSpPr>
        <p:spPr>
          <a:xfrm>
            <a:off x="566928" y="3163824"/>
            <a:ext cx="5391760" cy="676656"/>
          </a:xfrm>
          <a:prstGeom prst="rect">
            <a:avLst/>
          </a:prstGeom>
          <a:solidFill>
            <a:srgbClr val="E6F2EC"/>
          </a:solidFill>
          <a:ln w="6350">
            <a:solidFill>
              <a:srgbClr val="D9E9E1"/>
            </a:solidFill>
            <a:prstDash val="solid"/>
          </a:ln>
        </p:spPr>
      </p:sp>
      <p:sp>
        <p:nvSpPr>
          <p:cNvPr id="13" name="Shape 11"/>
          <p:cNvSpPr/>
          <p:nvPr/>
        </p:nvSpPr>
        <p:spPr>
          <a:xfrm>
            <a:off x="6233008" y="3163824"/>
            <a:ext cx="5391760" cy="676656"/>
          </a:xfrm>
          <a:prstGeom prst="rect">
            <a:avLst/>
          </a:prstGeom>
          <a:solidFill>
            <a:srgbClr val="E6F2EC"/>
          </a:solidFill>
          <a:ln w="6350">
            <a:solidFill>
              <a:srgbClr val="D9E9E1"/>
            </a:solidFill>
            <a:prstDash val="solid"/>
          </a:ln>
        </p:spPr>
      </p:sp>
      <p:sp>
        <p:nvSpPr>
          <p:cNvPr id="14" name="Text 12"/>
          <p:cNvSpPr/>
          <p:nvPr/>
        </p:nvSpPr>
        <p:spPr>
          <a:xfrm>
            <a:off x="841248" y="3163824"/>
            <a:ext cx="4888840" cy="676656"/>
          </a:xfrm>
          <a:prstGeom prst="rect">
            <a:avLst/>
          </a:prstGeom>
          <a:noFill/>
          <a:ln/>
        </p:spPr>
        <p:txBody>
          <a:bodyPr wrap="square" rtlCol="0" anchor="ctr"/>
          <a:lstStyle/>
          <a:p>
            <a:pPr indent="0" marL="0">
              <a:buNone/>
            </a:pPr>
            <a:r>
              <a:rPr lang="en-US" sz="1550" dirty="0">
                <a:solidFill>
                  <a:srgbClr val="23423C"/>
                </a:solidFill>
                <a:latin typeface="Calibri" pitchFamily="34" charset="0"/>
                <a:ea typeface="Calibri" pitchFamily="34" charset="-122"/>
                <a:cs typeface="Calibri" pitchFamily="34" charset="-120"/>
              </a:rPr>
              <a:t>„Gute Besserung!“</a:t>
            </a:r>
            <a:endParaRPr lang="en-US" sz="1550" dirty="0"/>
          </a:p>
        </p:txBody>
      </p:sp>
      <p:sp>
        <p:nvSpPr>
          <p:cNvPr id="15" name="Text 13"/>
          <p:cNvSpPr/>
          <p:nvPr/>
        </p:nvSpPr>
        <p:spPr>
          <a:xfrm>
            <a:off x="6507328" y="3163824"/>
            <a:ext cx="4888840" cy="676656"/>
          </a:xfrm>
          <a:prstGeom prst="rect">
            <a:avLst/>
          </a:prstGeom>
          <a:noFill/>
          <a:ln/>
        </p:spPr>
        <p:txBody>
          <a:bodyPr wrap="square" rtlCol="0" anchor="ctr"/>
          <a:lstStyle/>
          <a:p>
            <a:pPr indent="0" marL="0">
              <a:buNone/>
            </a:pPr>
            <a:r>
              <a:rPr lang="en-US" sz="1550" b="1" dirty="0">
                <a:solidFill>
                  <a:srgbClr val="2C7A6B"/>
                </a:solidFill>
                <a:latin typeface="Calibri" pitchFamily="34" charset="0"/>
                <a:ea typeface="Calibri" pitchFamily="34" charset="-122"/>
                <a:cs typeface="Calibri" pitchFamily="34" charset="-120"/>
              </a:rPr>
              <a:t>„Stell dich nicht so an.“</a:t>
            </a:r>
            <a:endParaRPr lang="en-US" sz="1550" dirty="0"/>
          </a:p>
        </p:txBody>
      </p:sp>
      <p:sp>
        <p:nvSpPr>
          <p:cNvPr id="16" name="Shape 14"/>
          <p:cNvSpPr/>
          <p:nvPr/>
        </p:nvSpPr>
        <p:spPr>
          <a:xfrm>
            <a:off x="566928" y="3840480"/>
            <a:ext cx="5391760" cy="676656"/>
          </a:xfrm>
          <a:prstGeom prst="rect">
            <a:avLst/>
          </a:prstGeom>
          <a:solidFill>
            <a:srgbClr val="FFFFFF"/>
          </a:solidFill>
          <a:ln w="6350">
            <a:solidFill>
              <a:srgbClr val="D9E9E1"/>
            </a:solidFill>
            <a:prstDash val="solid"/>
          </a:ln>
        </p:spPr>
      </p:sp>
      <p:sp>
        <p:nvSpPr>
          <p:cNvPr id="17" name="Shape 15"/>
          <p:cNvSpPr/>
          <p:nvPr/>
        </p:nvSpPr>
        <p:spPr>
          <a:xfrm>
            <a:off x="6233008" y="3840480"/>
            <a:ext cx="5391760" cy="676656"/>
          </a:xfrm>
          <a:prstGeom prst="rect">
            <a:avLst/>
          </a:prstGeom>
          <a:solidFill>
            <a:srgbClr val="FFFFFF"/>
          </a:solidFill>
          <a:ln w="6350">
            <a:solidFill>
              <a:srgbClr val="D9E9E1"/>
            </a:solidFill>
            <a:prstDash val="solid"/>
          </a:ln>
        </p:spPr>
      </p:sp>
      <p:sp>
        <p:nvSpPr>
          <p:cNvPr id="18" name="Text 16"/>
          <p:cNvSpPr/>
          <p:nvPr/>
        </p:nvSpPr>
        <p:spPr>
          <a:xfrm>
            <a:off x="841248" y="3840480"/>
            <a:ext cx="4888840" cy="676656"/>
          </a:xfrm>
          <a:prstGeom prst="rect">
            <a:avLst/>
          </a:prstGeom>
          <a:noFill/>
          <a:ln/>
        </p:spPr>
        <p:txBody>
          <a:bodyPr wrap="square" rtlCol="0" anchor="ctr"/>
          <a:lstStyle/>
          <a:p>
            <a:pPr indent="0" marL="0">
              <a:buNone/>
            </a:pPr>
            <a:r>
              <a:rPr lang="en-US" sz="1550" dirty="0">
                <a:solidFill>
                  <a:srgbClr val="23423C"/>
                </a:solidFill>
                <a:latin typeface="Calibri" pitchFamily="34" charset="0"/>
                <a:ea typeface="Calibri" pitchFamily="34" charset="-122"/>
                <a:cs typeface="Calibri" pitchFamily="34" charset="-120"/>
              </a:rPr>
              <a:t>Klare Behandlung, Reha</a:t>
            </a:r>
            <a:endParaRPr lang="en-US" sz="1550" dirty="0"/>
          </a:p>
        </p:txBody>
      </p:sp>
      <p:sp>
        <p:nvSpPr>
          <p:cNvPr id="19" name="Text 17"/>
          <p:cNvSpPr/>
          <p:nvPr/>
        </p:nvSpPr>
        <p:spPr>
          <a:xfrm>
            <a:off x="6507328" y="3840480"/>
            <a:ext cx="4888840" cy="676656"/>
          </a:xfrm>
          <a:prstGeom prst="rect">
            <a:avLst/>
          </a:prstGeom>
          <a:noFill/>
          <a:ln/>
        </p:spPr>
        <p:txBody>
          <a:bodyPr wrap="square" rtlCol="0" anchor="ctr"/>
          <a:lstStyle/>
          <a:p>
            <a:pPr indent="0" marL="0">
              <a:buNone/>
            </a:pPr>
            <a:r>
              <a:rPr lang="en-US" sz="1550" b="1" dirty="0">
                <a:solidFill>
                  <a:srgbClr val="2C7A6B"/>
                </a:solidFill>
                <a:latin typeface="Calibri" pitchFamily="34" charset="0"/>
                <a:ea typeface="Calibri" pitchFamily="34" charset="-122"/>
                <a:cs typeface="Calibri" pitchFamily="34" charset="-120"/>
              </a:rPr>
              <a:t>Behandlung – aber oft mit Scham</a:t>
            </a:r>
            <a:endParaRPr lang="en-US" sz="1550" dirty="0"/>
          </a:p>
        </p:txBody>
      </p:sp>
      <p:sp>
        <p:nvSpPr>
          <p:cNvPr id="20" name="Shape 18"/>
          <p:cNvSpPr/>
          <p:nvPr/>
        </p:nvSpPr>
        <p:spPr>
          <a:xfrm>
            <a:off x="566928" y="4517136"/>
            <a:ext cx="5391760" cy="676656"/>
          </a:xfrm>
          <a:prstGeom prst="rect">
            <a:avLst/>
          </a:prstGeom>
          <a:solidFill>
            <a:srgbClr val="E6F2EC"/>
          </a:solidFill>
          <a:ln w="6350">
            <a:solidFill>
              <a:srgbClr val="D9E9E1"/>
            </a:solidFill>
            <a:prstDash val="solid"/>
          </a:ln>
        </p:spPr>
      </p:sp>
      <p:sp>
        <p:nvSpPr>
          <p:cNvPr id="21" name="Shape 19"/>
          <p:cNvSpPr/>
          <p:nvPr/>
        </p:nvSpPr>
        <p:spPr>
          <a:xfrm>
            <a:off x="6233008" y="4517136"/>
            <a:ext cx="5391760" cy="676656"/>
          </a:xfrm>
          <a:prstGeom prst="rect">
            <a:avLst/>
          </a:prstGeom>
          <a:solidFill>
            <a:srgbClr val="E6F2EC"/>
          </a:solidFill>
          <a:ln w="6350">
            <a:solidFill>
              <a:srgbClr val="D9E9E1"/>
            </a:solidFill>
            <a:prstDash val="solid"/>
          </a:ln>
        </p:spPr>
      </p:sp>
      <p:sp>
        <p:nvSpPr>
          <p:cNvPr id="22" name="Text 20"/>
          <p:cNvSpPr/>
          <p:nvPr/>
        </p:nvSpPr>
        <p:spPr>
          <a:xfrm>
            <a:off x="841248" y="4517136"/>
            <a:ext cx="4888840" cy="676656"/>
          </a:xfrm>
          <a:prstGeom prst="rect">
            <a:avLst/>
          </a:prstGeom>
          <a:noFill/>
          <a:ln/>
        </p:spPr>
        <p:txBody>
          <a:bodyPr wrap="square" rtlCol="0" anchor="ctr"/>
          <a:lstStyle/>
          <a:p>
            <a:pPr indent="0" marL="0">
              <a:buNone/>
            </a:pPr>
            <a:r>
              <a:rPr lang="en-US" sz="1550" dirty="0">
                <a:solidFill>
                  <a:srgbClr val="23423C"/>
                </a:solidFill>
                <a:latin typeface="Calibri" pitchFamily="34" charset="0"/>
                <a:ea typeface="Calibri" pitchFamily="34" charset="-122"/>
                <a:cs typeface="Calibri" pitchFamily="34" charset="-120"/>
              </a:rPr>
              <a:t>Niemand zweifelt daran</a:t>
            </a:r>
            <a:endParaRPr lang="en-US" sz="1550" dirty="0"/>
          </a:p>
        </p:txBody>
      </p:sp>
      <p:sp>
        <p:nvSpPr>
          <p:cNvPr id="23" name="Text 21"/>
          <p:cNvSpPr/>
          <p:nvPr/>
        </p:nvSpPr>
        <p:spPr>
          <a:xfrm>
            <a:off x="6507328" y="4517136"/>
            <a:ext cx="4888840" cy="676656"/>
          </a:xfrm>
          <a:prstGeom prst="rect">
            <a:avLst/>
          </a:prstGeom>
          <a:noFill/>
          <a:ln/>
        </p:spPr>
        <p:txBody>
          <a:bodyPr wrap="square" rtlCol="0" anchor="ctr"/>
          <a:lstStyle/>
          <a:p>
            <a:pPr indent="0" marL="0">
              <a:buNone/>
            </a:pPr>
            <a:r>
              <a:rPr lang="en-US" sz="1550" b="1" dirty="0">
                <a:solidFill>
                  <a:srgbClr val="2C7A6B"/>
                </a:solidFill>
                <a:latin typeface="Calibri" pitchFamily="34" charset="0"/>
                <a:ea typeface="Calibri" pitchFamily="34" charset="-122"/>
                <a:cs typeface="Calibri" pitchFamily="34" charset="-120"/>
              </a:rPr>
              <a:t>„Ist das nicht Einbildung?“</a:t>
            </a:r>
            <a:endParaRPr lang="en-US" sz="1550" dirty="0"/>
          </a:p>
        </p:txBody>
      </p:sp>
      <p:sp>
        <p:nvSpPr>
          <p:cNvPr id="24" name="Shape 22"/>
          <p:cNvSpPr/>
          <p:nvPr/>
        </p:nvSpPr>
        <p:spPr>
          <a:xfrm>
            <a:off x="566928" y="5193792"/>
            <a:ext cx="5391760" cy="676656"/>
          </a:xfrm>
          <a:prstGeom prst="rect">
            <a:avLst/>
          </a:prstGeom>
          <a:solidFill>
            <a:srgbClr val="FFFFFF"/>
          </a:solidFill>
          <a:ln w="6350">
            <a:solidFill>
              <a:srgbClr val="D9E9E1"/>
            </a:solidFill>
            <a:prstDash val="solid"/>
          </a:ln>
        </p:spPr>
      </p:sp>
      <p:sp>
        <p:nvSpPr>
          <p:cNvPr id="25" name="Shape 23"/>
          <p:cNvSpPr/>
          <p:nvPr/>
        </p:nvSpPr>
        <p:spPr>
          <a:xfrm>
            <a:off x="6233008" y="5193792"/>
            <a:ext cx="5391760" cy="676656"/>
          </a:xfrm>
          <a:prstGeom prst="rect">
            <a:avLst/>
          </a:prstGeom>
          <a:solidFill>
            <a:srgbClr val="FFFFFF"/>
          </a:solidFill>
          <a:ln w="6350">
            <a:solidFill>
              <a:srgbClr val="D9E9E1"/>
            </a:solidFill>
            <a:prstDash val="solid"/>
          </a:ln>
        </p:spPr>
      </p:sp>
      <p:sp>
        <p:nvSpPr>
          <p:cNvPr id="26" name="Text 24"/>
          <p:cNvSpPr/>
          <p:nvPr/>
        </p:nvSpPr>
        <p:spPr>
          <a:xfrm>
            <a:off x="841248" y="5193792"/>
            <a:ext cx="4888840" cy="676656"/>
          </a:xfrm>
          <a:prstGeom prst="rect">
            <a:avLst/>
          </a:prstGeom>
          <a:noFill/>
          <a:ln/>
        </p:spPr>
        <p:txBody>
          <a:bodyPr wrap="square" rtlCol="0" anchor="ctr"/>
          <a:lstStyle/>
          <a:p>
            <a:pPr indent="0" marL="0">
              <a:buNone/>
            </a:pPr>
            <a:r>
              <a:rPr lang="en-US" sz="1550" dirty="0">
                <a:solidFill>
                  <a:srgbClr val="23423C"/>
                </a:solidFill>
                <a:latin typeface="Calibri" pitchFamily="34" charset="0"/>
                <a:ea typeface="Calibri" pitchFamily="34" charset="-122"/>
                <a:cs typeface="Calibri" pitchFamily="34" charset="-120"/>
              </a:rPr>
              <a:t>Heilung erwartet</a:t>
            </a:r>
            <a:endParaRPr lang="en-US" sz="1550" dirty="0"/>
          </a:p>
        </p:txBody>
      </p:sp>
      <p:sp>
        <p:nvSpPr>
          <p:cNvPr id="27" name="Text 25"/>
          <p:cNvSpPr/>
          <p:nvPr/>
        </p:nvSpPr>
        <p:spPr>
          <a:xfrm>
            <a:off x="6507328" y="5193792"/>
            <a:ext cx="4888840" cy="676656"/>
          </a:xfrm>
          <a:prstGeom prst="rect">
            <a:avLst/>
          </a:prstGeom>
          <a:noFill/>
          <a:ln/>
        </p:spPr>
        <p:txBody>
          <a:bodyPr wrap="square" rtlCol="0" anchor="ctr"/>
          <a:lstStyle/>
          <a:p>
            <a:pPr indent="0" marL="0">
              <a:buNone/>
            </a:pPr>
            <a:r>
              <a:rPr lang="en-US" sz="1550" b="1" dirty="0">
                <a:solidFill>
                  <a:srgbClr val="2C7A6B"/>
                </a:solidFill>
                <a:latin typeface="Calibri" pitchFamily="34" charset="0"/>
                <a:ea typeface="Calibri" pitchFamily="34" charset="-122"/>
                <a:cs typeface="Calibri" pitchFamily="34" charset="-120"/>
              </a:rPr>
              <a:t>Heilung ebenso möglich</a:t>
            </a:r>
            <a:endParaRPr lang="en-US" sz="1550" dirty="0"/>
          </a:p>
        </p:txBody>
      </p:sp>
      <p:sp>
        <p:nvSpPr>
          <p:cNvPr id="29" name="Text 2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0" name="Text 2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claude-0/-home-user-spanwerk-datenschutz/aecddc76-056b-54e2-a906-9229bc8dda84/scratchpad/final/img_angs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8000"/>
            </a:srgbClr>
          </a:solidFill>
          <a:ln/>
        </p:spPr>
      </p:sp>
      <p:sp>
        <p:nvSpPr>
          <p:cNvPr id="5" name="Text 2"/>
          <p:cNvSpPr/>
          <p:nvPr/>
        </p:nvSpPr>
        <p:spPr>
          <a:xfrm>
            <a:off x="566928" y="502920"/>
            <a:ext cx="100584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BILD 6 · ANGST &amp; PANIK VON INNEN</a:t>
            </a:r>
            <a:endParaRPr lang="en-US" sz="1250" dirty="0"/>
          </a:p>
        </p:txBody>
      </p:sp>
      <p:sp>
        <p:nvSpPr>
          <p:cNvPr id="6" name="Text 3"/>
          <p:cNvSpPr/>
          <p:nvPr/>
        </p:nvSpPr>
        <p:spPr>
          <a:xfrm>
            <a:off x="566928" y="822960"/>
            <a:ext cx="10972800" cy="640080"/>
          </a:xfrm>
          <a:prstGeom prst="rect">
            <a:avLst/>
          </a:prstGeom>
          <a:noFill/>
          <a:ln/>
        </p:spPr>
        <p:txBody>
          <a:bodyPr wrap="square"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Der Körper im Vollalarm – ohne Feuer</a:t>
            </a:r>
            <a:endParaRPr lang="en-US" sz="2900" dirty="0"/>
          </a:p>
        </p:txBody>
      </p:sp>
      <p:sp>
        <p:nvSpPr>
          <p:cNvPr id="7" name="Shape 4"/>
          <p:cNvSpPr/>
          <p:nvPr/>
        </p:nvSpPr>
        <p:spPr>
          <a:xfrm>
            <a:off x="566928" y="1828800"/>
            <a:ext cx="5394960" cy="1572768"/>
          </a:xfrm>
          <a:prstGeom prst="roundRect">
            <a:avLst>
              <a:gd name="adj" fmla="val 5814"/>
            </a:avLst>
          </a:prstGeom>
          <a:solidFill>
            <a:srgbClr val="FFFFFF">
              <a:alpha val="92000"/>
            </a:srgbClr>
          </a:solidFill>
          <a:ln/>
        </p:spPr>
      </p:sp>
      <p:sp>
        <p:nvSpPr>
          <p:cNvPr id="8" name="Shape 5"/>
          <p:cNvSpPr/>
          <p:nvPr/>
        </p:nvSpPr>
        <p:spPr>
          <a:xfrm>
            <a:off x="886968" y="2249424"/>
            <a:ext cx="731520" cy="731520"/>
          </a:xfrm>
          <a:prstGeom prst="ellipse">
            <a:avLst/>
          </a:prstGeom>
          <a:solidFill>
            <a:srgbClr val="E89A45"/>
          </a:solidFill>
          <a:ln/>
        </p:spPr>
      </p:sp>
      <p:pic>
        <p:nvPicPr>
          <p:cNvPr id="9" name="Image 1" descr="preencoded.png">    </p:cNvPr>
          <p:cNvPicPr>
            <a:picLocks noChangeAspect="1"/>
          </p:cNvPicPr>
          <p:nvPr/>
        </p:nvPicPr>
        <p:blipFill>
          <a:blip r:embed="rId2"/>
          <a:stretch>
            <a:fillRect/>
          </a:stretch>
        </p:blipFill>
        <p:spPr>
          <a:xfrm>
            <a:off x="1077163" y="2439619"/>
            <a:ext cx="351130" cy="351130"/>
          </a:xfrm>
          <a:prstGeom prst="rect">
            <a:avLst/>
          </a:prstGeom>
        </p:spPr>
      </p:pic>
      <p:sp>
        <p:nvSpPr>
          <p:cNvPr id="10" name="Text 6"/>
          <p:cNvSpPr/>
          <p:nvPr/>
        </p:nvSpPr>
        <p:spPr>
          <a:xfrm>
            <a:off x="1801368" y="2139696"/>
            <a:ext cx="3931920" cy="45720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Herz rast</a:t>
            </a:r>
            <a:endParaRPr lang="en-US" sz="1800" dirty="0"/>
          </a:p>
        </p:txBody>
      </p:sp>
      <p:sp>
        <p:nvSpPr>
          <p:cNvPr id="11" name="Text 7"/>
          <p:cNvSpPr/>
          <p:nvPr/>
        </p:nvSpPr>
        <p:spPr>
          <a:xfrm>
            <a:off x="1801368" y="2615184"/>
            <a:ext cx="3931920" cy="64008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als müsstest du sofort um dein Leben rennen</a:t>
            </a:r>
            <a:endParaRPr lang="en-US" sz="1350" dirty="0"/>
          </a:p>
        </p:txBody>
      </p:sp>
      <p:sp>
        <p:nvSpPr>
          <p:cNvPr id="12" name="Shape 8"/>
          <p:cNvSpPr/>
          <p:nvPr/>
        </p:nvSpPr>
        <p:spPr>
          <a:xfrm>
            <a:off x="6281928" y="1828800"/>
            <a:ext cx="5394960" cy="1572768"/>
          </a:xfrm>
          <a:prstGeom prst="roundRect">
            <a:avLst>
              <a:gd name="adj" fmla="val 5814"/>
            </a:avLst>
          </a:prstGeom>
          <a:solidFill>
            <a:srgbClr val="FFFFFF">
              <a:alpha val="92000"/>
            </a:srgbClr>
          </a:solidFill>
          <a:ln/>
        </p:spPr>
      </p:sp>
      <p:sp>
        <p:nvSpPr>
          <p:cNvPr id="13" name="Shape 9"/>
          <p:cNvSpPr/>
          <p:nvPr/>
        </p:nvSpPr>
        <p:spPr>
          <a:xfrm>
            <a:off x="6601968" y="2249424"/>
            <a:ext cx="731520" cy="731520"/>
          </a:xfrm>
          <a:prstGeom prst="ellipse">
            <a:avLst/>
          </a:prstGeom>
          <a:solidFill>
            <a:srgbClr val="E89A45"/>
          </a:solidFill>
          <a:ln/>
        </p:spPr>
      </p:sp>
      <p:pic>
        <p:nvPicPr>
          <p:cNvPr id="14" name="Image 2" descr="preencoded.png">    </p:cNvPr>
          <p:cNvPicPr>
            <a:picLocks noChangeAspect="1"/>
          </p:cNvPicPr>
          <p:nvPr/>
        </p:nvPicPr>
        <p:blipFill>
          <a:blip r:embed="rId3"/>
          <a:stretch>
            <a:fillRect/>
          </a:stretch>
        </p:blipFill>
        <p:spPr>
          <a:xfrm>
            <a:off x="6792163" y="2439619"/>
            <a:ext cx="351130" cy="351130"/>
          </a:xfrm>
          <a:prstGeom prst="rect">
            <a:avLst/>
          </a:prstGeom>
        </p:spPr>
      </p:pic>
      <p:sp>
        <p:nvSpPr>
          <p:cNvPr id="15" name="Text 10"/>
          <p:cNvSpPr/>
          <p:nvPr/>
        </p:nvSpPr>
        <p:spPr>
          <a:xfrm>
            <a:off x="7516368" y="2139696"/>
            <a:ext cx="3931920" cy="45720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Atem wird eng</a:t>
            </a:r>
            <a:endParaRPr lang="en-US" sz="1800" dirty="0"/>
          </a:p>
        </p:txBody>
      </p:sp>
      <p:sp>
        <p:nvSpPr>
          <p:cNvPr id="16" name="Text 11"/>
          <p:cNvSpPr/>
          <p:nvPr/>
        </p:nvSpPr>
        <p:spPr>
          <a:xfrm>
            <a:off x="7516368" y="2615184"/>
            <a:ext cx="3931920" cy="64008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Schwindel, Kribbeln, Enge in der Brust</a:t>
            </a:r>
            <a:endParaRPr lang="en-US" sz="1350" dirty="0"/>
          </a:p>
        </p:txBody>
      </p:sp>
      <p:sp>
        <p:nvSpPr>
          <p:cNvPr id="17" name="Shape 12"/>
          <p:cNvSpPr/>
          <p:nvPr/>
        </p:nvSpPr>
        <p:spPr>
          <a:xfrm>
            <a:off x="566928" y="3675888"/>
            <a:ext cx="5394960" cy="1572768"/>
          </a:xfrm>
          <a:prstGeom prst="roundRect">
            <a:avLst>
              <a:gd name="adj" fmla="val 5814"/>
            </a:avLst>
          </a:prstGeom>
          <a:solidFill>
            <a:srgbClr val="FFFFFF">
              <a:alpha val="92000"/>
            </a:srgbClr>
          </a:solidFill>
          <a:ln/>
        </p:spPr>
      </p:sp>
      <p:sp>
        <p:nvSpPr>
          <p:cNvPr id="18" name="Shape 13"/>
          <p:cNvSpPr/>
          <p:nvPr/>
        </p:nvSpPr>
        <p:spPr>
          <a:xfrm>
            <a:off x="886968" y="4096512"/>
            <a:ext cx="731520" cy="731520"/>
          </a:xfrm>
          <a:prstGeom prst="ellipse">
            <a:avLst/>
          </a:prstGeom>
          <a:solidFill>
            <a:srgbClr val="E89A45"/>
          </a:solidFill>
          <a:ln/>
        </p:spPr>
      </p:sp>
      <p:pic>
        <p:nvPicPr>
          <p:cNvPr id="19" name="Image 3" descr="preencoded.png">    </p:cNvPr>
          <p:cNvPicPr>
            <a:picLocks noChangeAspect="1"/>
          </p:cNvPicPr>
          <p:nvPr/>
        </p:nvPicPr>
        <p:blipFill>
          <a:blip r:embed="rId4"/>
          <a:stretch>
            <a:fillRect/>
          </a:stretch>
        </p:blipFill>
        <p:spPr>
          <a:xfrm>
            <a:off x="1077163" y="4286707"/>
            <a:ext cx="351130" cy="351130"/>
          </a:xfrm>
          <a:prstGeom prst="rect">
            <a:avLst/>
          </a:prstGeom>
        </p:spPr>
      </p:pic>
      <p:sp>
        <p:nvSpPr>
          <p:cNvPr id="20" name="Text 14"/>
          <p:cNvSpPr/>
          <p:nvPr/>
        </p:nvSpPr>
        <p:spPr>
          <a:xfrm>
            <a:off x="1801368" y="3986784"/>
            <a:ext cx="3931920" cy="45720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„Ich sterbe gleich“</a:t>
            </a:r>
            <a:endParaRPr lang="en-US" sz="1800" dirty="0"/>
          </a:p>
        </p:txBody>
      </p:sp>
      <p:sp>
        <p:nvSpPr>
          <p:cNvPr id="21" name="Text 15"/>
          <p:cNvSpPr/>
          <p:nvPr/>
        </p:nvSpPr>
        <p:spPr>
          <a:xfrm>
            <a:off x="1801368" y="4462272"/>
            <a:ext cx="3931920" cy="64008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der Verstand ist überzeugt: das ist der Ernstfall</a:t>
            </a:r>
            <a:endParaRPr lang="en-US" sz="1350" dirty="0"/>
          </a:p>
        </p:txBody>
      </p:sp>
      <p:sp>
        <p:nvSpPr>
          <p:cNvPr id="22" name="Shape 16"/>
          <p:cNvSpPr/>
          <p:nvPr/>
        </p:nvSpPr>
        <p:spPr>
          <a:xfrm>
            <a:off x="6281928" y="3675888"/>
            <a:ext cx="5394960" cy="1572768"/>
          </a:xfrm>
          <a:prstGeom prst="roundRect">
            <a:avLst>
              <a:gd name="adj" fmla="val 5814"/>
            </a:avLst>
          </a:prstGeom>
          <a:solidFill>
            <a:srgbClr val="FFFFFF">
              <a:alpha val="92000"/>
            </a:srgbClr>
          </a:solidFill>
          <a:ln/>
        </p:spPr>
      </p:sp>
      <p:sp>
        <p:nvSpPr>
          <p:cNvPr id="23" name="Shape 17"/>
          <p:cNvSpPr/>
          <p:nvPr/>
        </p:nvSpPr>
        <p:spPr>
          <a:xfrm>
            <a:off x="6601968" y="4096512"/>
            <a:ext cx="731520" cy="731520"/>
          </a:xfrm>
          <a:prstGeom prst="ellipse">
            <a:avLst/>
          </a:prstGeom>
          <a:solidFill>
            <a:srgbClr val="E89A45"/>
          </a:solidFill>
          <a:ln/>
        </p:spPr>
      </p:sp>
      <p:pic>
        <p:nvPicPr>
          <p:cNvPr id="24" name="Image 4" descr="preencoded.png">    </p:cNvPr>
          <p:cNvPicPr>
            <a:picLocks noChangeAspect="1"/>
          </p:cNvPicPr>
          <p:nvPr/>
        </p:nvPicPr>
        <p:blipFill>
          <a:blip r:embed="rId5"/>
          <a:stretch>
            <a:fillRect/>
          </a:stretch>
        </p:blipFill>
        <p:spPr>
          <a:xfrm>
            <a:off x="6792163" y="4286707"/>
            <a:ext cx="351130" cy="351130"/>
          </a:xfrm>
          <a:prstGeom prst="rect">
            <a:avLst/>
          </a:prstGeom>
        </p:spPr>
      </p:pic>
      <p:sp>
        <p:nvSpPr>
          <p:cNvPr id="25" name="Text 18"/>
          <p:cNvSpPr/>
          <p:nvPr/>
        </p:nvSpPr>
        <p:spPr>
          <a:xfrm>
            <a:off x="7516368" y="3986784"/>
            <a:ext cx="3931920" cy="45720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Nach Minuten vorbei</a:t>
            </a:r>
            <a:endParaRPr lang="en-US" sz="1800" dirty="0"/>
          </a:p>
        </p:txBody>
      </p:sp>
      <p:sp>
        <p:nvSpPr>
          <p:cNvPr id="26" name="Text 19"/>
          <p:cNvSpPr/>
          <p:nvPr/>
        </p:nvSpPr>
        <p:spPr>
          <a:xfrm>
            <a:off x="7516368" y="4462272"/>
            <a:ext cx="3931920" cy="64008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und doch bleibt die Angst vor der nächsten Welle</a:t>
            </a:r>
            <a:endParaRPr lang="en-US" sz="1350" dirty="0"/>
          </a:p>
        </p:txBody>
      </p:sp>
      <p:sp>
        <p:nvSpPr>
          <p:cNvPr id="27" name="Text 20"/>
          <p:cNvSpPr/>
          <p:nvPr/>
        </p:nvSpPr>
        <p:spPr>
          <a:xfrm>
            <a:off x="566928" y="5989320"/>
            <a:ext cx="11057839" cy="411480"/>
          </a:xfrm>
          <a:prstGeom prst="rect">
            <a:avLst/>
          </a:prstGeom>
          <a:noFill/>
          <a:ln/>
        </p:spPr>
        <p:txBody>
          <a:bodyPr wrap="square" rtlCol="0" anchor="ctr"/>
          <a:lstStyle/>
          <a:p>
            <a:pPr algn="ctr" indent="0" marL="0">
              <a:buNone/>
            </a:pPr>
            <a:r>
              <a:rPr lang="en-US" sz="1450" i="1" dirty="0">
                <a:solidFill>
                  <a:srgbClr val="F2FAF5"/>
                </a:solidFill>
                <a:latin typeface="Calibri" pitchFamily="34" charset="0"/>
                <a:ea typeface="Calibri" pitchFamily="34" charset="-122"/>
                <a:cs typeface="Calibri" pitchFamily="34" charset="-120"/>
              </a:rPr>
              <a:t>Das Entscheidende: Die Gefahr ist nicht real – die Angst schon. Man kann sie sich nicht ‚ausreden‘.</a:t>
            </a:r>
            <a:endParaRPr lang="en-US" sz="1450" dirty="0"/>
          </a:p>
        </p:txBody>
      </p:sp>
      <p:sp>
        <p:nvSpPr>
          <p:cNvPr id="29" name="Text 21"/>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0" name="Text 22"/>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AUS DEM ECHTEN LEBEN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Wie sich das im Alltag zeigt</a:t>
            </a:r>
            <a:endParaRPr lang="en-US" sz="3400" dirty="0"/>
          </a:p>
        </p:txBody>
      </p:sp>
      <p:sp>
        <p:nvSpPr>
          <p:cNvPr id="4" name="Shape 2"/>
          <p:cNvSpPr/>
          <p:nvPr/>
        </p:nvSpPr>
        <p:spPr>
          <a:xfrm>
            <a:off x="566928" y="1783080"/>
            <a:ext cx="5394960" cy="1627632"/>
          </a:xfrm>
          <a:prstGeom prst="roundRect">
            <a:avLst>
              <a:gd name="adj" fmla="val 618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240280"/>
            <a:ext cx="731520" cy="731520"/>
          </a:xfrm>
          <a:prstGeom prst="ellipse">
            <a:avLst/>
          </a:prstGeom>
          <a:solidFill>
            <a:srgbClr val="6FBE9C"/>
          </a:solidFill>
          <a:ln/>
        </p:spPr>
      </p:sp>
      <p:pic>
        <p:nvPicPr>
          <p:cNvPr id="6" name="Image 0" descr="preencoded.png">    </p:cNvPr>
          <p:cNvPicPr>
            <a:picLocks noChangeAspect="1"/>
          </p:cNvPicPr>
          <p:nvPr/>
        </p:nvPicPr>
        <p:blipFill>
          <a:blip r:embed="rId1"/>
          <a:stretch>
            <a:fillRect/>
          </a:stretch>
        </p:blipFill>
        <p:spPr>
          <a:xfrm>
            <a:off x="1077163" y="2430475"/>
            <a:ext cx="351130" cy="351130"/>
          </a:xfrm>
          <a:prstGeom prst="rect">
            <a:avLst/>
          </a:prstGeom>
        </p:spPr>
      </p:pic>
      <p:sp>
        <p:nvSpPr>
          <p:cNvPr id="7" name="Text 4"/>
          <p:cNvSpPr/>
          <p:nvPr/>
        </p:nvSpPr>
        <p:spPr>
          <a:xfrm>
            <a:off x="1828800" y="2075688"/>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Die Absage in letzter Minute</a:t>
            </a:r>
            <a:endParaRPr lang="en-US" sz="1700" dirty="0"/>
          </a:p>
        </p:txBody>
      </p:sp>
      <p:sp>
        <p:nvSpPr>
          <p:cNvPr id="8" name="Text 5"/>
          <p:cNvSpPr/>
          <p:nvPr/>
        </p:nvSpPr>
        <p:spPr>
          <a:xfrm>
            <a:off x="1828800" y="2587752"/>
            <a:ext cx="3886200" cy="713232"/>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Nicht Desinteresse – die Kraft für Menschen hat heute einfach nicht gereicht.</a:t>
            </a:r>
            <a:endParaRPr lang="en-US" sz="1350" dirty="0"/>
          </a:p>
        </p:txBody>
      </p:sp>
      <p:sp>
        <p:nvSpPr>
          <p:cNvPr id="9" name="Shape 6"/>
          <p:cNvSpPr/>
          <p:nvPr/>
        </p:nvSpPr>
        <p:spPr>
          <a:xfrm>
            <a:off x="6281928" y="1783080"/>
            <a:ext cx="5394960" cy="1627632"/>
          </a:xfrm>
          <a:prstGeom prst="roundRect">
            <a:avLst>
              <a:gd name="adj" fmla="val 618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6601968" y="2240280"/>
            <a:ext cx="731520" cy="731520"/>
          </a:xfrm>
          <a:prstGeom prst="ellipse">
            <a:avLst/>
          </a:prstGeom>
          <a:solidFill>
            <a:srgbClr val="6FBE9C"/>
          </a:solidFill>
          <a:ln/>
        </p:spPr>
      </p:sp>
      <p:pic>
        <p:nvPicPr>
          <p:cNvPr id="11" name="Image 1" descr="preencoded.png">    </p:cNvPr>
          <p:cNvPicPr>
            <a:picLocks noChangeAspect="1"/>
          </p:cNvPicPr>
          <p:nvPr/>
        </p:nvPicPr>
        <p:blipFill>
          <a:blip r:embed="rId2"/>
          <a:stretch>
            <a:fillRect/>
          </a:stretch>
        </p:blipFill>
        <p:spPr>
          <a:xfrm>
            <a:off x="6792163" y="2430475"/>
            <a:ext cx="351130" cy="351130"/>
          </a:xfrm>
          <a:prstGeom prst="rect">
            <a:avLst/>
          </a:prstGeom>
        </p:spPr>
      </p:pic>
      <p:sp>
        <p:nvSpPr>
          <p:cNvPr id="12" name="Text 8"/>
          <p:cNvSpPr/>
          <p:nvPr/>
        </p:nvSpPr>
        <p:spPr>
          <a:xfrm>
            <a:off x="7543800" y="2075688"/>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Gereiztheit „aus dem Nichts“</a:t>
            </a:r>
            <a:endParaRPr lang="en-US" sz="1700" dirty="0"/>
          </a:p>
        </p:txBody>
      </p:sp>
      <p:sp>
        <p:nvSpPr>
          <p:cNvPr id="13" name="Text 9"/>
          <p:cNvSpPr/>
          <p:nvPr/>
        </p:nvSpPr>
        <p:spPr>
          <a:xfrm>
            <a:off x="7543800" y="2587752"/>
            <a:ext cx="3886200" cy="713232"/>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Wenn die innere Batterie leer ist, wird jede Kleinigkeit zu viel.</a:t>
            </a:r>
            <a:endParaRPr lang="en-US" sz="1350" dirty="0"/>
          </a:p>
        </p:txBody>
      </p:sp>
      <p:sp>
        <p:nvSpPr>
          <p:cNvPr id="14" name="Shape 10"/>
          <p:cNvSpPr/>
          <p:nvPr/>
        </p:nvSpPr>
        <p:spPr>
          <a:xfrm>
            <a:off x="566928" y="3685032"/>
            <a:ext cx="5394960" cy="1627632"/>
          </a:xfrm>
          <a:prstGeom prst="roundRect">
            <a:avLst>
              <a:gd name="adj" fmla="val 618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86968" y="4142232"/>
            <a:ext cx="731520" cy="731520"/>
          </a:xfrm>
          <a:prstGeom prst="ellipse">
            <a:avLst/>
          </a:prstGeom>
          <a:solidFill>
            <a:srgbClr val="6FBE9C"/>
          </a:solidFill>
          <a:ln/>
        </p:spPr>
      </p:sp>
      <p:pic>
        <p:nvPicPr>
          <p:cNvPr id="16" name="Image 2" descr="preencoded.png">    </p:cNvPr>
          <p:cNvPicPr>
            <a:picLocks noChangeAspect="1"/>
          </p:cNvPicPr>
          <p:nvPr/>
        </p:nvPicPr>
        <p:blipFill>
          <a:blip r:embed="rId3"/>
          <a:stretch>
            <a:fillRect/>
          </a:stretch>
        </p:blipFill>
        <p:spPr>
          <a:xfrm>
            <a:off x="1077163" y="4332427"/>
            <a:ext cx="351130" cy="351130"/>
          </a:xfrm>
          <a:prstGeom prst="rect">
            <a:avLst/>
          </a:prstGeom>
        </p:spPr>
      </p:pic>
      <p:sp>
        <p:nvSpPr>
          <p:cNvPr id="17" name="Text 12"/>
          <p:cNvSpPr/>
          <p:nvPr/>
        </p:nvSpPr>
        <p:spPr>
          <a:xfrm>
            <a:off x="1828800" y="3977640"/>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Morgens wie durch Watte</a:t>
            </a:r>
            <a:endParaRPr lang="en-US" sz="1700" dirty="0"/>
          </a:p>
        </p:txBody>
      </p:sp>
      <p:sp>
        <p:nvSpPr>
          <p:cNvPr id="18" name="Text 13"/>
          <p:cNvSpPr/>
          <p:nvPr/>
        </p:nvSpPr>
        <p:spPr>
          <a:xfrm>
            <a:off x="1828800" y="4489704"/>
            <a:ext cx="3886200" cy="713232"/>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Der Tag beginnt schon erschöpft – noch bevor irgendetwas passiert ist.</a:t>
            </a:r>
            <a:endParaRPr lang="en-US" sz="1350" dirty="0"/>
          </a:p>
        </p:txBody>
      </p:sp>
      <p:sp>
        <p:nvSpPr>
          <p:cNvPr id="19" name="Shape 14"/>
          <p:cNvSpPr/>
          <p:nvPr/>
        </p:nvSpPr>
        <p:spPr>
          <a:xfrm>
            <a:off x="6281928" y="3685032"/>
            <a:ext cx="5394960" cy="1627632"/>
          </a:xfrm>
          <a:prstGeom prst="roundRect">
            <a:avLst>
              <a:gd name="adj" fmla="val 618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6601968" y="4142232"/>
            <a:ext cx="731520" cy="731520"/>
          </a:xfrm>
          <a:prstGeom prst="ellipse">
            <a:avLst/>
          </a:prstGeom>
          <a:solidFill>
            <a:srgbClr val="6FBE9C"/>
          </a:solidFill>
          <a:ln/>
        </p:spPr>
      </p:sp>
      <p:pic>
        <p:nvPicPr>
          <p:cNvPr id="21" name="Image 3" descr="preencoded.png">    </p:cNvPr>
          <p:cNvPicPr>
            <a:picLocks noChangeAspect="1"/>
          </p:cNvPicPr>
          <p:nvPr/>
        </p:nvPicPr>
        <p:blipFill>
          <a:blip r:embed="rId4"/>
          <a:stretch>
            <a:fillRect/>
          </a:stretch>
        </p:blipFill>
        <p:spPr>
          <a:xfrm>
            <a:off x="6792163" y="4332427"/>
            <a:ext cx="351130" cy="351130"/>
          </a:xfrm>
          <a:prstGeom prst="rect">
            <a:avLst/>
          </a:prstGeom>
        </p:spPr>
      </p:pic>
      <p:sp>
        <p:nvSpPr>
          <p:cNvPr id="22" name="Text 16"/>
          <p:cNvSpPr/>
          <p:nvPr/>
        </p:nvSpPr>
        <p:spPr>
          <a:xfrm>
            <a:off x="7543800" y="3977640"/>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Der gemiedene Supermarkt</a:t>
            </a:r>
            <a:endParaRPr lang="en-US" sz="1700" dirty="0"/>
          </a:p>
        </p:txBody>
      </p:sp>
      <p:sp>
        <p:nvSpPr>
          <p:cNvPr id="23" name="Text 17"/>
          <p:cNvSpPr/>
          <p:nvPr/>
        </p:nvSpPr>
        <p:spPr>
          <a:xfrm>
            <a:off x="7543800" y="4489704"/>
            <a:ext cx="3886200" cy="713232"/>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Bei Angst wird die Welt still kleiner: erst dieser Ort, dann jener.</a:t>
            </a:r>
            <a:endParaRPr lang="en-US" sz="1350" dirty="0"/>
          </a:p>
        </p:txBody>
      </p:sp>
      <p:sp>
        <p:nvSpPr>
          <p:cNvPr id="24" name="Text 18"/>
          <p:cNvSpPr/>
          <p:nvPr/>
        </p:nvSpPr>
        <p:spPr>
          <a:xfrm>
            <a:off x="566928" y="5943600"/>
            <a:ext cx="11057839" cy="411480"/>
          </a:xfrm>
          <a:prstGeom prst="rect">
            <a:avLst/>
          </a:prstGeom>
          <a:noFill/>
          <a:ln/>
        </p:spPr>
        <p:txBody>
          <a:bodyPr wrap="square" rtlCol="0" anchor="ctr"/>
          <a:lstStyle/>
          <a:p>
            <a:pPr indent="0" marL="0">
              <a:buNone/>
            </a:pPr>
            <a:r>
              <a:rPr lang="en-US" sz="1450" i="1" dirty="0">
                <a:solidFill>
                  <a:srgbClr val="2E9284"/>
                </a:solidFill>
                <a:latin typeface="Calibri" pitchFamily="34" charset="0"/>
                <a:ea typeface="Calibri" pitchFamily="34" charset="-122"/>
                <a:cs typeface="Calibri" pitchFamily="34" charset="-120"/>
              </a:rPr>
              <a:t>Mein Beispiel: ________________________________________________</a:t>
            </a:r>
            <a:endParaRPr lang="en-US" sz="1450" dirty="0"/>
          </a:p>
        </p:txBody>
      </p:sp>
      <p:sp>
        <p:nvSpPr>
          <p:cNvPr id="26" name="Text 19"/>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7" name="Text 20"/>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8000"/>
            </a:srgbClr>
          </a:solidFill>
          <a:ln/>
        </p:spPr>
      </p:sp>
      <p:sp>
        <p:nvSpPr>
          <p:cNvPr id="4" name="Shape 1"/>
          <p:cNvSpPr/>
          <p:nvPr/>
        </p:nvSpPr>
        <p:spPr>
          <a:xfrm>
            <a:off x="0" y="0"/>
            <a:ext cx="4114800" cy="6858000"/>
          </a:xfrm>
          <a:prstGeom prst="rect">
            <a:avLst/>
          </a:prstGeom>
          <a:solidFill>
            <a:srgbClr val="24685C">
              <a:alpha val="92000"/>
            </a:srgbClr>
          </a:solidFill>
          <a:ln/>
        </p:spPr>
      </p:sp>
      <p:sp>
        <p:nvSpPr>
          <p:cNvPr id="5" name="Shape 2"/>
          <p:cNvSpPr/>
          <p:nvPr/>
        </p:nvSpPr>
        <p:spPr>
          <a:xfrm>
            <a:off x="1371600" y="1097280"/>
            <a:ext cx="1371600" cy="137160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1728216" y="1453896"/>
            <a:ext cx="658368" cy="658368"/>
          </a:xfrm>
          <a:prstGeom prst="rect">
            <a:avLst/>
          </a:prstGeom>
        </p:spPr>
      </p:pic>
      <p:sp>
        <p:nvSpPr>
          <p:cNvPr id="7" name="Text 3"/>
          <p:cNvSpPr/>
          <p:nvPr/>
        </p:nvSpPr>
        <p:spPr>
          <a:xfrm>
            <a:off x="548640" y="2606040"/>
            <a:ext cx="3383280" cy="320040"/>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ÜBUNG · PERSPEKTIVWECHSEL</a:t>
            </a:r>
            <a:endParaRPr lang="en-US" sz="1250" dirty="0"/>
          </a:p>
        </p:txBody>
      </p:sp>
      <p:sp>
        <p:nvSpPr>
          <p:cNvPr id="8" name="Text 4"/>
          <p:cNvSpPr/>
          <p:nvPr/>
        </p:nvSpPr>
        <p:spPr>
          <a:xfrm>
            <a:off x="548640" y="2907792"/>
            <a:ext cx="3383280" cy="128016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Ein Tag mit Depression</a:t>
            </a:r>
            <a:endParaRPr lang="en-US" sz="2700" dirty="0"/>
          </a:p>
        </p:txBody>
      </p:sp>
      <p:sp>
        <p:nvSpPr>
          <p:cNvPr id="9" name="Shape 5"/>
          <p:cNvSpPr/>
          <p:nvPr/>
        </p:nvSpPr>
        <p:spPr>
          <a:xfrm>
            <a:off x="548640" y="5212080"/>
            <a:ext cx="2468880" cy="530352"/>
          </a:xfrm>
          <a:prstGeom prst="roundRect">
            <a:avLst>
              <a:gd name="adj" fmla="val 17241"/>
            </a:avLst>
          </a:prstGeom>
          <a:solidFill>
            <a:srgbClr val="E89A45"/>
          </a:solidFill>
          <a:ln/>
        </p:spPr>
      </p:sp>
      <p:sp>
        <p:nvSpPr>
          <p:cNvPr id="10" name="Text 6"/>
          <p:cNvSpPr/>
          <p:nvPr/>
        </p:nvSpPr>
        <p:spPr>
          <a:xfrm>
            <a:off x="548640" y="5212080"/>
            <a:ext cx="2468880" cy="53035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15 Min.</a:t>
            </a:r>
            <a:endParaRPr lang="en-US" sz="1500" dirty="0"/>
          </a:p>
        </p:txBody>
      </p:sp>
      <p:sp>
        <p:nvSpPr>
          <p:cNvPr id="11" name="Text 7"/>
          <p:cNvSpPr/>
          <p:nvPr/>
        </p:nvSpPr>
        <p:spPr>
          <a:xfrm>
            <a:off x="4480560" y="640080"/>
            <a:ext cx="68580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SO GEHT’S</a:t>
            </a:r>
            <a:endParaRPr lang="en-US" sz="1250" dirty="0"/>
          </a:p>
        </p:txBody>
      </p:sp>
      <p:sp>
        <p:nvSpPr>
          <p:cNvPr id="12" name="Shape 8"/>
          <p:cNvSpPr/>
          <p:nvPr/>
        </p:nvSpPr>
        <p:spPr>
          <a:xfrm>
            <a:off x="4526280" y="1042416"/>
            <a:ext cx="420624" cy="420624"/>
          </a:xfrm>
          <a:prstGeom prst="ellipse">
            <a:avLst/>
          </a:prstGeom>
          <a:solidFill>
            <a:srgbClr val="E89A45"/>
          </a:solidFill>
          <a:ln/>
        </p:spPr>
      </p:sp>
      <p:sp>
        <p:nvSpPr>
          <p:cNvPr id="13" name="Text 9"/>
          <p:cNvSpPr/>
          <p:nvPr/>
        </p:nvSpPr>
        <p:spPr>
          <a:xfrm>
            <a:off x="4526280" y="1042416"/>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4" name="Text 10"/>
          <p:cNvSpPr/>
          <p:nvPr/>
        </p:nvSpPr>
        <p:spPr>
          <a:xfrm>
            <a:off x="5138928" y="978408"/>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Jede/r bekommt das Blatt „Ein Tag mit Depression“ (Kopiervorlage).</a:t>
            </a:r>
            <a:endParaRPr lang="en-US" sz="1550" dirty="0"/>
          </a:p>
        </p:txBody>
      </p:sp>
      <p:sp>
        <p:nvSpPr>
          <p:cNvPr id="15" name="Shape 11"/>
          <p:cNvSpPr/>
          <p:nvPr/>
        </p:nvSpPr>
        <p:spPr>
          <a:xfrm>
            <a:off x="4526280" y="1719072"/>
            <a:ext cx="420624" cy="420624"/>
          </a:xfrm>
          <a:prstGeom prst="ellipse">
            <a:avLst/>
          </a:prstGeom>
          <a:solidFill>
            <a:srgbClr val="E89A45"/>
          </a:solidFill>
          <a:ln/>
        </p:spPr>
      </p:sp>
      <p:sp>
        <p:nvSpPr>
          <p:cNvPr id="16" name="Text 12"/>
          <p:cNvSpPr/>
          <p:nvPr/>
        </p:nvSpPr>
        <p:spPr>
          <a:xfrm>
            <a:off x="4526280" y="1719072"/>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3"/>
          <p:cNvSpPr/>
          <p:nvPr/>
        </p:nvSpPr>
        <p:spPr>
          <a:xfrm>
            <a:off x="5138928" y="1655064"/>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Lesen Sie den Tagesablauf still – jede Aufgabe kostet ‚+15 kg‘.</a:t>
            </a:r>
            <a:endParaRPr lang="en-US" sz="1550" dirty="0"/>
          </a:p>
        </p:txBody>
      </p:sp>
      <p:sp>
        <p:nvSpPr>
          <p:cNvPr id="18" name="Shape 14"/>
          <p:cNvSpPr/>
          <p:nvPr/>
        </p:nvSpPr>
        <p:spPr>
          <a:xfrm>
            <a:off x="4526280" y="2395728"/>
            <a:ext cx="420624" cy="420624"/>
          </a:xfrm>
          <a:prstGeom prst="ellipse">
            <a:avLst/>
          </a:prstGeom>
          <a:solidFill>
            <a:srgbClr val="E89A45"/>
          </a:solidFill>
          <a:ln/>
        </p:spPr>
      </p:sp>
      <p:sp>
        <p:nvSpPr>
          <p:cNvPr id="19" name="Text 15"/>
          <p:cNvSpPr/>
          <p:nvPr/>
        </p:nvSpPr>
        <p:spPr>
          <a:xfrm>
            <a:off x="4526280" y="2395728"/>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6"/>
          <p:cNvSpPr/>
          <p:nvPr/>
        </p:nvSpPr>
        <p:spPr>
          <a:xfrm>
            <a:off x="5138928" y="2331720"/>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Markieren Sie: Was hätten Sie heute so nicht geschafft?</a:t>
            </a:r>
            <a:endParaRPr lang="en-US" sz="1550" dirty="0"/>
          </a:p>
        </p:txBody>
      </p:sp>
      <p:sp>
        <p:nvSpPr>
          <p:cNvPr id="21" name="Shape 17"/>
          <p:cNvSpPr/>
          <p:nvPr/>
        </p:nvSpPr>
        <p:spPr>
          <a:xfrm>
            <a:off x="4526280" y="3072384"/>
            <a:ext cx="420624" cy="420624"/>
          </a:xfrm>
          <a:prstGeom prst="ellipse">
            <a:avLst/>
          </a:prstGeom>
          <a:solidFill>
            <a:srgbClr val="E89A45"/>
          </a:solidFill>
          <a:ln/>
        </p:spPr>
      </p:sp>
      <p:sp>
        <p:nvSpPr>
          <p:cNvPr id="22" name="Text 18"/>
          <p:cNvSpPr/>
          <p:nvPr/>
        </p:nvSpPr>
        <p:spPr>
          <a:xfrm>
            <a:off x="4526280" y="3072384"/>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19"/>
          <p:cNvSpPr/>
          <p:nvPr/>
        </p:nvSpPr>
        <p:spPr>
          <a:xfrm>
            <a:off x="5138928" y="3008376"/>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Kurzer Austausch zu zweit, dann Blitzlicht im Plenum.</a:t>
            </a:r>
            <a:endParaRPr lang="en-US" sz="1550" dirty="0"/>
          </a:p>
        </p:txBody>
      </p:sp>
      <p:sp>
        <p:nvSpPr>
          <p:cNvPr id="24" name="Shape 20"/>
          <p:cNvSpPr/>
          <p:nvPr/>
        </p:nvSpPr>
        <p:spPr>
          <a:xfrm>
            <a:off x="4480560" y="3840480"/>
            <a:ext cx="7178040" cy="2103120"/>
          </a:xfrm>
          <a:prstGeom prst="roundRect">
            <a:avLst>
              <a:gd name="adj" fmla="val 4348"/>
            </a:avLst>
          </a:prstGeom>
          <a:solidFill>
            <a:srgbClr val="FFFFFF">
              <a:alpha val="92000"/>
            </a:srgbClr>
          </a:solidFill>
          <a:ln/>
        </p:spPr>
      </p:sp>
      <p:sp>
        <p:nvSpPr>
          <p:cNvPr id="25" name="Text 21"/>
          <p:cNvSpPr/>
          <p:nvPr/>
        </p:nvSpPr>
        <p:spPr>
          <a:xfrm>
            <a:off x="4709160" y="4005072"/>
            <a:ext cx="6766560" cy="365760"/>
          </a:xfrm>
          <a:prstGeom prst="rect">
            <a:avLst/>
          </a:prstGeom>
          <a:noFill/>
          <a:ln/>
        </p:spPr>
        <p:txBody>
          <a:bodyPr wrap="square" rtlCol="0" anchor="ctr"/>
          <a:lstStyle/>
          <a:p>
            <a:pPr indent="0" marL="0">
              <a:buNone/>
            </a:pPr>
            <a:r>
              <a:rPr lang="en-US" sz="1600" b="1" dirty="0">
                <a:solidFill>
                  <a:srgbClr val="E89A45"/>
                </a:solidFill>
                <a:latin typeface="Cambria" pitchFamily="34" charset="0"/>
                <a:ea typeface="Cambria" pitchFamily="34" charset="-122"/>
                <a:cs typeface="Cambria" pitchFamily="34" charset="-120"/>
              </a:rPr>
              <a:t>Reflexion</a:t>
            </a:r>
            <a:endParaRPr lang="en-US" sz="1600" dirty="0"/>
          </a:p>
        </p:txBody>
      </p:sp>
      <p:sp>
        <p:nvSpPr>
          <p:cNvPr id="26" name="Text 22"/>
          <p:cNvSpPr/>
          <p:nvPr/>
        </p:nvSpPr>
        <p:spPr>
          <a:xfrm>
            <a:off x="4846320" y="4389120"/>
            <a:ext cx="6583680" cy="1508760"/>
          </a:xfrm>
          <a:prstGeom prst="rect">
            <a:avLst/>
          </a:prstGeom>
          <a:noFill/>
          <a:ln/>
        </p:spPr>
        <p:txBody>
          <a:bodyPr wrap="square"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Was hat sich verändert, als jede Kleinigkeit schwer wurde?</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Wo hätten Sie sich Verständnis gewünscht?</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Was heißt das für Ihren Blick auf ‚unzuverlässige‘ Menschen?</a:t>
            </a:r>
            <a:endParaRPr lang="en-US" sz="1450" dirty="0"/>
          </a:p>
        </p:txBody>
      </p:sp>
      <p:sp>
        <p:nvSpPr>
          <p:cNvPr id="28" name="Text 23"/>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9" name="Text 24"/>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claude-0/-home-user-spanwerk-datenschutz/aecddc76-056b-54e2-a906-9229bc8dda84/scratchpad/final/bg_tit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4000"/>
            </a:srgbClr>
          </a:solidFill>
          <a:ln/>
        </p:spPr>
      </p:sp>
      <p:sp>
        <p:nvSpPr>
          <p:cNvPr id="5" name="Shape 2"/>
          <p:cNvSpPr/>
          <p:nvPr/>
        </p:nvSpPr>
        <p:spPr>
          <a:xfrm>
            <a:off x="5410048" y="1737360"/>
            <a:ext cx="1371600" cy="137160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5766664" y="2093976"/>
            <a:ext cx="658368" cy="658368"/>
          </a:xfrm>
          <a:prstGeom prst="rect">
            <a:avLst/>
          </a:prstGeom>
        </p:spPr>
      </p:pic>
      <p:sp>
        <p:nvSpPr>
          <p:cNvPr id="7" name="Text 3"/>
          <p:cNvSpPr/>
          <p:nvPr/>
        </p:nvSpPr>
        <p:spPr>
          <a:xfrm>
            <a:off x="0" y="3200400"/>
            <a:ext cx="12191695" cy="1005840"/>
          </a:xfrm>
          <a:prstGeom prst="rect">
            <a:avLst/>
          </a:prstGeom>
          <a:noFill/>
          <a:ln/>
        </p:spPr>
        <p:txBody>
          <a:bodyPr wrap="square"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Pause</a:t>
            </a:r>
            <a:endParaRPr lang="en-US" sz="5800" dirty="0"/>
          </a:p>
        </p:txBody>
      </p:sp>
      <p:sp>
        <p:nvSpPr>
          <p:cNvPr id="8" name="Text 4"/>
          <p:cNvSpPr/>
          <p:nvPr/>
        </p:nvSpPr>
        <p:spPr>
          <a:xfrm>
            <a:off x="0" y="4315968"/>
            <a:ext cx="12191695" cy="457200"/>
          </a:xfrm>
          <a:prstGeom prst="rect">
            <a:avLst/>
          </a:prstGeom>
          <a:noFill/>
          <a:ln/>
        </p:spPr>
        <p:txBody>
          <a:bodyPr wrap="square" rtlCol="0" anchor="ctr"/>
          <a:lstStyle/>
          <a:p>
            <a:pPr algn="ctr" indent="0" marL="0">
              <a:buNone/>
            </a:pPr>
            <a:r>
              <a:rPr lang="en-US" sz="1900" i="1" dirty="0">
                <a:solidFill>
                  <a:srgbClr val="F2FAF5"/>
                </a:solidFill>
                <a:latin typeface="Calibri" pitchFamily="34" charset="0"/>
                <a:ea typeface="Calibri" pitchFamily="34" charset="-122"/>
                <a:cs typeface="Calibri" pitchFamily="34" charset="-120"/>
              </a:rPr>
              <a:t>15 Minuten · Durchatmen · Ankommen</a:t>
            </a:r>
            <a:endParaRPr lang="en-US" sz="1900" dirty="0"/>
          </a:p>
        </p:txBody>
      </p:sp>
      <p:sp>
        <p:nvSpPr>
          <p:cNvPr id="9" name="Text 5"/>
          <p:cNvSpPr/>
          <p:nvPr/>
        </p:nvSpPr>
        <p:spPr>
          <a:xfrm>
            <a:off x="0" y="5029200"/>
            <a:ext cx="12191695" cy="365760"/>
          </a:xfrm>
          <a:prstGeom prst="rect">
            <a:avLst/>
          </a:prstGeom>
          <a:noFill/>
          <a:ln/>
        </p:spPr>
        <p:txBody>
          <a:bodyPr wrap="square" rtlCol="0" anchor="ctr"/>
          <a:lstStyle/>
          <a:p>
            <a:pPr algn="ctr" indent="0" marL="0">
              <a:buNone/>
            </a:pPr>
            <a:r>
              <a:rPr lang="en-US" sz="1500" dirty="0">
                <a:solidFill>
                  <a:srgbClr val="EAF6EF"/>
                </a:solidFill>
                <a:latin typeface="Calibri" pitchFamily="34" charset="0"/>
                <a:ea typeface="Calibri" pitchFamily="34" charset="-122"/>
                <a:cs typeface="Calibri" pitchFamily="34" charset="-120"/>
              </a:rPr>
              <a:t>Nach der Pause: Wie wir Betroffene wirklich begleiten.</a:t>
            </a:r>
            <a:endParaRPr lang="en-US" sz="1500" dirty="0"/>
          </a:p>
        </p:txBody>
      </p:sp>
      <p:sp>
        <p:nvSpPr>
          <p:cNvPr id="11" name="Text 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2" name="Text 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6000"/>
            </a:srgbClr>
          </a:solidFill>
          <a:ln/>
        </p:spPr>
      </p:sp>
      <p:sp>
        <p:nvSpPr>
          <p:cNvPr id="5" name="Text 2"/>
          <p:cNvSpPr/>
          <p:nvPr/>
        </p:nvSpPr>
        <p:spPr>
          <a:xfrm>
            <a:off x="566928" y="2103120"/>
            <a:ext cx="10058400" cy="365760"/>
          </a:xfrm>
          <a:prstGeom prst="rect">
            <a:avLst/>
          </a:prstGeom>
          <a:noFill/>
          <a:ln/>
        </p:spPr>
        <p:txBody>
          <a:bodyPr wrap="square" rtlCol="0" anchor="ctr"/>
          <a:lstStyle/>
          <a:p>
            <a:pPr indent="0" marL="0">
              <a:buNone/>
            </a:pPr>
            <a:r>
              <a:rPr lang="en-US" sz="1400" b="1" spc="300" kern="0" dirty="0">
                <a:solidFill>
                  <a:srgbClr val="F4D9B8"/>
                </a:solidFill>
                <a:latin typeface="Calibri" pitchFamily="34" charset="0"/>
                <a:ea typeface="Calibri" pitchFamily="34" charset="-122"/>
                <a:cs typeface="Calibri" pitchFamily="34" charset="-120"/>
              </a:rPr>
              <a:t>MODUL 4  ·  BEGLEITEN</a:t>
            </a:r>
            <a:endParaRPr lang="en-US" sz="1400" dirty="0"/>
          </a:p>
        </p:txBody>
      </p:sp>
      <p:sp>
        <p:nvSpPr>
          <p:cNvPr id="6" name="Text 3"/>
          <p:cNvSpPr/>
          <p:nvPr/>
        </p:nvSpPr>
        <p:spPr>
          <a:xfrm>
            <a:off x="566928" y="2514600"/>
            <a:ext cx="109728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Was hilft wirklich?</a:t>
            </a:r>
            <a:endParaRPr lang="en-US" sz="4800" dirty="0"/>
          </a:p>
        </p:txBody>
      </p:sp>
      <p:sp>
        <p:nvSpPr>
          <p:cNvPr id="7" name="Text 4"/>
          <p:cNvSpPr/>
          <p:nvPr/>
        </p:nvSpPr>
        <p:spPr>
          <a:xfrm>
            <a:off x="566928" y="3703320"/>
            <a:ext cx="10058400" cy="731520"/>
          </a:xfrm>
          <a:prstGeom prst="rect">
            <a:avLst/>
          </a:prstGeom>
          <a:noFill/>
          <a:ln/>
        </p:spPr>
        <p:txBody>
          <a:bodyPr wrap="square" rtlCol="0" anchor="ctr"/>
          <a:lstStyle/>
          <a:p>
            <a:pPr indent="0" marL="0">
              <a:lnSpc>
                <a:spcPts val="2700"/>
              </a:lnSpc>
              <a:buNone/>
            </a:pPr>
            <a:r>
              <a:rPr lang="en-US" sz="1900" i="1" dirty="0">
                <a:solidFill>
                  <a:srgbClr val="F2FAF5"/>
                </a:solidFill>
                <a:latin typeface="Calibri" pitchFamily="34" charset="0"/>
                <a:ea typeface="Calibri" pitchFamily="34" charset="-122"/>
                <a:cs typeface="Calibri" pitchFamily="34" charset="-120"/>
              </a:rPr>
              <a:t>Man muss kein Therapeut sein, um zu helfen. Oft genügt ein Mensch, der bleibt.</a:t>
            </a:r>
            <a:endParaRPr lang="en-US" sz="1900" dirty="0"/>
          </a:p>
        </p:txBody>
      </p:sp>
      <p:sp>
        <p:nvSpPr>
          <p:cNvPr id="9" name="Text 5"/>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0" name="Text 6"/>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4 · DAS HILFT</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Fünf Dinge, die wirklich guttun</a:t>
            </a:r>
            <a:endParaRPr lang="en-US" sz="3400" dirty="0"/>
          </a:p>
        </p:txBody>
      </p:sp>
      <p:sp>
        <p:nvSpPr>
          <p:cNvPr id="4" name="Shape 2"/>
          <p:cNvSpPr/>
          <p:nvPr/>
        </p:nvSpPr>
        <p:spPr>
          <a:xfrm>
            <a:off x="566928"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59536" y="2048256"/>
            <a:ext cx="676656" cy="676656"/>
          </a:xfrm>
          <a:prstGeom prst="ellipse">
            <a:avLst/>
          </a:prstGeom>
          <a:solidFill>
            <a:srgbClr val="6FBE9C"/>
          </a:solidFill>
          <a:ln/>
        </p:spPr>
      </p:sp>
      <p:pic>
        <p:nvPicPr>
          <p:cNvPr id="6" name="Image 0" descr="preencoded.png">    </p:cNvPr>
          <p:cNvPicPr>
            <a:picLocks noChangeAspect="1"/>
          </p:cNvPicPr>
          <p:nvPr/>
        </p:nvPicPr>
        <p:blipFill>
          <a:blip r:embed="rId1"/>
          <a:stretch>
            <a:fillRect/>
          </a:stretch>
        </p:blipFill>
        <p:spPr>
          <a:xfrm>
            <a:off x="1035467" y="2224187"/>
            <a:ext cx="324795" cy="324795"/>
          </a:xfrm>
          <a:prstGeom prst="rect">
            <a:avLst/>
          </a:prstGeom>
        </p:spPr>
      </p:pic>
      <p:sp>
        <p:nvSpPr>
          <p:cNvPr id="7" name="Text 4"/>
          <p:cNvSpPr/>
          <p:nvPr/>
        </p:nvSpPr>
        <p:spPr>
          <a:xfrm>
            <a:off x="1664208" y="2103120"/>
            <a:ext cx="2221992" cy="5029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Zuhören ohne zu lösen</a:t>
            </a:r>
            <a:endParaRPr lang="en-US" sz="1600" dirty="0"/>
          </a:p>
        </p:txBody>
      </p:sp>
      <p:sp>
        <p:nvSpPr>
          <p:cNvPr id="8" name="Text 5"/>
          <p:cNvSpPr/>
          <p:nvPr/>
        </p:nvSpPr>
        <p:spPr>
          <a:xfrm>
            <a:off x="859536" y="2788920"/>
            <a:ext cx="2953512" cy="658368"/>
          </a:xfrm>
          <a:prstGeom prst="rect">
            <a:avLst/>
          </a:prstGeom>
          <a:noFill/>
          <a:ln/>
        </p:spPr>
        <p:txBody>
          <a:bodyPr wrap="square" rtlCol="0" anchor="ctr"/>
          <a:lstStyle/>
          <a:p>
            <a:pPr indent="0" marL="0">
              <a:buNone/>
            </a:pPr>
            <a:r>
              <a:rPr lang="en-US" sz="1300" dirty="0">
                <a:solidFill>
                  <a:srgbClr val="5E736E"/>
                </a:solidFill>
                <a:latin typeface="Calibri" pitchFamily="34" charset="0"/>
                <a:ea typeface="Calibri" pitchFamily="34" charset="-122"/>
                <a:cs typeface="Calibri" pitchFamily="34" charset="-120"/>
              </a:rPr>
              <a:t>Da sein und aushalten schlägt jeden gut gemeinten Ratschlag.</a:t>
            </a:r>
            <a:endParaRPr lang="en-US" sz="1300" dirty="0"/>
          </a:p>
        </p:txBody>
      </p:sp>
      <p:sp>
        <p:nvSpPr>
          <p:cNvPr id="9" name="Shape 6"/>
          <p:cNvSpPr/>
          <p:nvPr/>
        </p:nvSpPr>
        <p:spPr>
          <a:xfrm>
            <a:off x="4279392"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4572000" y="2048256"/>
            <a:ext cx="676656" cy="676656"/>
          </a:xfrm>
          <a:prstGeom prst="ellipse">
            <a:avLst/>
          </a:prstGeom>
          <a:solidFill>
            <a:srgbClr val="6FBE9C"/>
          </a:solidFill>
          <a:ln/>
        </p:spPr>
      </p:sp>
      <p:pic>
        <p:nvPicPr>
          <p:cNvPr id="11" name="Image 1" descr="preencoded.png">    </p:cNvPr>
          <p:cNvPicPr>
            <a:picLocks noChangeAspect="1"/>
          </p:cNvPicPr>
          <p:nvPr/>
        </p:nvPicPr>
        <p:blipFill>
          <a:blip r:embed="rId2"/>
          <a:stretch>
            <a:fillRect/>
          </a:stretch>
        </p:blipFill>
        <p:spPr>
          <a:xfrm>
            <a:off x="4747931" y="2224187"/>
            <a:ext cx="324795" cy="324795"/>
          </a:xfrm>
          <a:prstGeom prst="rect">
            <a:avLst/>
          </a:prstGeom>
        </p:spPr>
      </p:pic>
      <p:sp>
        <p:nvSpPr>
          <p:cNvPr id="12" name="Text 8"/>
          <p:cNvSpPr/>
          <p:nvPr/>
        </p:nvSpPr>
        <p:spPr>
          <a:xfrm>
            <a:off x="5376672" y="2103120"/>
            <a:ext cx="2221992" cy="5029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Ernst nehmen</a:t>
            </a:r>
            <a:endParaRPr lang="en-US" sz="1600" dirty="0"/>
          </a:p>
        </p:txBody>
      </p:sp>
      <p:sp>
        <p:nvSpPr>
          <p:cNvPr id="13" name="Text 9"/>
          <p:cNvSpPr/>
          <p:nvPr/>
        </p:nvSpPr>
        <p:spPr>
          <a:xfrm>
            <a:off x="4572000" y="2788920"/>
            <a:ext cx="2953512" cy="658368"/>
          </a:xfrm>
          <a:prstGeom prst="rect">
            <a:avLst/>
          </a:prstGeom>
          <a:noFill/>
          <a:ln/>
        </p:spPr>
        <p:txBody>
          <a:bodyPr wrap="square" rtlCol="0" anchor="ctr"/>
          <a:lstStyle/>
          <a:p>
            <a:pPr indent="0" marL="0">
              <a:buNone/>
            </a:pPr>
            <a:r>
              <a:rPr lang="en-US" sz="1300" dirty="0">
                <a:solidFill>
                  <a:srgbClr val="5E736E"/>
                </a:solidFill>
                <a:latin typeface="Calibri" pitchFamily="34" charset="0"/>
                <a:ea typeface="Calibri" pitchFamily="34" charset="-122"/>
                <a:cs typeface="Calibri" pitchFamily="34" charset="-120"/>
              </a:rPr>
              <a:t>„Das klingt wirklich schwer.“ – Gefühle bestätigen, nicht kleinreden.</a:t>
            </a:r>
            <a:endParaRPr lang="en-US" sz="1300" dirty="0"/>
          </a:p>
        </p:txBody>
      </p:sp>
      <p:sp>
        <p:nvSpPr>
          <p:cNvPr id="14" name="Shape 10"/>
          <p:cNvSpPr/>
          <p:nvPr/>
        </p:nvSpPr>
        <p:spPr>
          <a:xfrm>
            <a:off x="7991856" y="1737360"/>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284464" y="2048256"/>
            <a:ext cx="676656" cy="676656"/>
          </a:xfrm>
          <a:prstGeom prst="ellipse">
            <a:avLst/>
          </a:prstGeom>
          <a:solidFill>
            <a:srgbClr val="6FBE9C"/>
          </a:solidFill>
          <a:ln/>
        </p:spPr>
      </p:sp>
      <p:pic>
        <p:nvPicPr>
          <p:cNvPr id="16" name="Image 2" descr="preencoded.png">    </p:cNvPr>
          <p:cNvPicPr>
            <a:picLocks noChangeAspect="1"/>
          </p:cNvPicPr>
          <p:nvPr/>
        </p:nvPicPr>
        <p:blipFill>
          <a:blip r:embed="rId3"/>
          <a:stretch>
            <a:fillRect/>
          </a:stretch>
        </p:blipFill>
        <p:spPr>
          <a:xfrm>
            <a:off x="8460395" y="2224187"/>
            <a:ext cx="324795" cy="324795"/>
          </a:xfrm>
          <a:prstGeom prst="rect">
            <a:avLst/>
          </a:prstGeom>
        </p:spPr>
      </p:pic>
      <p:sp>
        <p:nvSpPr>
          <p:cNvPr id="17" name="Text 12"/>
          <p:cNvSpPr/>
          <p:nvPr/>
        </p:nvSpPr>
        <p:spPr>
          <a:xfrm>
            <a:off x="9089136" y="2103120"/>
            <a:ext cx="2221992" cy="5029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Konkret fragen</a:t>
            </a:r>
            <a:endParaRPr lang="en-US" sz="1600" dirty="0"/>
          </a:p>
        </p:txBody>
      </p:sp>
      <p:sp>
        <p:nvSpPr>
          <p:cNvPr id="18" name="Text 13"/>
          <p:cNvSpPr/>
          <p:nvPr/>
        </p:nvSpPr>
        <p:spPr>
          <a:xfrm>
            <a:off x="8284464" y="2788920"/>
            <a:ext cx="2953512" cy="658368"/>
          </a:xfrm>
          <a:prstGeom prst="rect">
            <a:avLst/>
          </a:prstGeom>
          <a:noFill/>
          <a:ln/>
        </p:spPr>
        <p:txBody>
          <a:bodyPr wrap="square" rtlCol="0" anchor="ctr"/>
          <a:lstStyle/>
          <a:p>
            <a:pPr indent="0" marL="0">
              <a:buNone/>
            </a:pPr>
            <a:r>
              <a:rPr lang="en-US" sz="1300" dirty="0">
                <a:solidFill>
                  <a:srgbClr val="5E736E"/>
                </a:solidFill>
                <a:latin typeface="Calibri" pitchFamily="34" charset="0"/>
                <a:ea typeface="Calibri" pitchFamily="34" charset="-122"/>
                <a:cs typeface="Calibri" pitchFamily="34" charset="-120"/>
              </a:rPr>
              <a:t>„Was würde dir heute helfen?“ statt „Meld dich, wenn was ist.“</a:t>
            </a:r>
            <a:endParaRPr lang="en-US" sz="1300" dirty="0"/>
          </a:p>
        </p:txBody>
      </p:sp>
      <p:sp>
        <p:nvSpPr>
          <p:cNvPr id="19" name="Shape 14"/>
          <p:cNvSpPr/>
          <p:nvPr/>
        </p:nvSpPr>
        <p:spPr>
          <a:xfrm>
            <a:off x="2423160" y="3776472"/>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2715768" y="4087368"/>
            <a:ext cx="676656" cy="676656"/>
          </a:xfrm>
          <a:prstGeom prst="ellipse">
            <a:avLst/>
          </a:prstGeom>
          <a:solidFill>
            <a:srgbClr val="6FBE9C"/>
          </a:solidFill>
          <a:ln/>
        </p:spPr>
      </p:sp>
      <p:pic>
        <p:nvPicPr>
          <p:cNvPr id="21" name="Image 3" descr="preencoded.png">    </p:cNvPr>
          <p:cNvPicPr>
            <a:picLocks noChangeAspect="1"/>
          </p:cNvPicPr>
          <p:nvPr/>
        </p:nvPicPr>
        <p:blipFill>
          <a:blip r:embed="rId4"/>
          <a:stretch>
            <a:fillRect/>
          </a:stretch>
        </p:blipFill>
        <p:spPr>
          <a:xfrm>
            <a:off x="2891699" y="4263299"/>
            <a:ext cx="324795" cy="324795"/>
          </a:xfrm>
          <a:prstGeom prst="rect">
            <a:avLst/>
          </a:prstGeom>
        </p:spPr>
      </p:pic>
      <p:sp>
        <p:nvSpPr>
          <p:cNvPr id="22" name="Text 16"/>
          <p:cNvSpPr/>
          <p:nvPr/>
        </p:nvSpPr>
        <p:spPr>
          <a:xfrm>
            <a:off x="3520440" y="4142232"/>
            <a:ext cx="2221992" cy="5029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Dableiben</a:t>
            </a:r>
            <a:endParaRPr lang="en-US" sz="1600" dirty="0"/>
          </a:p>
        </p:txBody>
      </p:sp>
      <p:sp>
        <p:nvSpPr>
          <p:cNvPr id="23" name="Text 17"/>
          <p:cNvSpPr/>
          <p:nvPr/>
        </p:nvSpPr>
        <p:spPr>
          <a:xfrm>
            <a:off x="2715768" y="4828032"/>
            <a:ext cx="2953512" cy="658368"/>
          </a:xfrm>
          <a:prstGeom prst="rect">
            <a:avLst/>
          </a:prstGeom>
          <a:noFill/>
          <a:ln/>
        </p:spPr>
        <p:txBody>
          <a:bodyPr wrap="square" rtlCol="0" anchor="ctr"/>
          <a:lstStyle/>
          <a:p>
            <a:pPr indent="0" marL="0">
              <a:buNone/>
            </a:pPr>
            <a:r>
              <a:rPr lang="en-US" sz="1300" dirty="0">
                <a:solidFill>
                  <a:srgbClr val="5E736E"/>
                </a:solidFill>
                <a:latin typeface="Calibri" pitchFamily="34" charset="0"/>
                <a:ea typeface="Calibri" pitchFamily="34" charset="-122"/>
                <a:cs typeface="Calibri" pitchFamily="34" charset="-120"/>
              </a:rPr>
              <a:t>Nicht nur einmal fragen. Verlässlich in Kontakt bleiben.</a:t>
            </a:r>
            <a:endParaRPr lang="en-US" sz="1300" dirty="0"/>
          </a:p>
        </p:txBody>
      </p:sp>
      <p:sp>
        <p:nvSpPr>
          <p:cNvPr id="24" name="Shape 18"/>
          <p:cNvSpPr/>
          <p:nvPr/>
        </p:nvSpPr>
        <p:spPr>
          <a:xfrm>
            <a:off x="6135624" y="3776472"/>
            <a:ext cx="3456432" cy="1783080"/>
          </a:xfrm>
          <a:prstGeom prst="roundRect">
            <a:avLst>
              <a:gd name="adj" fmla="val 5641"/>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5" name="Shape 19"/>
          <p:cNvSpPr/>
          <p:nvPr/>
        </p:nvSpPr>
        <p:spPr>
          <a:xfrm>
            <a:off x="6428232" y="4087368"/>
            <a:ext cx="676656" cy="676656"/>
          </a:xfrm>
          <a:prstGeom prst="ellipse">
            <a:avLst/>
          </a:prstGeom>
          <a:solidFill>
            <a:srgbClr val="6FBE9C"/>
          </a:solidFill>
          <a:ln/>
        </p:spPr>
      </p:sp>
      <p:pic>
        <p:nvPicPr>
          <p:cNvPr id="26" name="Image 4" descr="preencoded.png">    </p:cNvPr>
          <p:cNvPicPr>
            <a:picLocks noChangeAspect="1"/>
          </p:cNvPicPr>
          <p:nvPr/>
        </p:nvPicPr>
        <p:blipFill>
          <a:blip r:embed="rId5"/>
          <a:stretch>
            <a:fillRect/>
          </a:stretch>
        </p:blipFill>
        <p:spPr>
          <a:xfrm>
            <a:off x="6604163" y="4263299"/>
            <a:ext cx="324795" cy="324795"/>
          </a:xfrm>
          <a:prstGeom prst="rect">
            <a:avLst/>
          </a:prstGeom>
        </p:spPr>
      </p:pic>
      <p:sp>
        <p:nvSpPr>
          <p:cNvPr id="27" name="Text 20"/>
          <p:cNvSpPr/>
          <p:nvPr/>
        </p:nvSpPr>
        <p:spPr>
          <a:xfrm>
            <a:off x="7232904" y="4142232"/>
            <a:ext cx="2221992" cy="5029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Zu Hilfe ermutigen</a:t>
            </a:r>
            <a:endParaRPr lang="en-US" sz="1600" dirty="0"/>
          </a:p>
        </p:txBody>
      </p:sp>
      <p:sp>
        <p:nvSpPr>
          <p:cNvPr id="28" name="Text 21"/>
          <p:cNvSpPr/>
          <p:nvPr/>
        </p:nvSpPr>
        <p:spPr>
          <a:xfrm>
            <a:off x="6428232" y="4828032"/>
            <a:ext cx="2953512" cy="658368"/>
          </a:xfrm>
          <a:prstGeom prst="rect">
            <a:avLst/>
          </a:prstGeom>
          <a:noFill/>
          <a:ln/>
        </p:spPr>
        <p:txBody>
          <a:bodyPr wrap="square" rtlCol="0" anchor="ctr"/>
          <a:lstStyle/>
          <a:p>
            <a:pPr indent="0" marL="0">
              <a:buNone/>
            </a:pPr>
            <a:r>
              <a:rPr lang="en-US" sz="1300" dirty="0">
                <a:solidFill>
                  <a:srgbClr val="5E736E"/>
                </a:solidFill>
                <a:latin typeface="Calibri" pitchFamily="34" charset="0"/>
                <a:ea typeface="Calibri" pitchFamily="34" charset="-122"/>
                <a:cs typeface="Calibri" pitchFamily="34" charset="-120"/>
              </a:rPr>
              <a:t>Sanft Richtung Arzt oder Therapie begleiten – notfalls mitgehen.</a:t>
            </a:r>
            <a:endParaRPr lang="en-US" sz="1300" dirty="0"/>
          </a:p>
        </p:txBody>
      </p:sp>
      <p:sp>
        <p:nvSpPr>
          <p:cNvPr id="30" name="Text 22"/>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1" name="Text 23"/>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4 · DAS SCHADET – AUCH GUT GEMEINT</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Besser vermeiden</a:t>
            </a:r>
            <a:endParaRPr lang="en-US" sz="3400" dirty="0"/>
          </a:p>
        </p:txBody>
      </p:sp>
      <p:sp>
        <p:nvSpPr>
          <p:cNvPr id="4" name="Shape 2"/>
          <p:cNvSpPr/>
          <p:nvPr/>
        </p:nvSpPr>
        <p:spPr>
          <a:xfrm>
            <a:off x="566928" y="1783080"/>
            <a:ext cx="11057839" cy="713232"/>
          </a:xfrm>
          <a:prstGeom prst="roundRect">
            <a:avLst>
              <a:gd name="adj" fmla="val 14103"/>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41248" y="1947672"/>
            <a:ext cx="475488" cy="475488"/>
          </a:xfrm>
          <a:prstGeom prst="ellipse">
            <a:avLst/>
          </a:prstGeom>
          <a:solidFill>
            <a:srgbClr val="BC722A"/>
          </a:solidFill>
          <a:ln/>
        </p:spPr>
      </p:sp>
      <p:pic>
        <p:nvPicPr>
          <p:cNvPr id="6" name="Image 0" descr="preencoded.png">    </p:cNvPr>
          <p:cNvPicPr>
            <a:picLocks noChangeAspect="1"/>
          </p:cNvPicPr>
          <p:nvPr/>
        </p:nvPicPr>
        <p:blipFill>
          <a:blip r:embed="rId1"/>
          <a:stretch>
            <a:fillRect/>
          </a:stretch>
        </p:blipFill>
        <p:spPr>
          <a:xfrm>
            <a:off x="964875" y="2071299"/>
            <a:ext cx="228234" cy="228234"/>
          </a:xfrm>
          <a:prstGeom prst="rect">
            <a:avLst/>
          </a:prstGeom>
        </p:spPr>
      </p:pic>
      <p:sp>
        <p:nvSpPr>
          <p:cNvPr id="7" name="Text 4"/>
          <p:cNvSpPr/>
          <p:nvPr/>
        </p:nvSpPr>
        <p:spPr>
          <a:xfrm>
            <a:off x="1572768" y="1783080"/>
            <a:ext cx="9823399" cy="713232"/>
          </a:xfrm>
          <a:prstGeom prst="rect">
            <a:avLst/>
          </a:prstGeom>
          <a:noFill/>
          <a:ln/>
        </p:spPr>
        <p:txBody>
          <a:bodyPr wrap="square" rtlCol="0" anchor="ctr"/>
          <a:lstStyle/>
          <a:p>
            <a:pPr indent="0" marL="0">
              <a:lnSpc>
                <a:spcPts val="1700"/>
              </a:lnSpc>
              <a:buNone/>
            </a:pPr>
            <a:r>
              <a:rPr lang="en-US" sz="1650" b="1" dirty="0">
                <a:solidFill>
                  <a:srgbClr val="2C7A6B"/>
                </a:solidFill>
                <a:latin typeface="Calibri" pitchFamily="34" charset="0"/>
                <a:ea typeface="Calibri" pitchFamily="34" charset="-122"/>
                <a:cs typeface="Calibri" pitchFamily="34" charset="-120"/>
              </a:rPr>
              <a:t>„Reiß dich zusammen.“   </a:t>
            </a:r>
            <a:pPr indent="0" marL="0">
              <a:lnSpc>
                <a:spcPts val="1700"/>
              </a:lnSpc>
              <a:buNone/>
            </a:pPr>
            <a:r>
              <a:rPr lang="en-US" sz="1400" dirty="0">
                <a:solidFill>
                  <a:srgbClr val="5E736E"/>
                </a:solidFill>
                <a:latin typeface="Calibri" pitchFamily="34" charset="0"/>
                <a:ea typeface="Calibri" pitchFamily="34" charset="-122"/>
                <a:cs typeface="Calibri" pitchFamily="34" charset="-120"/>
              </a:rPr>
              <a:t>Macht Druck und Scham – als wäre es Willensschwäche.</a:t>
            </a:r>
            <a:endParaRPr lang="en-US" sz="1650" dirty="0"/>
          </a:p>
        </p:txBody>
      </p:sp>
      <p:sp>
        <p:nvSpPr>
          <p:cNvPr id="8" name="Shape 5"/>
          <p:cNvSpPr/>
          <p:nvPr/>
        </p:nvSpPr>
        <p:spPr>
          <a:xfrm>
            <a:off x="566928" y="2606040"/>
            <a:ext cx="11057839" cy="713232"/>
          </a:xfrm>
          <a:prstGeom prst="roundRect">
            <a:avLst>
              <a:gd name="adj" fmla="val 14103"/>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9" name="Shape 6"/>
          <p:cNvSpPr/>
          <p:nvPr/>
        </p:nvSpPr>
        <p:spPr>
          <a:xfrm>
            <a:off x="841248" y="2770632"/>
            <a:ext cx="475488" cy="475488"/>
          </a:xfrm>
          <a:prstGeom prst="ellipse">
            <a:avLst/>
          </a:prstGeom>
          <a:solidFill>
            <a:srgbClr val="BC722A"/>
          </a:solidFill>
          <a:ln/>
        </p:spPr>
      </p:sp>
      <p:pic>
        <p:nvPicPr>
          <p:cNvPr id="10" name="Image 1" descr="preencoded.png">    </p:cNvPr>
          <p:cNvPicPr>
            <a:picLocks noChangeAspect="1"/>
          </p:cNvPicPr>
          <p:nvPr/>
        </p:nvPicPr>
        <p:blipFill>
          <a:blip r:embed="rId2"/>
          <a:stretch>
            <a:fillRect/>
          </a:stretch>
        </p:blipFill>
        <p:spPr>
          <a:xfrm>
            <a:off x="964875" y="2894259"/>
            <a:ext cx="228234" cy="228234"/>
          </a:xfrm>
          <a:prstGeom prst="rect">
            <a:avLst/>
          </a:prstGeom>
        </p:spPr>
      </p:pic>
      <p:sp>
        <p:nvSpPr>
          <p:cNvPr id="11" name="Text 7"/>
          <p:cNvSpPr/>
          <p:nvPr/>
        </p:nvSpPr>
        <p:spPr>
          <a:xfrm>
            <a:off x="1572768" y="2606040"/>
            <a:ext cx="9823399" cy="713232"/>
          </a:xfrm>
          <a:prstGeom prst="rect">
            <a:avLst/>
          </a:prstGeom>
          <a:noFill/>
          <a:ln/>
        </p:spPr>
        <p:txBody>
          <a:bodyPr wrap="square" rtlCol="0" anchor="ctr"/>
          <a:lstStyle/>
          <a:p>
            <a:pPr indent="0" marL="0">
              <a:lnSpc>
                <a:spcPts val="1700"/>
              </a:lnSpc>
              <a:buNone/>
            </a:pPr>
            <a:r>
              <a:rPr lang="en-US" sz="1650" b="1" dirty="0">
                <a:solidFill>
                  <a:srgbClr val="2C7A6B"/>
                </a:solidFill>
                <a:latin typeface="Calibri" pitchFamily="34" charset="0"/>
                <a:ea typeface="Calibri" pitchFamily="34" charset="-122"/>
                <a:cs typeface="Calibri" pitchFamily="34" charset="-120"/>
              </a:rPr>
              <a:t>„Anderen geht’s schlechter.“   </a:t>
            </a:r>
            <a:pPr indent="0" marL="0">
              <a:lnSpc>
                <a:spcPts val="1700"/>
              </a:lnSpc>
              <a:buNone/>
            </a:pPr>
            <a:r>
              <a:rPr lang="en-US" sz="1400" dirty="0">
                <a:solidFill>
                  <a:srgbClr val="5E736E"/>
                </a:solidFill>
                <a:latin typeface="Calibri" pitchFamily="34" charset="0"/>
                <a:ea typeface="Calibri" pitchFamily="34" charset="-122"/>
                <a:cs typeface="Calibri" pitchFamily="34" charset="-120"/>
              </a:rPr>
              <a:t>Vergleiche entwerten das eigene Leid und lassen verstummen.</a:t>
            </a:r>
            <a:endParaRPr lang="en-US" sz="1650" dirty="0"/>
          </a:p>
        </p:txBody>
      </p:sp>
      <p:sp>
        <p:nvSpPr>
          <p:cNvPr id="12" name="Shape 8"/>
          <p:cNvSpPr/>
          <p:nvPr/>
        </p:nvSpPr>
        <p:spPr>
          <a:xfrm>
            <a:off x="566928" y="3429000"/>
            <a:ext cx="11057839" cy="713232"/>
          </a:xfrm>
          <a:prstGeom prst="roundRect">
            <a:avLst>
              <a:gd name="adj" fmla="val 14103"/>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3" name="Shape 9"/>
          <p:cNvSpPr/>
          <p:nvPr/>
        </p:nvSpPr>
        <p:spPr>
          <a:xfrm>
            <a:off x="841248" y="3593592"/>
            <a:ext cx="475488" cy="475488"/>
          </a:xfrm>
          <a:prstGeom prst="ellipse">
            <a:avLst/>
          </a:prstGeom>
          <a:solidFill>
            <a:srgbClr val="BC722A"/>
          </a:solidFill>
          <a:ln/>
        </p:spPr>
      </p:sp>
      <p:pic>
        <p:nvPicPr>
          <p:cNvPr id="14" name="Image 2" descr="preencoded.png">    </p:cNvPr>
          <p:cNvPicPr>
            <a:picLocks noChangeAspect="1"/>
          </p:cNvPicPr>
          <p:nvPr/>
        </p:nvPicPr>
        <p:blipFill>
          <a:blip r:embed="rId3"/>
          <a:stretch>
            <a:fillRect/>
          </a:stretch>
        </p:blipFill>
        <p:spPr>
          <a:xfrm>
            <a:off x="964875" y="3717219"/>
            <a:ext cx="228234" cy="228234"/>
          </a:xfrm>
          <a:prstGeom prst="rect">
            <a:avLst/>
          </a:prstGeom>
        </p:spPr>
      </p:pic>
      <p:sp>
        <p:nvSpPr>
          <p:cNvPr id="15" name="Text 10"/>
          <p:cNvSpPr/>
          <p:nvPr/>
        </p:nvSpPr>
        <p:spPr>
          <a:xfrm>
            <a:off x="1572768" y="3429000"/>
            <a:ext cx="9823399" cy="713232"/>
          </a:xfrm>
          <a:prstGeom prst="rect">
            <a:avLst/>
          </a:prstGeom>
          <a:noFill/>
          <a:ln/>
        </p:spPr>
        <p:txBody>
          <a:bodyPr wrap="square" rtlCol="0" anchor="ctr"/>
          <a:lstStyle/>
          <a:p>
            <a:pPr indent="0" marL="0">
              <a:lnSpc>
                <a:spcPts val="1700"/>
              </a:lnSpc>
              <a:buNone/>
            </a:pPr>
            <a:r>
              <a:rPr lang="en-US" sz="1650" b="1" dirty="0">
                <a:solidFill>
                  <a:srgbClr val="2C7A6B"/>
                </a:solidFill>
                <a:latin typeface="Calibri" pitchFamily="34" charset="0"/>
                <a:ea typeface="Calibri" pitchFamily="34" charset="-122"/>
                <a:cs typeface="Calibri" pitchFamily="34" charset="-120"/>
              </a:rPr>
              <a:t>„Du siehst doch gut aus!“   </a:t>
            </a:r>
            <a:pPr indent="0" marL="0">
              <a:lnSpc>
                <a:spcPts val="1700"/>
              </a:lnSpc>
              <a:buNone/>
            </a:pPr>
            <a:r>
              <a:rPr lang="en-US" sz="1400" dirty="0">
                <a:solidFill>
                  <a:srgbClr val="5E736E"/>
                </a:solidFill>
                <a:latin typeface="Calibri" pitchFamily="34" charset="0"/>
                <a:ea typeface="Calibri" pitchFamily="34" charset="-122"/>
                <a:cs typeface="Calibri" pitchFamily="34" charset="-120"/>
              </a:rPr>
              <a:t>Bestätigt: ‚Du übertreibst.‘ Unsichtbar heißt nicht ungefährlich.</a:t>
            </a:r>
            <a:endParaRPr lang="en-US" sz="1650" dirty="0"/>
          </a:p>
        </p:txBody>
      </p:sp>
      <p:sp>
        <p:nvSpPr>
          <p:cNvPr id="16" name="Shape 11"/>
          <p:cNvSpPr/>
          <p:nvPr/>
        </p:nvSpPr>
        <p:spPr>
          <a:xfrm>
            <a:off x="566928" y="4251960"/>
            <a:ext cx="11057839" cy="713232"/>
          </a:xfrm>
          <a:prstGeom prst="roundRect">
            <a:avLst>
              <a:gd name="adj" fmla="val 14103"/>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7" name="Shape 12"/>
          <p:cNvSpPr/>
          <p:nvPr/>
        </p:nvSpPr>
        <p:spPr>
          <a:xfrm>
            <a:off x="841248" y="4416552"/>
            <a:ext cx="475488" cy="475488"/>
          </a:xfrm>
          <a:prstGeom prst="ellipse">
            <a:avLst/>
          </a:prstGeom>
          <a:solidFill>
            <a:srgbClr val="BC722A"/>
          </a:solidFill>
          <a:ln/>
        </p:spPr>
      </p:sp>
      <p:pic>
        <p:nvPicPr>
          <p:cNvPr id="18" name="Image 3" descr="preencoded.png">    </p:cNvPr>
          <p:cNvPicPr>
            <a:picLocks noChangeAspect="1"/>
          </p:cNvPicPr>
          <p:nvPr/>
        </p:nvPicPr>
        <p:blipFill>
          <a:blip r:embed="rId4"/>
          <a:stretch>
            <a:fillRect/>
          </a:stretch>
        </p:blipFill>
        <p:spPr>
          <a:xfrm>
            <a:off x="964875" y="4540179"/>
            <a:ext cx="228234" cy="228234"/>
          </a:xfrm>
          <a:prstGeom prst="rect">
            <a:avLst/>
          </a:prstGeom>
        </p:spPr>
      </p:pic>
      <p:sp>
        <p:nvSpPr>
          <p:cNvPr id="19" name="Text 13"/>
          <p:cNvSpPr/>
          <p:nvPr/>
        </p:nvSpPr>
        <p:spPr>
          <a:xfrm>
            <a:off x="1572768" y="4251960"/>
            <a:ext cx="9823399" cy="713232"/>
          </a:xfrm>
          <a:prstGeom prst="rect">
            <a:avLst/>
          </a:prstGeom>
          <a:noFill/>
          <a:ln/>
        </p:spPr>
        <p:txBody>
          <a:bodyPr wrap="square" rtlCol="0" anchor="ctr"/>
          <a:lstStyle/>
          <a:p>
            <a:pPr indent="0" marL="0">
              <a:lnSpc>
                <a:spcPts val="1700"/>
              </a:lnSpc>
              <a:buNone/>
            </a:pPr>
            <a:r>
              <a:rPr lang="en-US" sz="1650" b="1" dirty="0">
                <a:solidFill>
                  <a:srgbClr val="2C7A6B"/>
                </a:solidFill>
                <a:latin typeface="Calibri" pitchFamily="34" charset="0"/>
                <a:ea typeface="Calibri" pitchFamily="34" charset="-122"/>
                <a:cs typeface="Calibri" pitchFamily="34" charset="-120"/>
              </a:rPr>
              <a:t>Ungefragte Ratschläge   </a:t>
            </a:r>
            <a:pPr indent="0" marL="0">
              <a:lnSpc>
                <a:spcPts val="1700"/>
              </a:lnSpc>
              <a:buNone/>
            </a:pPr>
            <a:r>
              <a:rPr lang="en-US" sz="1400" dirty="0">
                <a:solidFill>
                  <a:srgbClr val="5E736E"/>
                </a:solidFill>
                <a:latin typeface="Calibri" pitchFamily="34" charset="0"/>
                <a:ea typeface="Calibri" pitchFamily="34" charset="-122"/>
                <a:cs typeface="Calibri" pitchFamily="34" charset="-120"/>
              </a:rPr>
              <a:t>„Mach mal Sport oder Urlaub“ überfordert und klingt nach Abwertung.</a:t>
            </a:r>
            <a:endParaRPr lang="en-US" sz="1650" dirty="0"/>
          </a:p>
        </p:txBody>
      </p:sp>
      <p:sp>
        <p:nvSpPr>
          <p:cNvPr id="20" name="Shape 14"/>
          <p:cNvSpPr/>
          <p:nvPr/>
        </p:nvSpPr>
        <p:spPr>
          <a:xfrm>
            <a:off x="566928" y="5074920"/>
            <a:ext cx="11057839" cy="713232"/>
          </a:xfrm>
          <a:prstGeom prst="roundRect">
            <a:avLst>
              <a:gd name="adj" fmla="val 14103"/>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1" name="Shape 15"/>
          <p:cNvSpPr/>
          <p:nvPr/>
        </p:nvSpPr>
        <p:spPr>
          <a:xfrm>
            <a:off x="841248" y="5239512"/>
            <a:ext cx="475488" cy="475488"/>
          </a:xfrm>
          <a:prstGeom prst="ellipse">
            <a:avLst/>
          </a:prstGeom>
          <a:solidFill>
            <a:srgbClr val="BC722A"/>
          </a:solidFill>
          <a:ln/>
        </p:spPr>
      </p:sp>
      <p:pic>
        <p:nvPicPr>
          <p:cNvPr id="22" name="Image 4" descr="preencoded.png">    </p:cNvPr>
          <p:cNvPicPr>
            <a:picLocks noChangeAspect="1"/>
          </p:cNvPicPr>
          <p:nvPr/>
        </p:nvPicPr>
        <p:blipFill>
          <a:blip r:embed="rId5"/>
          <a:stretch>
            <a:fillRect/>
          </a:stretch>
        </p:blipFill>
        <p:spPr>
          <a:xfrm>
            <a:off x="964875" y="5363139"/>
            <a:ext cx="228234" cy="228234"/>
          </a:xfrm>
          <a:prstGeom prst="rect">
            <a:avLst/>
          </a:prstGeom>
        </p:spPr>
      </p:pic>
      <p:sp>
        <p:nvSpPr>
          <p:cNvPr id="23" name="Text 16"/>
          <p:cNvSpPr/>
          <p:nvPr/>
        </p:nvSpPr>
        <p:spPr>
          <a:xfrm>
            <a:off x="1572768" y="5074920"/>
            <a:ext cx="9823399" cy="713232"/>
          </a:xfrm>
          <a:prstGeom prst="rect">
            <a:avLst/>
          </a:prstGeom>
          <a:noFill/>
          <a:ln/>
        </p:spPr>
        <p:txBody>
          <a:bodyPr wrap="square" rtlCol="0" anchor="ctr"/>
          <a:lstStyle/>
          <a:p>
            <a:pPr indent="0" marL="0">
              <a:lnSpc>
                <a:spcPts val="1700"/>
              </a:lnSpc>
              <a:buNone/>
            </a:pPr>
            <a:r>
              <a:rPr lang="en-US" sz="1650" b="1" dirty="0">
                <a:solidFill>
                  <a:srgbClr val="2C7A6B"/>
                </a:solidFill>
                <a:latin typeface="Calibri" pitchFamily="34" charset="0"/>
                <a:ea typeface="Calibri" pitchFamily="34" charset="-122"/>
                <a:cs typeface="Calibri" pitchFamily="34" charset="-120"/>
              </a:rPr>
              <a:t>Verschwinden aus Unsicherheit   </a:t>
            </a:r>
            <a:pPr indent="0" marL="0">
              <a:lnSpc>
                <a:spcPts val="1700"/>
              </a:lnSpc>
              <a:buNone/>
            </a:pPr>
            <a:r>
              <a:rPr lang="en-US" sz="1400" dirty="0">
                <a:solidFill>
                  <a:srgbClr val="5E736E"/>
                </a:solidFill>
                <a:latin typeface="Calibri" pitchFamily="34" charset="0"/>
                <a:ea typeface="Calibri" pitchFamily="34" charset="-122"/>
                <a:cs typeface="Calibri" pitchFamily="34" charset="-120"/>
              </a:rPr>
              <a:t>Rückzug fühlt sich für Betroffene wie Ablehnung an.</a:t>
            </a:r>
            <a:endParaRPr lang="en-US" sz="1650" dirty="0"/>
          </a:p>
        </p:txBody>
      </p:sp>
      <p:sp>
        <p:nvSpPr>
          <p:cNvPr id="25" name="Text 17"/>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18"/>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4 · WORTE, DIE TÜREN ÖFFNEN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Sag lieber … statt …</a:t>
            </a:r>
            <a:endParaRPr lang="en-US" sz="3400" dirty="0"/>
          </a:p>
        </p:txBody>
      </p:sp>
      <p:sp>
        <p:nvSpPr>
          <p:cNvPr id="4" name="Shape 2"/>
          <p:cNvSpPr/>
          <p:nvPr/>
        </p:nvSpPr>
        <p:spPr>
          <a:xfrm>
            <a:off x="566928" y="1783080"/>
            <a:ext cx="5391760" cy="566928"/>
          </a:xfrm>
          <a:prstGeom prst="roundRect">
            <a:avLst>
              <a:gd name="adj" fmla="val 11290"/>
            </a:avLst>
          </a:prstGeom>
          <a:solidFill>
            <a:srgbClr val="BC722A"/>
          </a:solidFill>
          <a:ln/>
        </p:spPr>
      </p:sp>
      <p:sp>
        <p:nvSpPr>
          <p:cNvPr id="5" name="Shape 3"/>
          <p:cNvSpPr/>
          <p:nvPr/>
        </p:nvSpPr>
        <p:spPr>
          <a:xfrm>
            <a:off x="6233008" y="1783080"/>
            <a:ext cx="5391760" cy="566928"/>
          </a:xfrm>
          <a:prstGeom prst="roundRect">
            <a:avLst>
              <a:gd name="adj" fmla="val 11290"/>
            </a:avLst>
          </a:prstGeom>
          <a:solidFill>
            <a:srgbClr val="2E9284"/>
          </a:solidFill>
          <a:ln/>
        </p:spPr>
      </p:sp>
      <p:sp>
        <p:nvSpPr>
          <p:cNvPr id="6" name="Text 4"/>
          <p:cNvSpPr/>
          <p:nvPr/>
        </p:nvSpPr>
        <p:spPr>
          <a:xfrm>
            <a:off x="566928" y="1783080"/>
            <a:ext cx="5391760" cy="56692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Statt …</a:t>
            </a:r>
            <a:endParaRPr lang="en-US" sz="1700" dirty="0"/>
          </a:p>
        </p:txBody>
      </p:sp>
      <p:sp>
        <p:nvSpPr>
          <p:cNvPr id="7" name="Text 5"/>
          <p:cNvSpPr/>
          <p:nvPr/>
        </p:nvSpPr>
        <p:spPr>
          <a:xfrm>
            <a:off x="6233008" y="1783080"/>
            <a:ext cx="5391760" cy="56692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Sag lieber …</a:t>
            </a:r>
            <a:endParaRPr lang="en-US" sz="1700" dirty="0"/>
          </a:p>
        </p:txBody>
      </p:sp>
      <p:sp>
        <p:nvSpPr>
          <p:cNvPr id="8" name="Shape 6"/>
          <p:cNvSpPr/>
          <p:nvPr/>
        </p:nvSpPr>
        <p:spPr>
          <a:xfrm>
            <a:off x="566928" y="2459736"/>
            <a:ext cx="5391760" cy="786384"/>
          </a:xfrm>
          <a:prstGeom prst="rect">
            <a:avLst/>
          </a:prstGeom>
          <a:solidFill>
            <a:srgbClr val="FFFFFF"/>
          </a:solidFill>
          <a:ln w="6350">
            <a:solidFill>
              <a:srgbClr val="D9E9E1"/>
            </a:solidFill>
            <a:prstDash val="solid"/>
          </a:ln>
        </p:spPr>
      </p:sp>
      <p:sp>
        <p:nvSpPr>
          <p:cNvPr id="9" name="Shape 7"/>
          <p:cNvSpPr/>
          <p:nvPr/>
        </p:nvSpPr>
        <p:spPr>
          <a:xfrm>
            <a:off x="6233008" y="2459736"/>
            <a:ext cx="5391760" cy="786384"/>
          </a:xfrm>
          <a:prstGeom prst="rect">
            <a:avLst/>
          </a:prstGeom>
          <a:solidFill>
            <a:srgbClr val="FFFFFF"/>
          </a:solidFill>
          <a:ln w="6350">
            <a:solidFill>
              <a:srgbClr val="D9E9E1"/>
            </a:solidFill>
            <a:prstDash val="solid"/>
          </a:ln>
        </p:spPr>
      </p:sp>
      <p:sp>
        <p:nvSpPr>
          <p:cNvPr id="10" name="Text 8"/>
          <p:cNvSpPr/>
          <p:nvPr/>
        </p:nvSpPr>
        <p:spPr>
          <a:xfrm>
            <a:off x="841248" y="2459736"/>
            <a:ext cx="4888840" cy="786384"/>
          </a:xfrm>
          <a:prstGeom prst="rect">
            <a:avLst/>
          </a:prstGeom>
          <a:noFill/>
          <a:ln/>
        </p:spPr>
        <p:txBody>
          <a:bodyPr wrap="square" rtlCol="0" anchor="ctr"/>
          <a:lstStyle/>
          <a:p>
            <a:pPr indent="0" marL="0">
              <a:buNone/>
            </a:pPr>
            <a:r>
              <a:rPr lang="en-US" sz="1600" i="1" dirty="0">
                <a:solidFill>
                  <a:srgbClr val="5E736E"/>
                </a:solidFill>
                <a:latin typeface="Calibri" pitchFamily="34" charset="0"/>
                <a:ea typeface="Calibri" pitchFamily="34" charset="-122"/>
                <a:cs typeface="Calibri" pitchFamily="34" charset="-120"/>
              </a:rPr>
              <a:t>„Das wird schon wieder.“</a:t>
            </a:r>
            <a:endParaRPr lang="en-US" sz="1600" dirty="0"/>
          </a:p>
        </p:txBody>
      </p:sp>
      <p:sp>
        <p:nvSpPr>
          <p:cNvPr id="11" name="Text 9"/>
          <p:cNvSpPr/>
          <p:nvPr/>
        </p:nvSpPr>
        <p:spPr>
          <a:xfrm>
            <a:off x="6507328" y="2459736"/>
            <a:ext cx="4888840" cy="786384"/>
          </a:xfrm>
          <a:prstGeom prst="rect">
            <a:avLst/>
          </a:prstGeom>
          <a:noFill/>
          <a:ln/>
        </p:spPr>
        <p:txBody>
          <a:bodyPr wrap="square" rtlCol="0" anchor="ctr"/>
          <a:lstStyle/>
          <a:p>
            <a:pPr indent="0" marL="0">
              <a:buNone/>
            </a:pPr>
            <a:r>
              <a:rPr lang="en-US" sz="1600" b="1" dirty="0">
                <a:solidFill>
                  <a:srgbClr val="2C7A6B"/>
                </a:solidFill>
                <a:latin typeface="Calibri" pitchFamily="34" charset="0"/>
                <a:ea typeface="Calibri" pitchFamily="34" charset="-122"/>
                <a:cs typeface="Calibri" pitchFamily="34" charset="-120"/>
              </a:rPr>
              <a:t>„Ich bin da – auch wenn’s dauert.“</a:t>
            </a:r>
            <a:endParaRPr lang="en-US" sz="1600" dirty="0"/>
          </a:p>
        </p:txBody>
      </p:sp>
      <p:sp>
        <p:nvSpPr>
          <p:cNvPr id="12" name="Shape 10"/>
          <p:cNvSpPr/>
          <p:nvPr/>
        </p:nvSpPr>
        <p:spPr>
          <a:xfrm>
            <a:off x="566928" y="3246120"/>
            <a:ext cx="5391760" cy="786384"/>
          </a:xfrm>
          <a:prstGeom prst="rect">
            <a:avLst/>
          </a:prstGeom>
          <a:solidFill>
            <a:srgbClr val="E6F2EC"/>
          </a:solidFill>
          <a:ln w="6350">
            <a:solidFill>
              <a:srgbClr val="D9E9E1"/>
            </a:solidFill>
            <a:prstDash val="solid"/>
          </a:ln>
        </p:spPr>
      </p:sp>
      <p:sp>
        <p:nvSpPr>
          <p:cNvPr id="13" name="Shape 11"/>
          <p:cNvSpPr/>
          <p:nvPr/>
        </p:nvSpPr>
        <p:spPr>
          <a:xfrm>
            <a:off x="6233008" y="3246120"/>
            <a:ext cx="5391760" cy="786384"/>
          </a:xfrm>
          <a:prstGeom prst="rect">
            <a:avLst/>
          </a:prstGeom>
          <a:solidFill>
            <a:srgbClr val="E6F2EC"/>
          </a:solidFill>
          <a:ln w="6350">
            <a:solidFill>
              <a:srgbClr val="D9E9E1"/>
            </a:solidFill>
            <a:prstDash val="solid"/>
          </a:ln>
        </p:spPr>
      </p:sp>
      <p:sp>
        <p:nvSpPr>
          <p:cNvPr id="14" name="Text 12"/>
          <p:cNvSpPr/>
          <p:nvPr/>
        </p:nvSpPr>
        <p:spPr>
          <a:xfrm>
            <a:off x="841248" y="3246120"/>
            <a:ext cx="4888840" cy="786384"/>
          </a:xfrm>
          <a:prstGeom prst="rect">
            <a:avLst/>
          </a:prstGeom>
          <a:noFill/>
          <a:ln/>
        </p:spPr>
        <p:txBody>
          <a:bodyPr wrap="square" rtlCol="0" anchor="ctr"/>
          <a:lstStyle/>
          <a:p>
            <a:pPr indent="0" marL="0">
              <a:buNone/>
            </a:pPr>
            <a:r>
              <a:rPr lang="en-US" sz="1600" i="1" dirty="0">
                <a:solidFill>
                  <a:srgbClr val="5E736E"/>
                </a:solidFill>
                <a:latin typeface="Calibri" pitchFamily="34" charset="0"/>
                <a:ea typeface="Calibri" pitchFamily="34" charset="-122"/>
                <a:cs typeface="Calibri" pitchFamily="34" charset="-120"/>
              </a:rPr>
              <a:t>„Denk positiv!“</a:t>
            </a:r>
            <a:endParaRPr lang="en-US" sz="1600" dirty="0"/>
          </a:p>
        </p:txBody>
      </p:sp>
      <p:sp>
        <p:nvSpPr>
          <p:cNvPr id="15" name="Text 13"/>
          <p:cNvSpPr/>
          <p:nvPr/>
        </p:nvSpPr>
        <p:spPr>
          <a:xfrm>
            <a:off x="6507328" y="3246120"/>
            <a:ext cx="4888840" cy="786384"/>
          </a:xfrm>
          <a:prstGeom prst="rect">
            <a:avLst/>
          </a:prstGeom>
          <a:noFill/>
          <a:ln/>
        </p:spPr>
        <p:txBody>
          <a:bodyPr wrap="square" rtlCol="0" anchor="ctr"/>
          <a:lstStyle/>
          <a:p>
            <a:pPr indent="0" marL="0">
              <a:buNone/>
            </a:pPr>
            <a:r>
              <a:rPr lang="en-US" sz="1600" b="1" dirty="0">
                <a:solidFill>
                  <a:srgbClr val="2C7A6B"/>
                </a:solidFill>
                <a:latin typeface="Calibri" pitchFamily="34" charset="0"/>
                <a:ea typeface="Calibri" pitchFamily="34" charset="-122"/>
                <a:cs typeface="Calibri" pitchFamily="34" charset="-120"/>
              </a:rPr>
              <a:t>„Du musst das nicht allein tragen.“</a:t>
            </a:r>
            <a:endParaRPr lang="en-US" sz="1600" dirty="0"/>
          </a:p>
        </p:txBody>
      </p:sp>
      <p:sp>
        <p:nvSpPr>
          <p:cNvPr id="16" name="Shape 14"/>
          <p:cNvSpPr/>
          <p:nvPr/>
        </p:nvSpPr>
        <p:spPr>
          <a:xfrm>
            <a:off x="566928" y="4032504"/>
            <a:ext cx="5391760" cy="786384"/>
          </a:xfrm>
          <a:prstGeom prst="rect">
            <a:avLst/>
          </a:prstGeom>
          <a:solidFill>
            <a:srgbClr val="FFFFFF"/>
          </a:solidFill>
          <a:ln w="6350">
            <a:solidFill>
              <a:srgbClr val="D9E9E1"/>
            </a:solidFill>
            <a:prstDash val="solid"/>
          </a:ln>
        </p:spPr>
      </p:sp>
      <p:sp>
        <p:nvSpPr>
          <p:cNvPr id="17" name="Shape 15"/>
          <p:cNvSpPr/>
          <p:nvPr/>
        </p:nvSpPr>
        <p:spPr>
          <a:xfrm>
            <a:off x="6233008" y="4032504"/>
            <a:ext cx="5391760" cy="786384"/>
          </a:xfrm>
          <a:prstGeom prst="rect">
            <a:avLst/>
          </a:prstGeom>
          <a:solidFill>
            <a:srgbClr val="FFFFFF"/>
          </a:solidFill>
          <a:ln w="6350">
            <a:solidFill>
              <a:srgbClr val="D9E9E1"/>
            </a:solidFill>
            <a:prstDash val="solid"/>
          </a:ln>
        </p:spPr>
      </p:sp>
      <p:sp>
        <p:nvSpPr>
          <p:cNvPr id="18" name="Text 16"/>
          <p:cNvSpPr/>
          <p:nvPr/>
        </p:nvSpPr>
        <p:spPr>
          <a:xfrm>
            <a:off x="841248" y="4032504"/>
            <a:ext cx="4888840" cy="786384"/>
          </a:xfrm>
          <a:prstGeom prst="rect">
            <a:avLst/>
          </a:prstGeom>
          <a:noFill/>
          <a:ln/>
        </p:spPr>
        <p:txBody>
          <a:bodyPr wrap="square" rtlCol="0" anchor="ctr"/>
          <a:lstStyle/>
          <a:p>
            <a:pPr indent="0" marL="0">
              <a:buNone/>
            </a:pPr>
            <a:r>
              <a:rPr lang="en-US" sz="1600" i="1" dirty="0">
                <a:solidFill>
                  <a:srgbClr val="5E736E"/>
                </a:solidFill>
                <a:latin typeface="Calibri" pitchFamily="34" charset="0"/>
                <a:ea typeface="Calibri" pitchFamily="34" charset="-122"/>
                <a:cs typeface="Calibri" pitchFamily="34" charset="-120"/>
              </a:rPr>
              <a:t>„Was hast du denn?“</a:t>
            </a:r>
            <a:endParaRPr lang="en-US" sz="1600" dirty="0"/>
          </a:p>
        </p:txBody>
      </p:sp>
      <p:sp>
        <p:nvSpPr>
          <p:cNvPr id="19" name="Text 17"/>
          <p:cNvSpPr/>
          <p:nvPr/>
        </p:nvSpPr>
        <p:spPr>
          <a:xfrm>
            <a:off x="6507328" y="4032504"/>
            <a:ext cx="4888840" cy="786384"/>
          </a:xfrm>
          <a:prstGeom prst="rect">
            <a:avLst/>
          </a:prstGeom>
          <a:noFill/>
          <a:ln/>
        </p:spPr>
        <p:txBody>
          <a:bodyPr wrap="square" rtlCol="0" anchor="ctr"/>
          <a:lstStyle/>
          <a:p>
            <a:pPr indent="0" marL="0">
              <a:buNone/>
            </a:pPr>
            <a:r>
              <a:rPr lang="en-US" sz="1600" b="1" dirty="0">
                <a:solidFill>
                  <a:srgbClr val="2C7A6B"/>
                </a:solidFill>
                <a:latin typeface="Calibri" pitchFamily="34" charset="0"/>
                <a:ea typeface="Calibri" pitchFamily="34" charset="-122"/>
                <a:cs typeface="Calibri" pitchFamily="34" charset="-120"/>
              </a:rPr>
              <a:t>„Magst du erzählen, wie es dir geht?“</a:t>
            </a:r>
            <a:endParaRPr lang="en-US" sz="1600" dirty="0"/>
          </a:p>
        </p:txBody>
      </p:sp>
      <p:sp>
        <p:nvSpPr>
          <p:cNvPr id="20" name="Shape 18"/>
          <p:cNvSpPr/>
          <p:nvPr/>
        </p:nvSpPr>
        <p:spPr>
          <a:xfrm>
            <a:off x="566928" y="4818888"/>
            <a:ext cx="5391760" cy="786384"/>
          </a:xfrm>
          <a:prstGeom prst="rect">
            <a:avLst/>
          </a:prstGeom>
          <a:solidFill>
            <a:srgbClr val="E6F2EC"/>
          </a:solidFill>
          <a:ln w="6350">
            <a:solidFill>
              <a:srgbClr val="D9E9E1"/>
            </a:solidFill>
            <a:prstDash val="solid"/>
          </a:ln>
        </p:spPr>
      </p:sp>
      <p:sp>
        <p:nvSpPr>
          <p:cNvPr id="21" name="Shape 19"/>
          <p:cNvSpPr/>
          <p:nvPr/>
        </p:nvSpPr>
        <p:spPr>
          <a:xfrm>
            <a:off x="6233008" y="4818888"/>
            <a:ext cx="5391760" cy="786384"/>
          </a:xfrm>
          <a:prstGeom prst="rect">
            <a:avLst/>
          </a:prstGeom>
          <a:solidFill>
            <a:srgbClr val="E6F2EC"/>
          </a:solidFill>
          <a:ln w="6350">
            <a:solidFill>
              <a:srgbClr val="D9E9E1"/>
            </a:solidFill>
            <a:prstDash val="solid"/>
          </a:ln>
        </p:spPr>
      </p:sp>
      <p:sp>
        <p:nvSpPr>
          <p:cNvPr id="22" name="Text 20"/>
          <p:cNvSpPr/>
          <p:nvPr/>
        </p:nvSpPr>
        <p:spPr>
          <a:xfrm>
            <a:off x="841248" y="4818888"/>
            <a:ext cx="4888840" cy="786384"/>
          </a:xfrm>
          <a:prstGeom prst="rect">
            <a:avLst/>
          </a:prstGeom>
          <a:noFill/>
          <a:ln/>
        </p:spPr>
        <p:txBody>
          <a:bodyPr wrap="square" rtlCol="0" anchor="ctr"/>
          <a:lstStyle/>
          <a:p>
            <a:pPr indent="0" marL="0">
              <a:buNone/>
            </a:pPr>
            <a:r>
              <a:rPr lang="en-US" sz="1600" i="1" dirty="0">
                <a:solidFill>
                  <a:srgbClr val="5E736E"/>
                </a:solidFill>
                <a:latin typeface="Calibri" pitchFamily="34" charset="0"/>
                <a:ea typeface="Calibri" pitchFamily="34" charset="-122"/>
                <a:cs typeface="Calibri" pitchFamily="34" charset="-120"/>
              </a:rPr>
              <a:t>„Reiß dich zusammen.“</a:t>
            </a:r>
            <a:endParaRPr lang="en-US" sz="1600" dirty="0"/>
          </a:p>
        </p:txBody>
      </p:sp>
      <p:sp>
        <p:nvSpPr>
          <p:cNvPr id="23" name="Text 21"/>
          <p:cNvSpPr/>
          <p:nvPr/>
        </p:nvSpPr>
        <p:spPr>
          <a:xfrm>
            <a:off x="6507328" y="4818888"/>
            <a:ext cx="4888840" cy="786384"/>
          </a:xfrm>
          <a:prstGeom prst="rect">
            <a:avLst/>
          </a:prstGeom>
          <a:noFill/>
          <a:ln/>
        </p:spPr>
        <p:txBody>
          <a:bodyPr wrap="square" rtlCol="0" anchor="ctr"/>
          <a:lstStyle/>
          <a:p>
            <a:pPr indent="0" marL="0">
              <a:buNone/>
            </a:pPr>
            <a:r>
              <a:rPr lang="en-US" sz="1600" b="1" dirty="0">
                <a:solidFill>
                  <a:srgbClr val="2C7A6B"/>
                </a:solidFill>
                <a:latin typeface="Calibri" pitchFamily="34" charset="0"/>
                <a:ea typeface="Calibri" pitchFamily="34" charset="-122"/>
                <a:cs typeface="Calibri" pitchFamily="34" charset="-120"/>
              </a:rPr>
              <a:t>„Was würde dir gerade helfen?“</a:t>
            </a:r>
            <a:endParaRPr lang="en-US" sz="1600" dirty="0"/>
          </a:p>
        </p:txBody>
      </p:sp>
      <p:sp>
        <p:nvSpPr>
          <p:cNvPr id="25" name="Text 22"/>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6" name="Text 23"/>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4 · DIE WICHTIGSTE FÄHIGKEIT</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Aktiv zuhören – so geht’s</a:t>
            </a:r>
            <a:endParaRPr lang="en-US" sz="3400" dirty="0"/>
          </a:p>
        </p:txBody>
      </p:sp>
      <p:sp>
        <p:nvSpPr>
          <p:cNvPr id="4" name="Shape 2"/>
          <p:cNvSpPr/>
          <p:nvPr/>
        </p:nvSpPr>
        <p:spPr>
          <a:xfrm>
            <a:off x="566928" y="1783080"/>
            <a:ext cx="5394960" cy="1691640"/>
          </a:xfrm>
          <a:prstGeom prst="roundRect">
            <a:avLst>
              <a:gd name="adj" fmla="val 594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240280"/>
            <a:ext cx="777240" cy="77724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1089050" y="2442362"/>
            <a:ext cx="373075" cy="373075"/>
          </a:xfrm>
          <a:prstGeom prst="rect">
            <a:avLst/>
          </a:prstGeom>
        </p:spPr>
      </p:pic>
      <p:sp>
        <p:nvSpPr>
          <p:cNvPr id="7" name="Text 4"/>
          <p:cNvSpPr/>
          <p:nvPr/>
        </p:nvSpPr>
        <p:spPr>
          <a:xfrm>
            <a:off x="1892808" y="2103120"/>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Zuwenden</a:t>
            </a:r>
            <a:endParaRPr lang="en-US" sz="1800" dirty="0"/>
          </a:p>
        </p:txBody>
      </p:sp>
      <p:sp>
        <p:nvSpPr>
          <p:cNvPr id="8" name="Text 5"/>
          <p:cNvSpPr/>
          <p:nvPr/>
        </p:nvSpPr>
        <p:spPr>
          <a:xfrm>
            <a:off x="1892808" y="2606040"/>
            <a:ext cx="3840480" cy="73152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Blickkontakt, Handy weg, Zeit schenken. Präsenz spürbar machen.</a:t>
            </a:r>
            <a:endParaRPr lang="en-US" sz="1350" dirty="0"/>
          </a:p>
        </p:txBody>
      </p:sp>
      <p:sp>
        <p:nvSpPr>
          <p:cNvPr id="9" name="Shape 6"/>
          <p:cNvSpPr/>
          <p:nvPr/>
        </p:nvSpPr>
        <p:spPr>
          <a:xfrm>
            <a:off x="6281928" y="1783080"/>
            <a:ext cx="5394960" cy="1691640"/>
          </a:xfrm>
          <a:prstGeom prst="roundRect">
            <a:avLst>
              <a:gd name="adj" fmla="val 594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6601968" y="2240280"/>
            <a:ext cx="777240" cy="777240"/>
          </a:xfrm>
          <a:prstGeom prst="ellipse">
            <a:avLst/>
          </a:prstGeom>
          <a:solidFill>
            <a:srgbClr val="2E9284"/>
          </a:solidFill>
          <a:ln/>
        </p:spPr>
      </p:sp>
      <p:pic>
        <p:nvPicPr>
          <p:cNvPr id="11" name="Image 1" descr="preencoded.png">    </p:cNvPr>
          <p:cNvPicPr>
            <a:picLocks noChangeAspect="1"/>
          </p:cNvPicPr>
          <p:nvPr/>
        </p:nvPicPr>
        <p:blipFill>
          <a:blip r:embed="rId2"/>
          <a:stretch>
            <a:fillRect/>
          </a:stretch>
        </p:blipFill>
        <p:spPr>
          <a:xfrm>
            <a:off x="6804050" y="2442362"/>
            <a:ext cx="373075" cy="373075"/>
          </a:xfrm>
          <a:prstGeom prst="rect">
            <a:avLst/>
          </a:prstGeom>
        </p:spPr>
      </p:pic>
      <p:sp>
        <p:nvSpPr>
          <p:cNvPr id="12" name="Text 8"/>
          <p:cNvSpPr/>
          <p:nvPr/>
        </p:nvSpPr>
        <p:spPr>
          <a:xfrm>
            <a:off x="7607808" y="2103120"/>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Spiegeln</a:t>
            </a:r>
            <a:endParaRPr lang="en-US" sz="1800" dirty="0"/>
          </a:p>
        </p:txBody>
      </p:sp>
      <p:sp>
        <p:nvSpPr>
          <p:cNvPr id="13" name="Text 9"/>
          <p:cNvSpPr/>
          <p:nvPr/>
        </p:nvSpPr>
        <p:spPr>
          <a:xfrm>
            <a:off x="7607808" y="2606040"/>
            <a:ext cx="3840480" cy="73152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„Wenn ich dich richtig verstehe, fühlst du dich …“ Kurz zusammenfassen.</a:t>
            </a:r>
            <a:endParaRPr lang="en-US" sz="1350" dirty="0"/>
          </a:p>
        </p:txBody>
      </p:sp>
      <p:sp>
        <p:nvSpPr>
          <p:cNvPr id="14" name="Shape 10"/>
          <p:cNvSpPr/>
          <p:nvPr/>
        </p:nvSpPr>
        <p:spPr>
          <a:xfrm>
            <a:off x="566928" y="3749040"/>
            <a:ext cx="5394960" cy="1691640"/>
          </a:xfrm>
          <a:prstGeom prst="roundRect">
            <a:avLst>
              <a:gd name="adj" fmla="val 594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86968" y="4206240"/>
            <a:ext cx="777240" cy="777240"/>
          </a:xfrm>
          <a:prstGeom prst="ellipse">
            <a:avLst/>
          </a:prstGeom>
          <a:solidFill>
            <a:srgbClr val="2E9284"/>
          </a:solidFill>
          <a:ln/>
        </p:spPr>
      </p:sp>
      <p:pic>
        <p:nvPicPr>
          <p:cNvPr id="16" name="Image 2" descr="preencoded.png">    </p:cNvPr>
          <p:cNvPicPr>
            <a:picLocks noChangeAspect="1"/>
          </p:cNvPicPr>
          <p:nvPr/>
        </p:nvPicPr>
        <p:blipFill>
          <a:blip r:embed="rId3"/>
          <a:stretch>
            <a:fillRect/>
          </a:stretch>
        </p:blipFill>
        <p:spPr>
          <a:xfrm>
            <a:off x="1089050" y="4408322"/>
            <a:ext cx="373075" cy="373075"/>
          </a:xfrm>
          <a:prstGeom prst="rect">
            <a:avLst/>
          </a:prstGeom>
        </p:spPr>
      </p:pic>
      <p:sp>
        <p:nvSpPr>
          <p:cNvPr id="17" name="Text 12"/>
          <p:cNvSpPr/>
          <p:nvPr/>
        </p:nvSpPr>
        <p:spPr>
          <a:xfrm>
            <a:off x="1892808" y="4069080"/>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Pausen aushalten</a:t>
            </a:r>
            <a:endParaRPr lang="en-US" sz="1800" dirty="0"/>
          </a:p>
        </p:txBody>
      </p:sp>
      <p:sp>
        <p:nvSpPr>
          <p:cNvPr id="18" name="Text 13"/>
          <p:cNvSpPr/>
          <p:nvPr/>
        </p:nvSpPr>
        <p:spPr>
          <a:xfrm>
            <a:off x="1892808" y="4572000"/>
            <a:ext cx="3840480" cy="73152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Schweigen zulassen. Nicht sofort füllen – Raum geben.</a:t>
            </a:r>
            <a:endParaRPr lang="en-US" sz="1350" dirty="0"/>
          </a:p>
        </p:txBody>
      </p:sp>
      <p:sp>
        <p:nvSpPr>
          <p:cNvPr id="19" name="Shape 14"/>
          <p:cNvSpPr/>
          <p:nvPr/>
        </p:nvSpPr>
        <p:spPr>
          <a:xfrm>
            <a:off x="6281928" y="3749040"/>
            <a:ext cx="5394960" cy="1691640"/>
          </a:xfrm>
          <a:prstGeom prst="roundRect">
            <a:avLst>
              <a:gd name="adj" fmla="val 5946"/>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6601968" y="4206240"/>
            <a:ext cx="777240" cy="777240"/>
          </a:xfrm>
          <a:prstGeom prst="ellipse">
            <a:avLst/>
          </a:prstGeom>
          <a:solidFill>
            <a:srgbClr val="2E9284"/>
          </a:solidFill>
          <a:ln/>
        </p:spPr>
      </p:sp>
      <p:pic>
        <p:nvPicPr>
          <p:cNvPr id="21" name="Image 3" descr="preencoded.png">    </p:cNvPr>
          <p:cNvPicPr>
            <a:picLocks noChangeAspect="1"/>
          </p:cNvPicPr>
          <p:nvPr/>
        </p:nvPicPr>
        <p:blipFill>
          <a:blip r:embed="rId4"/>
          <a:stretch>
            <a:fillRect/>
          </a:stretch>
        </p:blipFill>
        <p:spPr>
          <a:xfrm>
            <a:off x="6804050" y="4408322"/>
            <a:ext cx="373075" cy="373075"/>
          </a:xfrm>
          <a:prstGeom prst="rect">
            <a:avLst/>
          </a:prstGeom>
        </p:spPr>
      </p:pic>
      <p:sp>
        <p:nvSpPr>
          <p:cNvPr id="22" name="Text 16"/>
          <p:cNvSpPr/>
          <p:nvPr/>
        </p:nvSpPr>
        <p:spPr>
          <a:xfrm>
            <a:off x="7607808" y="4069080"/>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Nicht bewerten</a:t>
            </a:r>
            <a:endParaRPr lang="en-US" sz="1800" dirty="0"/>
          </a:p>
        </p:txBody>
      </p:sp>
      <p:sp>
        <p:nvSpPr>
          <p:cNvPr id="23" name="Text 17"/>
          <p:cNvSpPr/>
          <p:nvPr/>
        </p:nvSpPr>
        <p:spPr>
          <a:xfrm>
            <a:off x="7607808" y="4572000"/>
            <a:ext cx="3840480" cy="73152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Kein „aber“, kein Ratschlag. Erst verstehen, nicht lösen.</a:t>
            </a:r>
            <a:endParaRPr lang="en-US" sz="1350" dirty="0"/>
          </a:p>
        </p:txBody>
      </p:sp>
      <p:sp>
        <p:nvSpPr>
          <p:cNvPr id="24" name="Text 18"/>
          <p:cNvSpPr/>
          <p:nvPr/>
        </p:nvSpPr>
        <p:spPr>
          <a:xfrm>
            <a:off x="566928" y="5943600"/>
            <a:ext cx="11057839" cy="457200"/>
          </a:xfrm>
          <a:prstGeom prst="rect">
            <a:avLst/>
          </a:prstGeom>
          <a:noFill/>
          <a:ln/>
        </p:spPr>
        <p:txBody>
          <a:bodyPr wrap="square" rtlCol="0" anchor="ctr"/>
          <a:lstStyle/>
          <a:p>
            <a:pPr algn="ctr" indent="0" marL="0">
              <a:buNone/>
            </a:pPr>
            <a:r>
              <a:rPr lang="en-US" sz="1450" i="1" dirty="0">
                <a:solidFill>
                  <a:srgbClr val="2E9284"/>
                </a:solidFill>
                <a:latin typeface="Calibri" pitchFamily="34" charset="0"/>
                <a:ea typeface="Calibri" pitchFamily="34" charset="-122"/>
                <a:cs typeface="Calibri" pitchFamily="34" charset="-120"/>
              </a:rPr>
              <a:t>Faustregel: 80 % zuhören, 20 % reden. Wer sich verstanden fühlt, ist schon ein Stück weniger allein.</a:t>
            </a:r>
            <a:endParaRPr lang="en-US" sz="1450" dirty="0"/>
          </a:p>
        </p:txBody>
      </p:sp>
      <p:sp>
        <p:nvSpPr>
          <p:cNvPr id="26" name="Text 19"/>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7" name="Text 20"/>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4000"/>
            </a:srgbClr>
          </a:solidFill>
          <a:ln/>
        </p:spPr>
      </p:sp>
      <p:sp>
        <p:nvSpPr>
          <p:cNvPr id="4" name="Shape 1"/>
          <p:cNvSpPr/>
          <p:nvPr/>
        </p:nvSpPr>
        <p:spPr>
          <a:xfrm>
            <a:off x="0" y="0"/>
            <a:ext cx="12191695" cy="6858000"/>
          </a:xfrm>
          <a:prstGeom prst="rect">
            <a:avLst/>
          </a:prstGeom>
          <a:solidFill>
            <a:srgbClr val="24685C">
              <a:alpha val="88000"/>
            </a:srgbClr>
          </a:solidFill>
          <a:ln/>
        </p:spPr>
      </p:sp>
      <p:sp>
        <p:nvSpPr>
          <p:cNvPr id="5" name="Text 2"/>
          <p:cNvSpPr/>
          <p:nvPr/>
        </p:nvSpPr>
        <p:spPr>
          <a:xfrm>
            <a:off x="566928" y="502920"/>
            <a:ext cx="100584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MODUL 4 · SELBSTSCHUTZ</a:t>
            </a:r>
            <a:endParaRPr lang="en-US" sz="1250" dirty="0"/>
          </a:p>
        </p:txBody>
      </p:sp>
      <p:sp>
        <p:nvSpPr>
          <p:cNvPr id="6" name="Text 3"/>
          <p:cNvSpPr/>
          <p:nvPr/>
        </p:nvSpPr>
        <p:spPr>
          <a:xfrm>
            <a:off x="566928" y="822960"/>
            <a:ext cx="10972800" cy="640080"/>
          </a:xfrm>
          <a:prstGeom prst="rect">
            <a:avLst/>
          </a:prstGeom>
          <a:noFill/>
          <a:ln/>
        </p:spPr>
        <p:txBody>
          <a:bodyPr wrap="square"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Helfen, ohne selbst unterzugehen</a:t>
            </a:r>
            <a:endParaRPr lang="en-US" sz="2900" dirty="0"/>
          </a:p>
        </p:txBody>
      </p:sp>
      <p:sp>
        <p:nvSpPr>
          <p:cNvPr id="7" name="Shape 4"/>
          <p:cNvSpPr/>
          <p:nvPr/>
        </p:nvSpPr>
        <p:spPr>
          <a:xfrm>
            <a:off x="566928" y="1828800"/>
            <a:ext cx="5394960" cy="1572768"/>
          </a:xfrm>
          <a:prstGeom prst="roundRect">
            <a:avLst>
              <a:gd name="adj" fmla="val 5814"/>
            </a:avLst>
          </a:prstGeom>
          <a:solidFill>
            <a:srgbClr val="FFFFFF">
              <a:alpha val="92000"/>
            </a:srgbClr>
          </a:solidFill>
          <a:ln/>
        </p:spPr>
      </p:sp>
      <p:sp>
        <p:nvSpPr>
          <p:cNvPr id="8" name="Shape 5"/>
          <p:cNvSpPr/>
          <p:nvPr/>
        </p:nvSpPr>
        <p:spPr>
          <a:xfrm>
            <a:off x="886968" y="2249424"/>
            <a:ext cx="731520" cy="731520"/>
          </a:xfrm>
          <a:prstGeom prst="ellipse">
            <a:avLst/>
          </a:prstGeom>
          <a:solidFill>
            <a:srgbClr val="6FBE9C"/>
          </a:solidFill>
          <a:ln/>
        </p:spPr>
      </p:sp>
      <p:pic>
        <p:nvPicPr>
          <p:cNvPr id="9" name="Image 1" descr="preencoded.png">    </p:cNvPr>
          <p:cNvPicPr>
            <a:picLocks noChangeAspect="1"/>
          </p:cNvPicPr>
          <p:nvPr/>
        </p:nvPicPr>
        <p:blipFill>
          <a:blip r:embed="rId2"/>
          <a:stretch>
            <a:fillRect/>
          </a:stretch>
        </p:blipFill>
        <p:spPr>
          <a:xfrm>
            <a:off x="1077163" y="2439619"/>
            <a:ext cx="351130" cy="351130"/>
          </a:xfrm>
          <a:prstGeom prst="rect">
            <a:avLst/>
          </a:prstGeom>
        </p:spPr>
      </p:pic>
      <p:sp>
        <p:nvSpPr>
          <p:cNvPr id="10" name="Text 6"/>
          <p:cNvSpPr/>
          <p:nvPr/>
        </p:nvSpPr>
        <p:spPr>
          <a:xfrm>
            <a:off x="1801368" y="2103120"/>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Sie sind nicht die Therapie</a:t>
            </a:r>
            <a:endParaRPr lang="en-US" sz="1700" dirty="0"/>
          </a:p>
        </p:txBody>
      </p:sp>
      <p:sp>
        <p:nvSpPr>
          <p:cNvPr id="11" name="Text 7"/>
          <p:cNvSpPr/>
          <p:nvPr/>
        </p:nvSpPr>
        <p:spPr>
          <a:xfrm>
            <a:off x="1801368" y="2596896"/>
            <a:ext cx="3931920" cy="68580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Sie sind Brücke zur Hilfe – nicht die Behandlung selbst.</a:t>
            </a:r>
            <a:endParaRPr lang="en-US" sz="1350" dirty="0"/>
          </a:p>
        </p:txBody>
      </p:sp>
      <p:sp>
        <p:nvSpPr>
          <p:cNvPr id="12" name="Shape 8"/>
          <p:cNvSpPr/>
          <p:nvPr/>
        </p:nvSpPr>
        <p:spPr>
          <a:xfrm>
            <a:off x="6281928" y="1828800"/>
            <a:ext cx="5394960" cy="1572768"/>
          </a:xfrm>
          <a:prstGeom prst="roundRect">
            <a:avLst>
              <a:gd name="adj" fmla="val 5814"/>
            </a:avLst>
          </a:prstGeom>
          <a:solidFill>
            <a:srgbClr val="FFFFFF">
              <a:alpha val="92000"/>
            </a:srgbClr>
          </a:solidFill>
          <a:ln/>
        </p:spPr>
      </p:sp>
      <p:sp>
        <p:nvSpPr>
          <p:cNvPr id="13" name="Shape 9"/>
          <p:cNvSpPr/>
          <p:nvPr/>
        </p:nvSpPr>
        <p:spPr>
          <a:xfrm>
            <a:off x="6601968" y="2249424"/>
            <a:ext cx="731520" cy="731520"/>
          </a:xfrm>
          <a:prstGeom prst="ellipse">
            <a:avLst/>
          </a:prstGeom>
          <a:solidFill>
            <a:srgbClr val="6FBE9C"/>
          </a:solidFill>
          <a:ln/>
        </p:spPr>
      </p:sp>
      <p:pic>
        <p:nvPicPr>
          <p:cNvPr id="14" name="Image 2" descr="preencoded.png">    </p:cNvPr>
          <p:cNvPicPr>
            <a:picLocks noChangeAspect="1"/>
          </p:cNvPicPr>
          <p:nvPr/>
        </p:nvPicPr>
        <p:blipFill>
          <a:blip r:embed="rId3"/>
          <a:stretch>
            <a:fillRect/>
          </a:stretch>
        </p:blipFill>
        <p:spPr>
          <a:xfrm>
            <a:off x="6792163" y="2439619"/>
            <a:ext cx="351130" cy="351130"/>
          </a:xfrm>
          <a:prstGeom prst="rect">
            <a:avLst/>
          </a:prstGeom>
        </p:spPr>
      </p:pic>
      <p:sp>
        <p:nvSpPr>
          <p:cNvPr id="15" name="Text 10"/>
          <p:cNvSpPr/>
          <p:nvPr/>
        </p:nvSpPr>
        <p:spPr>
          <a:xfrm>
            <a:off x="7516368" y="2103120"/>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Grenzen sind erlaubt</a:t>
            </a:r>
            <a:endParaRPr lang="en-US" sz="1700" dirty="0"/>
          </a:p>
        </p:txBody>
      </p:sp>
      <p:sp>
        <p:nvSpPr>
          <p:cNvPr id="16" name="Text 11"/>
          <p:cNvSpPr/>
          <p:nvPr/>
        </p:nvSpPr>
        <p:spPr>
          <a:xfrm>
            <a:off x="7516368" y="2596896"/>
            <a:ext cx="3931920" cy="68580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„Ich kann heute nicht, morgen wieder.“ Das ist kein Verrat.</a:t>
            </a:r>
            <a:endParaRPr lang="en-US" sz="1350" dirty="0"/>
          </a:p>
        </p:txBody>
      </p:sp>
      <p:sp>
        <p:nvSpPr>
          <p:cNvPr id="17" name="Shape 12"/>
          <p:cNvSpPr/>
          <p:nvPr/>
        </p:nvSpPr>
        <p:spPr>
          <a:xfrm>
            <a:off x="566928" y="3675888"/>
            <a:ext cx="5394960" cy="1572768"/>
          </a:xfrm>
          <a:prstGeom prst="roundRect">
            <a:avLst>
              <a:gd name="adj" fmla="val 5814"/>
            </a:avLst>
          </a:prstGeom>
          <a:solidFill>
            <a:srgbClr val="FFFFFF">
              <a:alpha val="92000"/>
            </a:srgbClr>
          </a:solidFill>
          <a:ln/>
        </p:spPr>
      </p:sp>
      <p:sp>
        <p:nvSpPr>
          <p:cNvPr id="18" name="Shape 13"/>
          <p:cNvSpPr/>
          <p:nvPr/>
        </p:nvSpPr>
        <p:spPr>
          <a:xfrm>
            <a:off x="886968" y="4096512"/>
            <a:ext cx="731520" cy="731520"/>
          </a:xfrm>
          <a:prstGeom prst="ellipse">
            <a:avLst/>
          </a:prstGeom>
          <a:solidFill>
            <a:srgbClr val="6FBE9C"/>
          </a:solidFill>
          <a:ln/>
        </p:spPr>
      </p:sp>
      <p:pic>
        <p:nvPicPr>
          <p:cNvPr id="19" name="Image 3" descr="preencoded.png">    </p:cNvPr>
          <p:cNvPicPr>
            <a:picLocks noChangeAspect="1"/>
          </p:cNvPicPr>
          <p:nvPr/>
        </p:nvPicPr>
        <p:blipFill>
          <a:blip r:embed="rId4"/>
          <a:stretch>
            <a:fillRect/>
          </a:stretch>
        </p:blipFill>
        <p:spPr>
          <a:xfrm>
            <a:off x="1077163" y="4286707"/>
            <a:ext cx="351130" cy="351130"/>
          </a:xfrm>
          <a:prstGeom prst="rect">
            <a:avLst/>
          </a:prstGeom>
        </p:spPr>
      </p:pic>
      <p:sp>
        <p:nvSpPr>
          <p:cNvPr id="20" name="Text 14"/>
          <p:cNvSpPr/>
          <p:nvPr/>
        </p:nvSpPr>
        <p:spPr>
          <a:xfrm>
            <a:off x="1801368" y="3950208"/>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Auf sich selbst achten</a:t>
            </a:r>
            <a:endParaRPr lang="en-US" sz="1700" dirty="0"/>
          </a:p>
        </p:txBody>
      </p:sp>
      <p:sp>
        <p:nvSpPr>
          <p:cNvPr id="21" name="Text 15"/>
          <p:cNvSpPr/>
          <p:nvPr/>
        </p:nvSpPr>
        <p:spPr>
          <a:xfrm>
            <a:off x="1801368" y="4443984"/>
            <a:ext cx="3931920" cy="68580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Nur ein aufgeladener Akku kann anderen Strom geben.</a:t>
            </a:r>
            <a:endParaRPr lang="en-US" sz="1350" dirty="0"/>
          </a:p>
        </p:txBody>
      </p:sp>
      <p:sp>
        <p:nvSpPr>
          <p:cNvPr id="22" name="Shape 16"/>
          <p:cNvSpPr/>
          <p:nvPr/>
        </p:nvSpPr>
        <p:spPr>
          <a:xfrm>
            <a:off x="6281928" y="3675888"/>
            <a:ext cx="5394960" cy="1572768"/>
          </a:xfrm>
          <a:prstGeom prst="roundRect">
            <a:avLst>
              <a:gd name="adj" fmla="val 5814"/>
            </a:avLst>
          </a:prstGeom>
          <a:solidFill>
            <a:srgbClr val="FFFFFF">
              <a:alpha val="92000"/>
            </a:srgbClr>
          </a:solidFill>
          <a:ln/>
        </p:spPr>
      </p:sp>
      <p:sp>
        <p:nvSpPr>
          <p:cNvPr id="23" name="Shape 17"/>
          <p:cNvSpPr/>
          <p:nvPr/>
        </p:nvSpPr>
        <p:spPr>
          <a:xfrm>
            <a:off x="6601968" y="4096512"/>
            <a:ext cx="731520" cy="731520"/>
          </a:xfrm>
          <a:prstGeom prst="ellipse">
            <a:avLst/>
          </a:prstGeom>
          <a:solidFill>
            <a:srgbClr val="E89A45"/>
          </a:solidFill>
          <a:ln/>
        </p:spPr>
      </p:sp>
      <p:pic>
        <p:nvPicPr>
          <p:cNvPr id="24" name="Image 4" descr="preencoded.png">    </p:cNvPr>
          <p:cNvPicPr>
            <a:picLocks noChangeAspect="1"/>
          </p:cNvPicPr>
          <p:nvPr/>
        </p:nvPicPr>
        <p:blipFill>
          <a:blip r:embed="rId5"/>
          <a:stretch>
            <a:fillRect/>
          </a:stretch>
        </p:blipFill>
        <p:spPr>
          <a:xfrm>
            <a:off x="6792163" y="4286707"/>
            <a:ext cx="351130" cy="351130"/>
          </a:xfrm>
          <a:prstGeom prst="rect">
            <a:avLst/>
          </a:prstGeom>
        </p:spPr>
      </p:pic>
      <p:sp>
        <p:nvSpPr>
          <p:cNvPr id="25" name="Text 18"/>
          <p:cNvSpPr/>
          <p:nvPr/>
        </p:nvSpPr>
        <p:spPr>
          <a:xfrm>
            <a:off x="7516368" y="3950208"/>
            <a:ext cx="393192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Notfall erkennen</a:t>
            </a:r>
            <a:endParaRPr lang="en-US" sz="1700" dirty="0"/>
          </a:p>
        </p:txBody>
      </p:sp>
      <p:sp>
        <p:nvSpPr>
          <p:cNvPr id="26" name="Text 19"/>
          <p:cNvSpPr/>
          <p:nvPr/>
        </p:nvSpPr>
        <p:spPr>
          <a:xfrm>
            <a:off x="7516368" y="4443984"/>
            <a:ext cx="3931920" cy="68580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Bei Suizidgedanken: direkt ansprechen und Profis holen (144 / 142).</a:t>
            </a:r>
            <a:endParaRPr lang="en-US" sz="1350" dirty="0"/>
          </a:p>
        </p:txBody>
      </p:sp>
      <p:sp>
        <p:nvSpPr>
          <p:cNvPr id="27" name="Text 20"/>
          <p:cNvSpPr/>
          <p:nvPr/>
        </p:nvSpPr>
        <p:spPr>
          <a:xfrm>
            <a:off x="566928" y="5989320"/>
            <a:ext cx="11057839" cy="411480"/>
          </a:xfrm>
          <a:prstGeom prst="rect">
            <a:avLst/>
          </a:prstGeom>
          <a:noFill/>
          <a:ln/>
        </p:spPr>
        <p:txBody>
          <a:bodyPr wrap="square" rtlCol="0" anchor="ctr"/>
          <a:lstStyle/>
          <a:p>
            <a:pPr algn="ctr" indent="0" marL="0">
              <a:buNone/>
            </a:pPr>
            <a:r>
              <a:rPr lang="en-US" sz="1400" b="1" dirty="0">
                <a:solidFill>
                  <a:srgbClr val="FFE7C9"/>
                </a:solidFill>
                <a:latin typeface="Calibri" pitchFamily="34" charset="0"/>
                <a:ea typeface="Calibri" pitchFamily="34" charset="-122"/>
                <a:cs typeface="Calibri" pitchFamily="34" charset="-120"/>
              </a:rPr>
              <a:t>Bei akuter Gefahr zählt kein Zartgefühl: Rettung 144 · Telefonseelsorge 142 (kostenlos, anonym, rund um die Uhr).</a:t>
            </a:r>
            <a:endParaRPr lang="en-US" sz="1400" dirty="0"/>
          </a:p>
        </p:txBody>
      </p:sp>
      <p:sp>
        <p:nvSpPr>
          <p:cNvPr id="29" name="Text 21"/>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0" name="Text 22"/>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8000"/>
            </a:srgbClr>
          </a:solidFill>
          <a:ln/>
        </p:spPr>
      </p:sp>
      <p:sp>
        <p:nvSpPr>
          <p:cNvPr id="4" name="Shape 1"/>
          <p:cNvSpPr/>
          <p:nvPr/>
        </p:nvSpPr>
        <p:spPr>
          <a:xfrm>
            <a:off x="0" y="0"/>
            <a:ext cx="4114800" cy="6858000"/>
          </a:xfrm>
          <a:prstGeom prst="rect">
            <a:avLst/>
          </a:prstGeom>
          <a:solidFill>
            <a:srgbClr val="24685C">
              <a:alpha val="92000"/>
            </a:srgbClr>
          </a:solidFill>
          <a:ln/>
        </p:spPr>
      </p:sp>
      <p:sp>
        <p:nvSpPr>
          <p:cNvPr id="5" name="Shape 2"/>
          <p:cNvSpPr/>
          <p:nvPr/>
        </p:nvSpPr>
        <p:spPr>
          <a:xfrm>
            <a:off x="1371600" y="1097280"/>
            <a:ext cx="1371600" cy="137160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1728216" y="1453896"/>
            <a:ext cx="658368" cy="658368"/>
          </a:xfrm>
          <a:prstGeom prst="rect">
            <a:avLst/>
          </a:prstGeom>
        </p:spPr>
      </p:pic>
      <p:sp>
        <p:nvSpPr>
          <p:cNvPr id="7" name="Text 3"/>
          <p:cNvSpPr/>
          <p:nvPr/>
        </p:nvSpPr>
        <p:spPr>
          <a:xfrm>
            <a:off x="548640" y="2606040"/>
            <a:ext cx="3383280" cy="320040"/>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ÜBUNG · ROLLENSPIEL</a:t>
            </a:r>
            <a:endParaRPr lang="en-US" sz="1250" dirty="0"/>
          </a:p>
        </p:txBody>
      </p:sp>
      <p:sp>
        <p:nvSpPr>
          <p:cNvPr id="8" name="Text 4"/>
          <p:cNvSpPr/>
          <p:nvPr/>
        </p:nvSpPr>
        <p:spPr>
          <a:xfrm>
            <a:off x="548640" y="2907792"/>
            <a:ext cx="3383280" cy="128016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Das schwierige Gespräch</a:t>
            </a:r>
            <a:endParaRPr lang="en-US" sz="2700" dirty="0"/>
          </a:p>
        </p:txBody>
      </p:sp>
      <p:sp>
        <p:nvSpPr>
          <p:cNvPr id="9" name="Shape 5"/>
          <p:cNvSpPr/>
          <p:nvPr/>
        </p:nvSpPr>
        <p:spPr>
          <a:xfrm>
            <a:off x="548640" y="5212080"/>
            <a:ext cx="2468880" cy="530352"/>
          </a:xfrm>
          <a:prstGeom prst="roundRect">
            <a:avLst>
              <a:gd name="adj" fmla="val 17241"/>
            </a:avLst>
          </a:prstGeom>
          <a:solidFill>
            <a:srgbClr val="E89A45"/>
          </a:solidFill>
          <a:ln/>
        </p:spPr>
      </p:sp>
      <p:sp>
        <p:nvSpPr>
          <p:cNvPr id="10" name="Text 6"/>
          <p:cNvSpPr/>
          <p:nvPr/>
        </p:nvSpPr>
        <p:spPr>
          <a:xfrm>
            <a:off x="548640" y="5212080"/>
            <a:ext cx="2468880" cy="53035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20 Min.</a:t>
            </a:r>
            <a:endParaRPr lang="en-US" sz="1500" dirty="0"/>
          </a:p>
        </p:txBody>
      </p:sp>
      <p:sp>
        <p:nvSpPr>
          <p:cNvPr id="11" name="Text 7"/>
          <p:cNvSpPr/>
          <p:nvPr/>
        </p:nvSpPr>
        <p:spPr>
          <a:xfrm>
            <a:off x="4480560" y="640080"/>
            <a:ext cx="68580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SO GEHT’S</a:t>
            </a:r>
            <a:endParaRPr lang="en-US" sz="1250" dirty="0"/>
          </a:p>
        </p:txBody>
      </p:sp>
      <p:sp>
        <p:nvSpPr>
          <p:cNvPr id="12" name="Shape 8"/>
          <p:cNvSpPr/>
          <p:nvPr/>
        </p:nvSpPr>
        <p:spPr>
          <a:xfrm>
            <a:off x="4526280" y="1042416"/>
            <a:ext cx="420624" cy="420624"/>
          </a:xfrm>
          <a:prstGeom prst="ellipse">
            <a:avLst/>
          </a:prstGeom>
          <a:solidFill>
            <a:srgbClr val="E89A45"/>
          </a:solidFill>
          <a:ln/>
        </p:spPr>
      </p:sp>
      <p:sp>
        <p:nvSpPr>
          <p:cNvPr id="13" name="Text 9"/>
          <p:cNvSpPr/>
          <p:nvPr/>
        </p:nvSpPr>
        <p:spPr>
          <a:xfrm>
            <a:off x="4526280" y="1042416"/>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4" name="Text 10"/>
          <p:cNvSpPr/>
          <p:nvPr/>
        </p:nvSpPr>
        <p:spPr>
          <a:xfrm>
            <a:off x="5138928" y="978408"/>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Dreiergruppen: A ist betroffen, B ist Gegenüber, C beobachtet.</a:t>
            </a:r>
            <a:endParaRPr lang="en-US" sz="1550" dirty="0"/>
          </a:p>
        </p:txBody>
      </p:sp>
      <p:sp>
        <p:nvSpPr>
          <p:cNvPr id="15" name="Shape 11"/>
          <p:cNvSpPr/>
          <p:nvPr/>
        </p:nvSpPr>
        <p:spPr>
          <a:xfrm>
            <a:off x="4526280" y="1719072"/>
            <a:ext cx="420624" cy="420624"/>
          </a:xfrm>
          <a:prstGeom prst="ellipse">
            <a:avLst/>
          </a:prstGeom>
          <a:solidFill>
            <a:srgbClr val="E89A45"/>
          </a:solidFill>
          <a:ln/>
        </p:spPr>
      </p:sp>
      <p:sp>
        <p:nvSpPr>
          <p:cNvPr id="16" name="Text 12"/>
          <p:cNvSpPr/>
          <p:nvPr/>
        </p:nvSpPr>
        <p:spPr>
          <a:xfrm>
            <a:off x="4526280" y="1719072"/>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3"/>
          <p:cNvSpPr/>
          <p:nvPr/>
        </p:nvSpPr>
        <p:spPr>
          <a:xfrm>
            <a:off x="5138928" y="1655064"/>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Situationskarte ziehen (Kopiervorlage) und 5 Min. spielen.</a:t>
            </a:r>
            <a:endParaRPr lang="en-US" sz="1550" dirty="0"/>
          </a:p>
        </p:txBody>
      </p:sp>
      <p:sp>
        <p:nvSpPr>
          <p:cNvPr id="18" name="Shape 14"/>
          <p:cNvSpPr/>
          <p:nvPr/>
        </p:nvSpPr>
        <p:spPr>
          <a:xfrm>
            <a:off x="4526280" y="2395728"/>
            <a:ext cx="420624" cy="420624"/>
          </a:xfrm>
          <a:prstGeom prst="ellipse">
            <a:avLst/>
          </a:prstGeom>
          <a:solidFill>
            <a:srgbClr val="E89A45"/>
          </a:solidFill>
          <a:ln/>
        </p:spPr>
      </p:sp>
      <p:sp>
        <p:nvSpPr>
          <p:cNvPr id="19" name="Text 15"/>
          <p:cNvSpPr/>
          <p:nvPr/>
        </p:nvSpPr>
        <p:spPr>
          <a:xfrm>
            <a:off x="4526280" y="2395728"/>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6"/>
          <p:cNvSpPr/>
          <p:nvPr/>
        </p:nvSpPr>
        <p:spPr>
          <a:xfrm>
            <a:off x="5138928" y="2331720"/>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C achtet mit dem Beobachtungsbogen auf Sprache &amp; Zuhören.</a:t>
            </a:r>
            <a:endParaRPr lang="en-US" sz="1550" dirty="0"/>
          </a:p>
        </p:txBody>
      </p:sp>
      <p:sp>
        <p:nvSpPr>
          <p:cNvPr id="21" name="Shape 17"/>
          <p:cNvSpPr/>
          <p:nvPr/>
        </p:nvSpPr>
        <p:spPr>
          <a:xfrm>
            <a:off x="4526280" y="3072384"/>
            <a:ext cx="420624" cy="420624"/>
          </a:xfrm>
          <a:prstGeom prst="ellipse">
            <a:avLst/>
          </a:prstGeom>
          <a:solidFill>
            <a:srgbClr val="E89A45"/>
          </a:solidFill>
          <a:ln/>
        </p:spPr>
      </p:sp>
      <p:sp>
        <p:nvSpPr>
          <p:cNvPr id="22" name="Text 18"/>
          <p:cNvSpPr/>
          <p:nvPr/>
        </p:nvSpPr>
        <p:spPr>
          <a:xfrm>
            <a:off x="4526280" y="3072384"/>
            <a:ext cx="420624" cy="42062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19"/>
          <p:cNvSpPr/>
          <p:nvPr/>
        </p:nvSpPr>
        <p:spPr>
          <a:xfrm>
            <a:off x="5138928" y="3008376"/>
            <a:ext cx="6492240" cy="585216"/>
          </a:xfrm>
          <a:prstGeom prst="rect">
            <a:avLst/>
          </a:prstGeom>
          <a:noFill/>
          <a:ln/>
        </p:spPr>
        <p:txBody>
          <a:bodyPr wrap="square" rtlCol="0" anchor="ctr"/>
          <a:lstStyle/>
          <a:p>
            <a:pPr indent="0" marL="0">
              <a:lnSpc>
                <a:spcPts val="1900"/>
              </a:lnSpc>
              <a:buNone/>
            </a:pPr>
            <a:r>
              <a:rPr lang="en-US" sz="1550" dirty="0">
                <a:solidFill>
                  <a:srgbClr val="FFFFFF"/>
                </a:solidFill>
                <a:latin typeface="Calibri" pitchFamily="34" charset="0"/>
                <a:ea typeface="Calibri" pitchFamily="34" charset="-122"/>
                <a:cs typeface="Calibri" pitchFamily="34" charset="-120"/>
              </a:rPr>
              <a:t>Rollen tauschen, dann gemeinsame Auswertung.</a:t>
            </a:r>
            <a:endParaRPr lang="en-US" sz="1550" dirty="0"/>
          </a:p>
        </p:txBody>
      </p:sp>
      <p:sp>
        <p:nvSpPr>
          <p:cNvPr id="24" name="Shape 20"/>
          <p:cNvSpPr/>
          <p:nvPr/>
        </p:nvSpPr>
        <p:spPr>
          <a:xfrm>
            <a:off x="4480560" y="3840480"/>
            <a:ext cx="7178040" cy="2103120"/>
          </a:xfrm>
          <a:prstGeom prst="roundRect">
            <a:avLst>
              <a:gd name="adj" fmla="val 4348"/>
            </a:avLst>
          </a:prstGeom>
          <a:solidFill>
            <a:srgbClr val="FFFFFF">
              <a:alpha val="92000"/>
            </a:srgbClr>
          </a:solidFill>
          <a:ln/>
        </p:spPr>
      </p:sp>
      <p:sp>
        <p:nvSpPr>
          <p:cNvPr id="25" name="Text 21"/>
          <p:cNvSpPr/>
          <p:nvPr/>
        </p:nvSpPr>
        <p:spPr>
          <a:xfrm>
            <a:off x="4709160" y="4005072"/>
            <a:ext cx="6766560" cy="365760"/>
          </a:xfrm>
          <a:prstGeom prst="rect">
            <a:avLst/>
          </a:prstGeom>
          <a:noFill/>
          <a:ln/>
        </p:spPr>
        <p:txBody>
          <a:bodyPr wrap="square" rtlCol="0" anchor="ctr"/>
          <a:lstStyle/>
          <a:p>
            <a:pPr indent="0" marL="0">
              <a:buNone/>
            </a:pPr>
            <a:r>
              <a:rPr lang="en-US" sz="1600" b="1" dirty="0">
                <a:solidFill>
                  <a:srgbClr val="E89A45"/>
                </a:solidFill>
                <a:latin typeface="Cambria" pitchFamily="34" charset="0"/>
                <a:ea typeface="Cambria" pitchFamily="34" charset="-122"/>
                <a:cs typeface="Cambria" pitchFamily="34" charset="-120"/>
              </a:rPr>
              <a:t>Auswertung</a:t>
            </a:r>
            <a:endParaRPr lang="en-US" sz="1600" dirty="0"/>
          </a:p>
        </p:txBody>
      </p:sp>
      <p:sp>
        <p:nvSpPr>
          <p:cNvPr id="26" name="Text 22"/>
          <p:cNvSpPr/>
          <p:nvPr/>
        </p:nvSpPr>
        <p:spPr>
          <a:xfrm>
            <a:off x="4846320" y="4389120"/>
            <a:ext cx="6583680" cy="1508760"/>
          </a:xfrm>
          <a:prstGeom prst="rect">
            <a:avLst/>
          </a:prstGeom>
          <a:noFill/>
          <a:ln/>
        </p:spPr>
        <p:txBody>
          <a:bodyPr wrap="square"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Was hat sich für ‚A‘ gut angefühlt – was nicht?</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Welcher Satz hat geöffnet, welcher verschlossen?</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Was nehme ich für ein echtes Gespräch mit?</a:t>
            </a:r>
            <a:endParaRPr lang="en-US" sz="1450" dirty="0"/>
          </a:p>
        </p:txBody>
      </p:sp>
      <p:sp>
        <p:nvSpPr>
          <p:cNvPr id="28" name="Text 23"/>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9" name="Text 24"/>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tmp/claude-0/-home-user-spanwerk-datenschutz/aecddc76-056b-54e2-a906-9229bc8dda84/scratchpad/final/bg_natu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6000"/>
            </a:srgbClr>
          </a:solidFill>
          <a:ln/>
        </p:spPr>
      </p:sp>
      <p:sp>
        <p:nvSpPr>
          <p:cNvPr id="5" name="Text 2"/>
          <p:cNvSpPr/>
          <p:nvPr/>
        </p:nvSpPr>
        <p:spPr>
          <a:xfrm>
            <a:off x="566928" y="2103120"/>
            <a:ext cx="10058400" cy="365760"/>
          </a:xfrm>
          <a:prstGeom prst="rect">
            <a:avLst/>
          </a:prstGeom>
          <a:noFill/>
          <a:ln/>
        </p:spPr>
        <p:txBody>
          <a:bodyPr wrap="square" rtlCol="0" anchor="ctr"/>
          <a:lstStyle/>
          <a:p>
            <a:pPr indent="0" marL="0">
              <a:buNone/>
            </a:pPr>
            <a:r>
              <a:rPr lang="en-US" sz="1400" b="1" spc="300" kern="0" dirty="0">
                <a:solidFill>
                  <a:srgbClr val="F4D9B8"/>
                </a:solidFill>
                <a:latin typeface="Calibri" pitchFamily="34" charset="0"/>
                <a:ea typeface="Calibri" pitchFamily="34" charset="-122"/>
                <a:cs typeface="Calibri" pitchFamily="34" charset="-120"/>
              </a:rPr>
              <a:t>MODUL 5  ·  AUFKLÄREN</a:t>
            </a:r>
            <a:endParaRPr lang="en-US" sz="1400" dirty="0"/>
          </a:p>
        </p:txBody>
      </p:sp>
      <p:sp>
        <p:nvSpPr>
          <p:cNvPr id="6" name="Text 3"/>
          <p:cNvSpPr/>
          <p:nvPr/>
        </p:nvSpPr>
        <p:spPr>
          <a:xfrm>
            <a:off x="566928" y="2514600"/>
            <a:ext cx="109728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Mythos oder Wahrheit?</a:t>
            </a:r>
            <a:endParaRPr lang="en-US" sz="4800" dirty="0"/>
          </a:p>
        </p:txBody>
      </p:sp>
      <p:sp>
        <p:nvSpPr>
          <p:cNvPr id="7" name="Text 4"/>
          <p:cNvSpPr/>
          <p:nvPr/>
        </p:nvSpPr>
        <p:spPr>
          <a:xfrm>
            <a:off x="566928" y="3703320"/>
            <a:ext cx="10241280" cy="822960"/>
          </a:xfrm>
          <a:prstGeom prst="rect">
            <a:avLst/>
          </a:prstGeom>
          <a:noFill/>
          <a:ln/>
        </p:spPr>
        <p:txBody>
          <a:bodyPr wrap="square" rtlCol="0" anchor="ctr"/>
          <a:lstStyle/>
          <a:p>
            <a:pPr indent="0" marL="0">
              <a:lnSpc>
                <a:spcPts val="2700"/>
              </a:lnSpc>
              <a:buNone/>
            </a:pPr>
            <a:r>
              <a:rPr lang="en-US" sz="1900" i="1" dirty="0">
                <a:solidFill>
                  <a:srgbClr val="F2FAF5"/>
                </a:solidFill>
                <a:latin typeface="Calibri" pitchFamily="34" charset="0"/>
                <a:ea typeface="Calibri" pitchFamily="34" charset="-122"/>
                <a:cs typeface="Calibri" pitchFamily="34" charset="-120"/>
              </a:rPr>
              <a:t>Vier Sätze, die viele glauben. Wir prüfen sie gemeinsam – Daumen hoch für Wahrheit, Daumen runter für Mythos.</a:t>
            </a:r>
            <a:endParaRPr lang="en-US" sz="1900" dirty="0"/>
          </a:p>
        </p:txBody>
      </p:sp>
      <p:sp>
        <p:nvSpPr>
          <p:cNvPr id="9" name="Text 5"/>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0" name="Text 6"/>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5 · AUFGELÖST</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Vier Mythen – und was stimmt</a:t>
            </a:r>
            <a:endParaRPr lang="en-US" sz="3400" dirty="0"/>
          </a:p>
        </p:txBody>
      </p:sp>
      <p:sp>
        <p:nvSpPr>
          <p:cNvPr id="4" name="Shape 2"/>
          <p:cNvSpPr/>
          <p:nvPr/>
        </p:nvSpPr>
        <p:spPr>
          <a:xfrm>
            <a:off x="566928" y="1737360"/>
            <a:ext cx="5394960" cy="1828800"/>
          </a:xfrm>
          <a:prstGeom prst="roundRect">
            <a:avLst>
              <a:gd name="adj" fmla="val 550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4590288" y="1993392"/>
            <a:ext cx="1097280" cy="402336"/>
          </a:xfrm>
          <a:prstGeom prst="roundRect">
            <a:avLst>
              <a:gd name="adj" fmla="val 50000"/>
            </a:avLst>
          </a:prstGeom>
          <a:solidFill>
            <a:srgbClr val="BC722A"/>
          </a:solidFill>
          <a:ln/>
        </p:spPr>
      </p:sp>
      <p:sp>
        <p:nvSpPr>
          <p:cNvPr id="6" name="Text 4"/>
          <p:cNvSpPr/>
          <p:nvPr/>
        </p:nvSpPr>
        <p:spPr>
          <a:xfrm>
            <a:off x="4590288" y="1993392"/>
            <a:ext cx="1097280"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Mythos</a:t>
            </a:r>
            <a:endParaRPr lang="en-US" sz="1250" dirty="0"/>
          </a:p>
        </p:txBody>
      </p:sp>
      <p:sp>
        <p:nvSpPr>
          <p:cNvPr id="7" name="Text 5"/>
          <p:cNvSpPr/>
          <p:nvPr/>
        </p:nvSpPr>
        <p:spPr>
          <a:xfrm>
            <a:off x="886968" y="1975104"/>
            <a:ext cx="3611880" cy="731520"/>
          </a:xfrm>
          <a:prstGeom prst="rect">
            <a:avLst/>
          </a:prstGeom>
          <a:noFill/>
          <a:ln/>
        </p:spPr>
        <p:txBody>
          <a:bodyPr wrap="square" rtlCol="0" anchor="ctr"/>
          <a:lstStyle/>
          <a:p>
            <a:pPr indent="0" marL="0">
              <a:buNone/>
            </a:pPr>
            <a:r>
              <a:rPr lang="en-US" sz="1650" b="1" i="1" dirty="0">
                <a:solidFill>
                  <a:srgbClr val="2C7A6B"/>
                </a:solidFill>
                <a:latin typeface="Cambria" pitchFamily="34" charset="0"/>
                <a:ea typeface="Cambria" pitchFamily="34" charset="-122"/>
                <a:cs typeface="Cambria" pitchFamily="34" charset="-120"/>
              </a:rPr>
              <a:t>„Depression ist Faulheit.“</a:t>
            </a:r>
            <a:endParaRPr lang="en-US" sz="1650" dirty="0"/>
          </a:p>
        </p:txBody>
      </p:sp>
      <p:sp>
        <p:nvSpPr>
          <p:cNvPr id="8" name="Shape 6"/>
          <p:cNvSpPr/>
          <p:nvPr/>
        </p:nvSpPr>
        <p:spPr>
          <a:xfrm>
            <a:off x="886968" y="2779776"/>
            <a:ext cx="4754880" cy="0"/>
          </a:xfrm>
          <a:prstGeom prst="line">
            <a:avLst/>
          </a:prstGeom>
          <a:noFill/>
          <a:ln w="12700">
            <a:solidFill>
              <a:srgbClr val="D9E9E1"/>
            </a:solidFill>
            <a:prstDash val="solid"/>
          </a:ln>
        </p:spPr>
      </p:sp>
      <p:sp>
        <p:nvSpPr>
          <p:cNvPr id="9" name="Text 7"/>
          <p:cNvSpPr/>
          <p:nvPr/>
        </p:nvSpPr>
        <p:spPr>
          <a:xfrm>
            <a:off x="886968" y="2852928"/>
            <a:ext cx="4800600" cy="658368"/>
          </a:xfrm>
          <a:prstGeom prst="rect">
            <a:avLst/>
          </a:prstGeom>
          <a:noFill/>
          <a:ln/>
        </p:spPr>
        <p:txBody>
          <a:bodyPr wrap="square" rtlCol="0" anchor="ctr"/>
          <a:lstStyle/>
          <a:p>
            <a:pPr indent="0" marL="0">
              <a:lnSpc>
                <a:spcPts val="1700"/>
              </a:lnSpc>
              <a:buNone/>
            </a:pPr>
            <a:r>
              <a:rPr lang="en-US" sz="1350" b="1" dirty="0">
                <a:solidFill>
                  <a:srgbClr val="2E9284"/>
                </a:solidFill>
                <a:latin typeface="Calibri" pitchFamily="34" charset="0"/>
                <a:ea typeface="Calibri" pitchFamily="34" charset="-122"/>
                <a:cs typeface="Calibri" pitchFamily="34" charset="-120"/>
              </a:rPr>
              <a:t>Fakt:  </a:t>
            </a:r>
            <a:pPr indent="0" marL="0">
              <a:lnSpc>
                <a:spcPts val="1700"/>
              </a:lnSpc>
              <a:buNone/>
            </a:pPr>
            <a:r>
              <a:rPr lang="en-US" sz="1350" dirty="0">
                <a:solidFill>
                  <a:srgbClr val="23423C"/>
                </a:solidFill>
                <a:latin typeface="Calibri" pitchFamily="34" charset="0"/>
                <a:ea typeface="Calibri" pitchFamily="34" charset="-122"/>
                <a:cs typeface="Calibri" pitchFamily="34" charset="-120"/>
              </a:rPr>
              <a:t>Depression lähmt den Antrieb – Betroffene kämpfen härter als jeder ‚Faule‘.</a:t>
            </a:r>
            <a:endParaRPr lang="en-US" sz="1350" dirty="0"/>
          </a:p>
        </p:txBody>
      </p:sp>
      <p:sp>
        <p:nvSpPr>
          <p:cNvPr id="10" name="Shape 8"/>
          <p:cNvSpPr/>
          <p:nvPr/>
        </p:nvSpPr>
        <p:spPr>
          <a:xfrm>
            <a:off x="6281928" y="1737360"/>
            <a:ext cx="5394960" cy="1828800"/>
          </a:xfrm>
          <a:prstGeom prst="roundRect">
            <a:avLst>
              <a:gd name="adj" fmla="val 550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1" name="Shape 9"/>
          <p:cNvSpPr/>
          <p:nvPr/>
        </p:nvSpPr>
        <p:spPr>
          <a:xfrm>
            <a:off x="10305288" y="1993392"/>
            <a:ext cx="1097280" cy="402336"/>
          </a:xfrm>
          <a:prstGeom prst="roundRect">
            <a:avLst>
              <a:gd name="adj" fmla="val 50000"/>
            </a:avLst>
          </a:prstGeom>
          <a:solidFill>
            <a:srgbClr val="BC722A"/>
          </a:solidFill>
          <a:ln/>
        </p:spPr>
      </p:sp>
      <p:sp>
        <p:nvSpPr>
          <p:cNvPr id="12" name="Text 10"/>
          <p:cNvSpPr/>
          <p:nvPr/>
        </p:nvSpPr>
        <p:spPr>
          <a:xfrm>
            <a:off x="10305288" y="1993392"/>
            <a:ext cx="1097280"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Mythos</a:t>
            </a:r>
            <a:endParaRPr lang="en-US" sz="1250" dirty="0"/>
          </a:p>
        </p:txBody>
      </p:sp>
      <p:sp>
        <p:nvSpPr>
          <p:cNvPr id="13" name="Text 11"/>
          <p:cNvSpPr/>
          <p:nvPr/>
        </p:nvSpPr>
        <p:spPr>
          <a:xfrm>
            <a:off x="6601968" y="1975104"/>
            <a:ext cx="3611880" cy="731520"/>
          </a:xfrm>
          <a:prstGeom prst="rect">
            <a:avLst/>
          </a:prstGeom>
          <a:noFill/>
          <a:ln/>
        </p:spPr>
        <p:txBody>
          <a:bodyPr wrap="square" rtlCol="0" anchor="ctr"/>
          <a:lstStyle/>
          <a:p>
            <a:pPr indent="0" marL="0">
              <a:buNone/>
            </a:pPr>
            <a:r>
              <a:rPr lang="en-US" sz="1650" b="1" i="1" dirty="0">
                <a:solidFill>
                  <a:srgbClr val="2C7A6B"/>
                </a:solidFill>
                <a:latin typeface="Cambria" pitchFamily="34" charset="0"/>
                <a:ea typeface="Cambria" pitchFamily="34" charset="-122"/>
                <a:cs typeface="Cambria" pitchFamily="34" charset="-120"/>
              </a:rPr>
              <a:t>„Man muss sich nur zusammenreißen.“</a:t>
            </a:r>
            <a:endParaRPr lang="en-US" sz="1650" dirty="0"/>
          </a:p>
        </p:txBody>
      </p:sp>
      <p:sp>
        <p:nvSpPr>
          <p:cNvPr id="14" name="Shape 12"/>
          <p:cNvSpPr/>
          <p:nvPr/>
        </p:nvSpPr>
        <p:spPr>
          <a:xfrm>
            <a:off x="6601968" y="2779776"/>
            <a:ext cx="4754880" cy="0"/>
          </a:xfrm>
          <a:prstGeom prst="line">
            <a:avLst/>
          </a:prstGeom>
          <a:noFill/>
          <a:ln w="12700">
            <a:solidFill>
              <a:srgbClr val="D9E9E1"/>
            </a:solidFill>
            <a:prstDash val="solid"/>
          </a:ln>
        </p:spPr>
      </p:sp>
      <p:sp>
        <p:nvSpPr>
          <p:cNvPr id="15" name="Text 13"/>
          <p:cNvSpPr/>
          <p:nvPr/>
        </p:nvSpPr>
        <p:spPr>
          <a:xfrm>
            <a:off x="6601968" y="2852928"/>
            <a:ext cx="4800600" cy="658368"/>
          </a:xfrm>
          <a:prstGeom prst="rect">
            <a:avLst/>
          </a:prstGeom>
          <a:noFill/>
          <a:ln/>
        </p:spPr>
        <p:txBody>
          <a:bodyPr wrap="square" rtlCol="0" anchor="ctr"/>
          <a:lstStyle/>
          <a:p>
            <a:pPr indent="0" marL="0">
              <a:lnSpc>
                <a:spcPts val="1700"/>
              </a:lnSpc>
              <a:buNone/>
            </a:pPr>
            <a:r>
              <a:rPr lang="en-US" sz="1350" b="1" dirty="0">
                <a:solidFill>
                  <a:srgbClr val="2E9284"/>
                </a:solidFill>
                <a:latin typeface="Calibri" pitchFamily="34" charset="0"/>
                <a:ea typeface="Calibri" pitchFamily="34" charset="-122"/>
                <a:cs typeface="Calibri" pitchFamily="34" charset="-120"/>
              </a:rPr>
              <a:t>Fakt:  </a:t>
            </a:r>
            <a:pPr indent="0" marL="0">
              <a:lnSpc>
                <a:spcPts val="1700"/>
              </a:lnSpc>
              <a:buNone/>
            </a:pPr>
            <a:r>
              <a:rPr lang="en-US" sz="1350" dirty="0">
                <a:solidFill>
                  <a:srgbClr val="23423C"/>
                </a:solidFill>
                <a:latin typeface="Calibri" pitchFamily="34" charset="0"/>
                <a:ea typeface="Calibri" pitchFamily="34" charset="-122"/>
                <a:cs typeface="Calibri" pitchFamily="34" charset="-120"/>
              </a:rPr>
              <a:t>Willenskraft heilt keine Erkrankung – so wenig wie bei einem Beinbruch.</a:t>
            </a:r>
            <a:endParaRPr lang="en-US" sz="1350" dirty="0"/>
          </a:p>
        </p:txBody>
      </p:sp>
      <p:sp>
        <p:nvSpPr>
          <p:cNvPr id="16" name="Shape 14"/>
          <p:cNvSpPr/>
          <p:nvPr/>
        </p:nvSpPr>
        <p:spPr>
          <a:xfrm>
            <a:off x="566928" y="3840480"/>
            <a:ext cx="5394960" cy="1828800"/>
          </a:xfrm>
          <a:prstGeom prst="roundRect">
            <a:avLst>
              <a:gd name="adj" fmla="val 550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7" name="Shape 15"/>
          <p:cNvSpPr/>
          <p:nvPr/>
        </p:nvSpPr>
        <p:spPr>
          <a:xfrm>
            <a:off x="4590288" y="4096512"/>
            <a:ext cx="1097280" cy="402336"/>
          </a:xfrm>
          <a:prstGeom prst="roundRect">
            <a:avLst>
              <a:gd name="adj" fmla="val 50000"/>
            </a:avLst>
          </a:prstGeom>
          <a:solidFill>
            <a:srgbClr val="BC722A"/>
          </a:solidFill>
          <a:ln/>
        </p:spPr>
      </p:sp>
      <p:sp>
        <p:nvSpPr>
          <p:cNvPr id="18" name="Text 16"/>
          <p:cNvSpPr/>
          <p:nvPr/>
        </p:nvSpPr>
        <p:spPr>
          <a:xfrm>
            <a:off x="4590288" y="4096512"/>
            <a:ext cx="1097280"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Mythos</a:t>
            </a:r>
            <a:endParaRPr lang="en-US" sz="1250" dirty="0"/>
          </a:p>
        </p:txBody>
      </p:sp>
      <p:sp>
        <p:nvSpPr>
          <p:cNvPr id="19" name="Text 17"/>
          <p:cNvSpPr/>
          <p:nvPr/>
        </p:nvSpPr>
        <p:spPr>
          <a:xfrm>
            <a:off x="886968" y="4078224"/>
            <a:ext cx="3611880" cy="731520"/>
          </a:xfrm>
          <a:prstGeom prst="rect">
            <a:avLst/>
          </a:prstGeom>
          <a:noFill/>
          <a:ln/>
        </p:spPr>
        <p:txBody>
          <a:bodyPr wrap="square" rtlCol="0" anchor="ctr"/>
          <a:lstStyle/>
          <a:p>
            <a:pPr indent="0" marL="0">
              <a:buNone/>
            </a:pPr>
            <a:r>
              <a:rPr lang="en-US" sz="1650" b="1" i="1" dirty="0">
                <a:solidFill>
                  <a:srgbClr val="2C7A6B"/>
                </a:solidFill>
                <a:latin typeface="Cambria" pitchFamily="34" charset="0"/>
                <a:ea typeface="Cambria" pitchFamily="34" charset="-122"/>
                <a:cs typeface="Cambria" pitchFamily="34" charset="-120"/>
              </a:rPr>
              <a:t>„Psychische Erkrankungen sieht man.“</a:t>
            </a:r>
            <a:endParaRPr lang="en-US" sz="1650" dirty="0"/>
          </a:p>
        </p:txBody>
      </p:sp>
      <p:sp>
        <p:nvSpPr>
          <p:cNvPr id="20" name="Shape 18"/>
          <p:cNvSpPr/>
          <p:nvPr/>
        </p:nvSpPr>
        <p:spPr>
          <a:xfrm>
            <a:off x="886968" y="4882896"/>
            <a:ext cx="4754880" cy="0"/>
          </a:xfrm>
          <a:prstGeom prst="line">
            <a:avLst/>
          </a:prstGeom>
          <a:noFill/>
          <a:ln w="12700">
            <a:solidFill>
              <a:srgbClr val="D9E9E1"/>
            </a:solidFill>
            <a:prstDash val="solid"/>
          </a:ln>
        </p:spPr>
      </p:sp>
      <p:sp>
        <p:nvSpPr>
          <p:cNvPr id="21" name="Text 19"/>
          <p:cNvSpPr/>
          <p:nvPr/>
        </p:nvSpPr>
        <p:spPr>
          <a:xfrm>
            <a:off x="886968" y="4956048"/>
            <a:ext cx="4800600" cy="658368"/>
          </a:xfrm>
          <a:prstGeom prst="rect">
            <a:avLst/>
          </a:prstGeom>
          <a:noFill/>
          <a:ln/>
        </p:spPr>
        <p:txBody>
          <a:bodyPr wrap="square" rtlCol="0" anchor="ctr"/>
          <a:lstStyle/>
          <a:p>
            <a:pPr indent="0" marL="0">
              <a:lnSpc>
                <a:spcPts val="1700"/>
              </a:lnSpc>
              <a:buNone/>
            </a:pPr>
            <a:r>
              <a:rPr lang="en-US" sz="1350" b="1" dirty="0">
                <a:solidFill>
                  <a:srgbClr val="2E9284"/>
                </a:solidFill>
                <a:latin typeface="Calibri" pitchFamily="34" charset="0"/>
                <a:ea typeface="Calibri" pitchFamily="34" charset="-122"/>
                <a:cs typeface="Calibri" pitchFamily="34" charset="-120"/>
              </a:rPr>
              <a:t>Fakt:  </a:t>
            </a:r>
            <a:pPr indent="0" marL="0">
              <a:lnSpc>
                <a:spcPts val="1700"/>
              </a:lnSpc>
              <a:buNone/>
            </a:pPr>
            <a:r>
              <a:rPr lang="en-US" sz="1350" dirty="0">
                <a:solidFill>
                  <a:srgbClr val="23423C"/>
                </a:solidFill>
                <a:latin typeface="Calibri" pitchFamily="34" charset="0"/>
                <a:ea typeface="Calibri" pitchFamily="34" charset="-122"/>
                <a:cs typeface="Calibri" pitchFamily="34" charset="-120"/>
              </a:rPr>
              <a:t>Das Gegenteil stimmt: Man sieht sie meist NICHT – der rote Faden des Tages.</a:t>
            </a:r>
            <a:endParaRPr lang="en-US" sz="1350" dirty="0"/>
          </a:p>
        </p:txBody>
      </p:sp>
      <p:sp>
        <p:nvSpPr>
          <p:cNvPr id="22" name="Shape 20"/>
          <p:cNvSpPr/>
          <p:nvPr/>
        </p:nvSpPr>
        <p:spPr>
          <a:xfrm>
            <a:off x="6281928" y="3840480"/>
            <a:ext cx="5394960" cy="1828800"/>
          </a:xfrm>
          <a:prstGeom prst="roundRect">
            <a:avLst>
              <a:gd name="adj" fmla="val 5500"/>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3" name="Shape 21"/>
          <p:cNvSpPr/>
          <p:nvPr/>
        </p:nvSpPr>
        <p:spPr>
          <a:xfrm>
            <a:off x="10305288" y="4096512"/>
            <a:ext cx="1097280" cy="402336"/>
          </a:xfrm>
          <a:prstGeom prst="roundRect">
            <a:avLst>
              <a:gd name="adj" fmla="val 50000"/>
            </a:avLst>
          </a:prstGeom>
          <a:solidFill>
            <a:srgbClr val="BC722A"/>
          </a:solidFill>
          <a:ln/>
        </p:spPr>
      </p:sp>
      <p:sp>
        <p:nvSpPr>
          <p:cNvPr id="24" name="Text 22"/>
          <p:cNvSpPr/>
          <p:nvPr/>
        </p:nvSpPr>
        <p:spPr>
          <a:xfrm>
            <a:off x="10305288" y="4096512"/>
            <a:ext cx="1097280"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Mythos</a:t>
            </a:r>
            <a:endParaRPr lang="en-US" sz="1250" dirty="0"/>
          </a:p>
        </p:txBody>
      </p:sp>
      <p:sp>
        <p:nvSpPr>
          <p:cNvPr id="25" name="Text 23"/>
          <p:cNvSpPr/>
          <p:nvPr/>
        </p:nvSpPr>
        <p:spPr>
          <a:xfrm>
            <a:off x="6601968" y="4078224"/>
            <a:ext cx="3611880" cy="731520"/>
          </a:xfrm>
          <a:prstGeom prst="rect">
            <a:avLst/>
          </a:prstGeom>
          <a:noFill/>
          <a:ln/>
        </p:spPr>
        <p:txBody>
          <a:bodyPr wrap="square" rtlCol="0" anchor="ctr"/>
          <a:lstStyle/>
          <a:p>
            <a:pPr indent="0" marL="0">
              <a:buNone/>
            </a:pPr>
            <a:r>
              <a:rPr lang="en-US" sz="1650" b="1" i="1" dirty="0">
                <a:solidFill>
                  <a:srgbClr val="2C7A6B"/>
                </a:solidFill>
                <a:latin typeface="Cambria" pitchFamily="34" charset="0"/>
                <a:ea typeface="Cambria" pitchFamily="34" charset="-122"/>
                <a:cs typeface="Cambria" pitchFamily="34" charset="-120"/>
              </a:rPr>
              <a:t>„Wer Hilfe sucht, ist schwach.“</a:t>
            </a:r>
            <a:endParaRPr lang="en-US" sz="1650" dirty="0"/>
          </a:p>
        </p:txBody>
      </p:sp>
      <p:sp>
        <p:nvSpPr>
          <p:cNvPr id="26" name="Shape 24"/>
          <p:cNvSpPr/>
          <p:nvPr/>
        </p:nvSpPr>
        <p:spPr>
          <a:xfrm>
            <a:off x="6601968" y="4882896"/>
            <a:ext cx="4754880" cy="0"/>
          </a:xfrm>
          <a:prstGeom prst="line">
            <a:avLst/>
          </a:prstGeom>
          <a:noFill/>
          <a:ln w="12700">
            <a:solidFill>
              <a:srgbClr val="D9E9E1"/>
            </a:solidFill>
            <a:prstDash val="solid"/>
          </a:ln>
        </p:spPr>
      </p:sp>
      <p:sp>
        <p:nvSpPr>
          <p:cNvPr id="27" name="Text 25"/>
          <p:cNvSpPr/>
          <p:nvPr/>
        </p:nvSpPr>
        <p:spPr>
          <a:xfrm>
            <a:off x="6601968" y="4956048"/>
            <a:ext cx="4800600" cy="658368"/>
          </a:xfrm>
          <a:prstGeom prst="rect">
            <a:avLst/>
          </a:prstGeom>
          <a:noFill/>
          <a:ln/>
        </p:spPr>
        <p:txBody>
          <a:bodyPr wrap="square" rtlCol="0" anchor="ctr"/>
          <a:lstStyle/>
          <a:p>
            <a:pPr indent="0" marL="0">
              <a:lnSpc>
                <a:spcPts val="1700"/>
              </a:lnSpc>
              <a:buNone/>
            </a:pPr>
            <a:r>
              <a:rPr lang="en-US" sz="1350" b="1" dirty="0">
                <a:solidFill>
                  <a:srgbClr val="2E9284"/>
                </a:solidFill>
                <a:latin typeface="Calibri" pitchFamily="34" charset="0"/>
                <a:ea typeface="Calibri" pitchFamily="34" charset="-122"/>
                <a:cs typeface="Calibri" pitchFamily="34" charset="-120"/>
              </a:rPr>
              <a:t>Fakt:  </a:t>
            </a:r>
            <a:pPr indent="0" marL="0">
              <a:lnSpc>
                <a:spcPts val="1700"/>
              </a:lnSpc>
              <a:buNone/>
            </a:pPr>
            <a:r>
              <a:rPr lang="en-US" sz="1350" dirty="0">
                <a:solidFill>
                  <a:srgbClr val="23423C"/>
                </a:solidFill>
                <a:latin typeface="Calibri" pitchFamily="34" charset="0"/>
                <a:ea typeface="Calibri" pitchFamily="34" charset="-122"/>
                <a:cs typeface="Calibri" pitchFamily="34" charset="-120"/>
              </a:rPr>
              <a:t>Hilfe zu holen ist ein Akt von Mut und Stärke – nicht von Schwäche.</a:t>
            </a:r>
            <a:endParaRPr lang="en-US" sz="1350" dirty="0"/>
          </a:p>
        </p:txBody>
      </p:sp>
      <p:sp>
        <p:nvSpPr>
          <p:cNvPr id="29" name="Text 2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30" name="Text 2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6 · ES GIBT WEGE</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Was wirklich hilft</a:t>
            </a:r>
            <a:endParaRPr lang="en-US" sz="3400" dirty="0"/>
          </a:p>
        </p:txBody>
      </p:sp>
      <p:sp>
        <p:nvSpPr>
          <p:cNvPr id="4" name="Shape 2"/>
          <p:cNvSpPr/>
          <p:nvPr/>
        </p:nvSpPr>
        <p:spPr>
          <a:xfrm>
            <a:off x="566928" y="173736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194560"/>
            <a:ext cx="777240" cy="77724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1089050" y="2396642"/>
            <a:ext cx="373075" cy="373075"/>
          </a:xfrm>
          <a:prstGeom prst="rect">
            <a:avLst/>
          </a:prstGeom>
        </p:spPr>
      </p:pic>
      <p:sp>
        <p:nvSpPr>
          <p:cNvPr id="7" name="Text 4"/>
          <p:cNvSpPr/>
          <p:nvPr/>
        </p:nvSpPr>
        <p:spPr>
          <a:xfrm>
            <a:off x="1892808" y="2029968"/>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Psychotherapie</a:t>
            </a:r>
            <a:endParaRPr lang="en-US" sz="1800" dirty="0"/>
          </a:p>
        </p:txBody>
      </p:sp>
      <p:sp>
        <p:nvSpPr>
          <p:cNvPr id="8" name="Text 5"/>
          <p:cNvSpPr/>
          <p:nvPr/>
        </p:nvSpPr>
        <p:spPr>
          <a:xfrm>
            <a:off x="1892808" y="2542032"/>
            <a:ext cx="3840480" cy="82296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Reden, verstehen, neue Muster lernen. Wirksam – wie eine Reha für die Seele.</a:t>
            </a:r>
            <a:endParaRPr lang="en-US" sz="1350" dirty="0"/>
          </a:p>
        </p:txBody>
      </p:sp>
      <p:sp>
        <p:nvSpPr>
          <p:cNvPr id="9" name="Shape 6"/>
          <p:cNvSpPr/>
          <p:nvPr/>
        </p:nvSpPr>
        <p:spPr>
          <a:xfrm>
            <a:off x="6281928" y="173736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6601968" y="2194560"/>
            <a:ext cx="777240" cy="777240"/>
          </a:xfrm>
          <a:prstGeom prst="ellipse">
            <a:avLst/>
          </a:prstGeom>
          <a:solidFill>
            <a:srgbClr val="2E9284"/>
          </a:solidFill>
          <a:ln/>
        </p:spPr>
      </p:sp>
      <p:pic>
        <p:nvPicPr>
          <p:cNvPr id="11" name="Image 1" descr="preencoded.png">    </p:cNvPr>
          <p:cNvPicPr>
            <a:picLocks noChangeAspect="1"/>
          </p:cNvPicPr>
          <p:nvPr/>
        </p:nvPicPr>
        <p:blipFill>
          <a:blip r:embed="rId2"/>
          <a:stretch>
            <a:fillRect/>
          </a:stretch>
        </p:blipFill>
        <p:spPr>
          <a:xfrm>
            <a:off x="6804050" y="2396642"/>
            <a:ext cx="373075" cy="373075"/>
          </a:xfrm>
          <a:prstGeom prst="rect">
            <a:avLst/>
          </a:prstGeom>
        </p:spPr>
      </p:pic>
      <p:sp>
        <p:nvSpPr>
          <p:cNvPr id="12" name="Text 8"/>
          <p:cNvSpPr/>
          <p:nvPr/>
        </p:nvSpPr>
        <p:spPr>
          <a:xfrm>
            <a:off x="7607808" y="2029968"/>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Medikamente</a:t>
            </a:r>
            <a:endParaRPr lang="en-US" sz="1800" dirty="0"/>
          </a:p>
        </p:txBody>
      </p:sp>
      <p:sp>
        <p:nvSpPr>
          <p:cNvPr id="13" name="Text 9"/>
          <p:cNvSpPr/>
          <p:nvPr/>
        </p:nvSpPr>
        <p:spPr>
          <a:xfrm>
            <a:off x="7607808" y="2542032"/>
            <a:ext cx="3840480" cy="82296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Können den Boden stabilisieren, damit Therapie greift. Kein Suchtmittel, keine Schwäche.</a:t>
            </a:r>
            <a:endParaRPr lang="en-US" sz="1350" dirty="0"/>
          </a:p>
        </p:txBody>
      </p:sp>
      <p:sp>
        <p:nvSpPr>
          <p:cNvPr id="14" name="Shape 10"/>
          <p:cNvSpPr/>
          <p:nvPr/>
        </p:nvSpPr>
        <p:spPr>
          <a:xfrm>
            <a:off x="566928" y="374904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86968" y="4206240"/>
            <a:ext cx="777240" cy="777240"/>
          </a:xfrm>
          <a:prstGeom prst="ellipse">
            <a:avLst/>
          </a:prstGeom>
          <a:solidFill>
            <a:srgbClr val="2E9284"/>
          </a:solidFill>
          <a:ln/>
        </p:spPr>
      </p:sp>
      <p:pic>
        <p:nvPicPr>
          <p:cNvPr id="16" name="Image 2" descr="preencoded.png">    </p:cNvPr>
          <p:cNvPicPr>
            <a:picLocks noChangeAspect="1"/>
          </p:cNvPicPr>
          <p:nvPr/>
        </p:nvPicPr>
        <p:blipFill>
          <a:blip r:embed="rId3"/>
          <a:stretch>
            <a:fillRect/>
          </a:stretch>
        </p:blipFill>
        <p:spPr>
          <a:xfrm>
            <a:off x="1089050" y="4408322"/>
            <a:ext cx="373075" cy="373075"/>
          </a:xfrm>
          <a:prstGeom prst="rect">
            <a:avLst/>
          </a:prstGeom>
        </p:spPr>
      </p:pic>
      <p:sp>
        <p:nvSpPr>
          <p:cNvPr id="17" name="Text 12"/>
          <p:cNvSpPr/>
          <p:nvPr/>
        </p:nvSpPr>
        <p:spPr>
          <a:xfrm>
            <a:off x="1892808" y="4041648"/>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Selbsthilfe &amp; Gemeinschaft</a:t>
            </a:r>
            <a:endParaRPr lang="en-US" sz="1800" dirty="0"/>
          </a:p>
        </p:txBody>
      </p:sp>
      <p:sp>
        <p:nvSpPr>
          <p:cNvPr id="18" name="Text 13"/>
          <p:cNvSpPr/>
          <p:nvPr/>
        </p:nvSpPr>
        <p:spPr>
          <a:xfrm>
            <a:off x="1892808" y="4553712"/>
            <a:ext cx="3840480" cy="82296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Menschen mit ähnlicher Erfahrung. ‚Ich bin nicht allein‘ heilt mit.</a:t>
            </a:r>
            <a:endParaRPr lang="en-US" sz="1350" dirty="0"/>
          </a:p>
        </p:txBody>
      </p:sp>
      <p:sp>
        <p:nvSpPr>
          <p:cNvPr id="19" name="Shape 14"/>
          <p:cNvSpPr/>
          <p:nvPr/>
        </p:nvSpPr>
        <p:spPr>
          <a:xfrm>
            <a:off x="6281928" y="374904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6601968" y="4206240"/>
            <a:ext cx="777240" cy="777240"/>
          </a:xfrm>
          <a:prstGeom prst="ellipse">
            <a:avLst/>
          </a:prstGeom>
          <a:solidFill>
            <a:srgbClr val="2E9284"/>
          </a:solidFill>
          <a:ln/>
        </p:spPr>
      </p:sp>
      <p:pic>
        <p:nvPicPr>
          <p:cNvPr id="21" name="Image 3" descr="preencoded.png">    </p:cNvPr>
          <p:cNvPicPr>
            <a:picLocks noChangeAspect="1"/>
          </p:cNvPicPr>
          <p:nvPr/>
        </p:nvPicPr>
        <p:blipFill>
          <a:blip r:embed="rId4"/>
          <a:stretch>
            <a:fillRect/>
          </a:stretch>
        </p:blipFill>
        <p:spPr>
          <a:xfrm>
            <a:off x="6804050" y="4408322"/>
            <a:ext cx="373075" cy="373075"/>
          </a:xfrm>
          <a:prstGeom prst="rect">
            <a:avLst/>
          </a:prstGeom>
        </p:spPr>
      </p:pic>
      <p:sp>
        <p:nvSpPr>
          <p:cNvPr id="22" name="Text 16"/>
          <p:cNvSpPr/>
          <p:nvPr/>
        </p:nvSpPr>
        <p:spPr>
          <a:xfrm>
            <a:off x="7607808" y="4041648"/>
            <a:ext cx="3840480" cy="502920"/>
          </a:xfrm>
          <a:prstGeom prst="rect">
            <a:avLst/>
          </a:prstGeom>
          <a:noFill/>
          <a:ln/>
        </p:spPr>
        <p:txBody>
          <a:bodyPr wrap="square" rtlCol="0" anchor="ctr"/>
          <a:lstStyle/>
          <a:p>
            <a:pPr indent="0" marL="0">
              <a:buNone/>
            </a:pPr>
            <a:r>
              <a:rPr lang="en-US" sz="1800" b="1" dirty="0">
                <a:solidFill>
                  <a:srgbClr val="2C7A6B"/>
                </a:solidFill>
                <a:latin typeface="Cambria" pitchFamily="34" charset="0"/>
                <a:ea typeface="Cambria" pitchFamily="34" charset="-122"/>
                <a:cs typeface="Cambria" pitchFamily="34" charset="-120"/>
              </a:rPr>
              <a:t>Alltag &amp; Struktur</a:t>
            </a:r>
            <a:endParaRPr lang="en-US" sz="1800" dirty="0"/>
          </a:p>
        </p:txBody>
      </p:sp>
      <p:sp>
        <p:nvSpPr>
          <p:cNvPr id="23" name="Text 17"/>
          <p:cNvSpPr/>
          <p:nvPr/>
        </p:nvSpPr>
        <p:spPr>
          <a:xfrm>
            <a:off x="7607808" y="4553712"/>
            <a:ext cx="3840480" cy="82296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Bewegung, Schlaf, Tagesstruktur, Kontakte – Bausteine, kein Ersatz.</a:t>
            </a:r>
            <a:endParaRPr lang="en-US" sz="1350" dirty="0"/>
          </a:p>
        </p:txBody>
      </p:sp>
      <p:sp>
        <p:nvSpPr>
          <p:cNvPr id="24" name="Text 18"/>
          <p:cNvSpPr/>
          <p:nvPr/>
        </p:nvSpPr>
        <p:spPr>
          <a:xfrm>
            <a:off x="566928" y="5943600"/>
            <a:ext cx="11057839" cy="457200"/>
          </a:xfrm>
          <a:prstGeom prst="rect">
            <a:avLst/>
          </a:prstGeom>
          <a:noFill/>
          <a:ln/>
        </p:spPr>
        <p:txBody>
          <a:bodyPr wrap="square" rtlCol="0" anchor="ctr"/>
          <a:lstStyle/>
          <a:p>
            <a:pPr algn="ctr" indent="0" marL="0">
              <a:buNone/>
            </a:pPr>
            <a:r>
              <a:rPr lang="en-US" sz="1450" i="1" dirty="0">
                <a:solidFill>
                  <a:srgbClr val="2E9284"/>
                </a:solidFill>
                <a:latin typeface="Calibri" pitchFamily="34" charset="0"/>
                <a:ea typeface="Calibri" pitchFamily="34" charset="-122"/>
                <a:cs typeface="Calibri" pitchFamily="34" charset="-120"/>
              </a:rPr>
              <a:t>Meist wirkt die Kombination am besten. Der erste Schritt ist der schwerste – und der wichtigste.</a:t>
            </a:r>
            <a:endParaRPr lang="en-US" sz="1450" dirty="0"/>
          </a:p>
        </p:txBody>
      </p:sp>
      <p:sp>
        <p:nvSpPr>
          <p:cNvPr id="26" name="Text 19"/>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7" name="Text 20"/>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MODUL 6 · DIE PROFIS SIND AUF IHRER SEITE</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Fachleute sind Verbündete – kein Feind</a:t>
            </a:r>
            <a:endParaRPr lang="en-US" sz="3400" dirty="0"/>
          </a:p>
        </p:txBody>
      </p:sp>
      <p:sp>
        <p:nvSpPr>
          <p:cNvPr id="4" name="Shape 2"/>
          <p:cNvSpPr/>
          <p:nvPr/>
        </p:nvSpPr>
        <p:spPr>
          <a:xfrm>
            <a:off x="566928" y="1691640"/>
            <a:ext cx="3520440" cy="2331720"/>
          </a:xfrm>
          <a:prstGeom prst="roundRect">
            <a:avLst>
              <a:gd name="adj" fmla="val 4314"/>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011680"/>
            <a:ext cx="777240" cy="777240"/>
          </a:xfrm>
          <a:prstGeom prst="ellipse">
            <a:avLst/>
          </a:prstGeom>
          <a:solidFill>
            <a:srgbClr val="2E9284"/>
          </a:solidFill>
          <a:ln/>
        </p:spPr>
      </p:sp>
      <p:pic>
        <p:nvPicPr>
          <p:cNvPr id="6" name="Image 0" descr="preencoded.png">    </p:cNvPr>
          <p:cNvPicPr>
            <a:picLocks noChangeAspect="1"/>
          </p:cNvPicPr>
          <p:nvPr/>
        </p:nvPicPr>
        <p:blipFill>
          <a:blip r:embed="rId1"/>
          <a:stretch>
            <a:fillRect/>
          </a:stretch>
        </p:blipFill>
        <p:spPr>
          <a:xfrm>
            <a:off x="1089050" y="2213762"/>
            <a:ext cx="373075" cy="373075"/>
          </a:xfrm>
          <a:prstGeom prst="rect">
            <a:avLst/>
          </a:prstGeom>
        </p:spPr>
      </p:pic>
      <p:sp>
        <p:nvSpPr>
          <p:cNvPr id="7" name="Text 4"/>
          <p:cNvSpPr/>
          <p:nvPr/>
        </p:nvSpPr>
        <p:spPr>
          <a:xfrm>
            <a:off x="1773936" y="2075688"/>
            <a:ext cx="2194560" cy="7315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Psycho­therapeut:innen</a:t>
            </a:r>
            <a:endParaRPr lang="en-US" sz="1600" dirty="0"/>
          </a:p>
        </p:txBody>
      </p:sp>
      <p:sp>
        <p:nvSpPr>
          <p:cNvPr id="8" name="Text 5"/>
          <p:cNvSpPr/>
          <p:nvPr/>
        </p:nvSpPr>
        <p:spPr>
          <a:xfrm>
            <a:off x="886968" y="2926080"/>
            <a:ext cx="2926080" cy="100584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Begleiten mit Gesprächen und Methoden aus der Krise. Reden ist Behandlung – kein ‚Sich-Ausweinen‘.</a:t>
            </a:r>
            <a:endParaRPr lang="en-US" sz="1350" dirty="0"/>
          </a:p>
        </p:txBody>
      </p:sp>
      <p:sp>
        <p:nvSpPr>
          <p:cNvPr id="9" name="Shape 6"/>
          <p:cNvSpPr/>
          <p:nvPr/>
        </p:nvSpPr>
        <p:spPr>
          <a:xfrm>
            <a:off x="4343400" y="1691640"/>
            <a:ext cx="3520440" cy="2331720"/>
          </a:xfrm>
          <a:prstGeom prst="roundRect">
            <a:avLst>
              <a:gd name="adj" fmla="val 4314"/>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4663440" y="2011680"/>
            <a:ext cx="777240" cy="777240"/>
          </a:xfrm>
          <a:prstGeom prst="ellipse">
            <a:avLst/>
          </a:prstGeom>
          <a:solidFill>
            <a:srgbClr val="2E9284"/>
          </a:solidFill>
          <a:ln/>
        </p:spPr>
      </p:sp>
      <p:pic>
        <p:nvPicPr>
          <p:cNvPr id="11" name="Image 1" descr="preencoded.png">    </p:cNvPr>
          <p:cNvPicPr>
            <a:picLocks noChangeAspect="1"/>
          </p:cNvPicPr>
          <p:nvPr/>
        </p:nvPicPr>
        <p:blipFill>
          <a:blip r:embed="rId2"/>
          <a:stretch>
            <a:fillRect/>
          </a:stretch>
        </p:blipFill>
        <p:spPr>
          <a:xfrm>
            <a:off x="4865522" y="2213762"/>
            <a:ext cx="373075" cy="373075"/>
          </a:xfrm>
          <a:prstGeom prst="rect">
            <a:avLst/>
          </a:prstGeom>
        </p:spPr>
      </p:pic>
      <p:sp>
        <p:nvSpPr>
          <p:cNvPr id="12" name="Text 8"/>
          <p:cNvSpPr/>
          <p:nvPr/>
        </p:nvSpPr>
        <p:spPr>
          <a:xfrm>
            <a:off x="5550408" y="2075688"/>
            <a:ext cx="2194560" cy="7315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Psychiater:innen</a:t>
            </a:r>
            <a:endParaRPr lang="en-US" sz="1600" dirty="0"/>
          </a:p>
        </p:txBody>
      </p:sp>
      <p:sp>
        <p:nvSpPr>
          <p:cNvPr id="13" name="Text 9"/>
          <p:cNvSpPr/>
          <p:nvPr/>
        </p:nvSpPr>
        <p:spPr>
          <a:xfrm>
            <a:off x="4663440" y="2926080"/>
            <a:ext cx="2926080" cy="100584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Ärzt:innen für die Seele. Sie klären ab, behandeln und können – wo nötig – Medikamente sinnvoll einsetzen.</a:t>
            </a:r>
            <a:endParaRPr lang="en-US" sz="1350" dirty="0"/>
          </a:p>
        </p:txBody>
      </p:sp>
      <p:sp>
        <p:nvSpPr>
          <p:cNvPr id="14" name="Shape 10"/>
          <p:cNvSpPr/>
          <p:nvPr/>
        </p:nvSpPr>
        <p:spPr>
          <a:xfrm>
            <a:off x="8119872" y="1691640"/>
            <a:ext cx="3520440" cy="2331720"/>
          </a:xfrm>
          <a:prstGeom prst="roundRect">
            <a:avLst>
              <a:gd name="adj" fmla="val 4314"/>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439912" y="2011680"/>
            <a:ext cx="777240" cy="777240"/>
          </a:xfrm>
          <a:prstGeom prst="ellipse">
            <a:avLst/>
          </a:prstGeom>
          <a:solidFill>
            <a:srgbClr val="2E9284"/>
          </a:solidFill>
          <a:ln/>
        </p:spPr>
      </p:sp>
      <p:pic>
        <p:nvPicPr>
          <p:cNvPr id="16" name="Image 2" descr="preencoded.png">    </p:cNvPr>
          <p:cNvPicPr>
            <a:picLocks noChangeAspect="1"/>
          </p:cNvPicPr>
          <p:nvPr/>
        </p:nvPicPr>
        <p:blipFill>
          <a:blip r:embed="rId3"/>
          <a:stretch>
            <a:fillRect/>
          </a:stretch>
        </p:blipFill>
        <p:spPr>
          <a:xfrm>
            <a:off x="8641994" y="2213762"/>
            <a:ext cx="373075" cy="373075"/>
          </a:xfrm>
          <a:prstGeom prst="rect">
            <a:avLst/>
          </a:prstGeom>
        </p:spPr>
      </p:pic>
      <p:sp>
        <p:nvSpPr>
          <p:cNvPr id="17" name="Text 12"/>
          <p:cNvSpPr/>
          <p:nvPr/>
        </p:nvSpPr>
        <p:spPr>
          <a:xfrm>
            <a:off x="9326880" y="2075688"/>
            <a:ext cx="2194560" cy="731520"/>
          </a:xfrm>
          <a:prstGeom prst="rect">
            <a:avLst/>
          </a:prstGeom>
          <a:noFill/>
          <a:ln/>
        </p:spPr>
        <p:txBody>
          <a:bodyPr wrap="square" rtlCol="0" anchor="ctr"/>
          <a:lstStyle/>
          <a:p>
            <a:pPr indent="0" marL="0">
              <a:buNone/>
            </a:pPr>
            <a:r>
              <a:rPr lang="en-US" sz="1600" b="1" dirty="0">
                <a:solidFill>
                  <a:srgbClr val="2C7A6B"/>
                </a:solidFill>
                <a:latin typeface="Cambria" pitchFamily="34" charset="0"/>
                <a:ea typeface="Cambria" pitchFamily="34" charset="-122"/>
                <a:cs typeface="Cambria" pitchFamily="34" charset="-120"/>
              </a:rPr>
              <a:t>Psycholog:innen</a:t>
            </a:r>
            <a:endParaRPr lang="en-US" sz="1600" dirty="0"/>
          </a:p>
        </p:txBody>
      </p:sp>
      <p:sp>
        <p:nvSpPr>
          <p:cNvPr id="18" name="Text 13"/>
          <p:cNvSpPr/>
          <p:nvPr/>
        </p:nvSpPr>
        <p:spPr>
          <a:xfrm>
            <a:off x="8439912" y="2926080"/>
            <a:ext cx="2926080" cy="1005840"/>
          </a:xfrm>
          <a:prstGeom prst="rect">
            <a:avLst/>
          </a:prstGeom>
          <a:noFill/>
          <a:ln/>
        </p:spPr>
        <p:txBody>
          <a:bodyPr wrap="square" rtlCol="0" anchor="ctr"/>
          <a:lstStyle/>
          <a:p>
            <a:pPr indent="0" marL="0">
              <a:buNone/>
            </a:pPr>
            <a:r>
              <a:rPr lang="en-US" sz="1350" dirty="0">
                <a:solidFill>
                  <a:srgbClr val="23423C"/>
                </a:solidFill>
                <a:latin typeface="Calibri" pitchFamily="34" charset="0"/>
                <a:ea typeface="Calibri" pitchFamily="34" charset="-122"/>
                <a:cs typeface="Calibri" pitchFamily="34" charset="-120"/>
              </a:rPr>
              <a:t>Verstehen, testen, beraten. Sie helfen einzuordnen, was los ist, und den passenden Weg zu finden.</a:t>
            </a:r>
            <a:endParaRPr lang="en-US" sz="1350" dirty="0"/>
          </a:p>
        </p:txBody>
      </p:sp>
      <p:sp>
        <p:nvSpPr>
          <p:cNvPr id="19" name="Shape 14"/>
          <p:cNvSpPr/>
          <p:nvPr/>
        </p:nvSpPr>
        <p:spPr>
          <a:xfrm>
            <a:off x="566928" y="4343400"/>
            <a:ext cx="11057839" cy="1417320"/>
          </a:xfrm>
          <a:prstGeom prst="roundRect">
            <a:avLst>
              <a:gd name="adj" fmla="val 7742"/>
            </a:avLst>
          </a:prstGeom>
          <a:solidFill>
            <a:srgbClr val="2C7A6B"/>
          </a:solidFill>
          <a:ln/>
        </p:spPr>
      </p:sp>
      <p:sp>
        <p:nvSpPr>
          <p:cNvPr id="20" name="Shape 15"/>
          <p:cNvSpPr/>
          <p:nvPr/>
        </p:nvSpPr>
        <p:spPr>
          <a:xfrm>
            <a:off x="932688" y="4617720"/>
            <a:ext cx="868680" cy="868680"/>
          </a:xfrm>
          <a:prstGeom prst="ellipse">
            <a:avLst/>
          </a:prstGeom>
          <a:solidFill>
            <a:srgbClr val="E89A45"/>
          </a:solidFill>
          <a:ln/>
        </p:spPr>
      </p:sp>
      <p:pic>
        <p:nvPicPr>
          <p:cNvPr id="21" name="Image 3" descr="preencoded.png">    </p:cNvPr>
          <p:cNvPicPr>
            <a:picLocks noChangeAspect="1"/>
          </p:cNvPicPr>
          <p:nvPr/>
        </p:nvPicPr>
        <p:blipFill>
          <a:blip r:embed="rId4"/>
          <a:stretch>
            <a:fillRect/>
          </a:stretch>
        </p:blipFill>
        <p:spPr>
          <a:xfrm>
            <a:off x="1158545" y="4843577"/>
            <a:ext cx="416966" cy="416966"/>
          </a:xfrm>
          <a:prstGeom prst="rect">
            <a:avLst/>
          </a:prstGeom>
        </p:spPr>
      </p:pic>
      <p:sp>
        <p:nvSpPr>
          <p:cNvPr id="22" name="Text 16"/>
          <p:cNvSpPr/>
          <p:nvPr/>
        </p:nvSpPr>
        <p:spPr>
          <a:xfrm>
            <a:off x="2029968" y="4526280"/>
            <a:ext cx="9229039" cy="1051560"/>
          </a:xfrm>
          <a:prstGeom prst="rect">
            <a:avLst/>
          </a:prstGeom>
          <a:noFill/>
          <a:ln/>
        </p:spPr>
        <p:txBody>
          <a:bodyPr wrap="square" rtlCol="0" anchor="ctr"/>
          <a:lstStyle/>
          <a:p>
            <a:pPr indent="0" marL="0">
              <a:lnSpc>
                <a:spcPts val="2400"/>
              </a:lnSpc>
              <a:buNone/>
            </a:pPr>
            <a:r>
              <a:rPr lang="en-US" sz="1900" b="1" dirty="0">
                <a:solidFill>
                  <a:srgbClr val="FFFFFF"/>
                </a:solidFill>
              </a:rPr>
              <a:t>Hilfe anzunehmen ist keine Schwäche – es ist der mutigste und klügste Schritt.
</a:t>
            </a:r>
            <a:endParaRPr lang="en-US" sz="1900" dirty="0"/>
          </a:p>
          <a:p>
            <a:pPr indent="0" marL="0">
              <a:lnSpc>
                <a:spcPts val="2400"/>
              </a:lnSpc>
              <a:buNone/>
            </a:pPr>
            <a:r>
              <a:rPr lang="en-US" sz="1500" i="1" dirty="0">
                <a:solidFill>
                  <a:srgbClr val="EAF6EF"/>
                </a:solidFill>
              </a:rPr>
              <a:t>Zum Arzt oder in die Therapie zu gehen ist so normal wie zum Zahnarzt. Niemand muss das allein schaffen.</a:t>
            </a:r>
            <a:endParaRPr lang="en-US" sz="1900" dirty="0"/>
          </a:p>
        </p:txBody>
      </p:sp>
      <p:sp>
        <p:nvSpPr>
          <p:cNvPr id="24" name="Text 17"/>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5" name="Text 18"/>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tmp/claude-0/-home-user-spanwerk-datenschutz/aecddc76-056b-54e2-a906-9229bc8dda84/scratchpad/final/bg_tit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2000"/>
            </a:srgbClr>
          </a:solidFill>
          <a:ln/>
        </p:spPr>
      </p:sp>
      <p:sp>
        <p:nvSpPr>
          <p:cNvPr id="4" name="Shape 1"/>
          <p:cNvSpPr/>
          <p:nvPr/>
        </p:nvSpPr>
        <p:spPr>
          <a:xfrm>
            <a:off x="0" y="0"/>
            <a:ext cx="7680960" cy="6858000"/>
          </a:xfrm>
          <a:prstGeom prst="rect">
            <a:avLst/>
          </a:prstGeom>
          <a:solidFill>
            <a:srgbClr val="24685C">
              <a:alpha val="82000"/>
            </a:srgbClr>
          </a:solidFill>
          <a:ln/>
        </p:spPr>
      </p:sp>
      <p:sp>
        <p:nvSpPr>
          <p:cNvPr id="5" name="Shape 2"/>
          <p:cNvSpPr/>
          <p:nvPr/>
        </p:nvSpPr>
        <p:spPr>
          <a:xfrm>
            <a:off x="566928" y="777240"/>
            <a:ext cx="914400" cy="91440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804672" y="1014984"/>
            <a:ext cx="438912" cy="438912"/>
          </a:xfrm>
          <a:prstGeom prst="rect">
            <a:avLst/>
          </a:prstGeom>
        </p:spPr>
      </p:pic>
      <p:sp>
        <p:nvSpPr>
          <p:cNvPr id="7" name="Text 3"/>
          <p:cNvSpPr/>
          <p:nvPr/>
        </p:nvSpPr>
        <p:spPr>
          <a:xfrm>
            <a:off x="566928" y="1874520"/>
            <a:ext cx="10058400" cy="320040"/>
          </a:xfrm>
          <a:prstGeom prst="rect">
            <a:avLst/>
          </a:prstGeom>
          <a:noFill/>
          <a:ln/>
        </p:spPr>
        <p:txBody>
          <a:bodyPr wrap="square" rtlCol="0" anchor="ctr"/>
          <a:lstStyle/>
          <a:p>
            <a:pPr indent="0" marL="0">
              <a:buNone/>
            </a:pPr>
            <a:r>
              <a:rPr lang="en-US" sz="1300" b="1" spc="200" kern="0" dirty="0">
                <a:solidFill>
                  <a:srgbClr val="F4D9B8"/>
                </a:solidFill>
                <a:latin typeface="Calibri" pitchFamily="34" charset="0"/>
                <a:ea typeface="Calibri" pitchFamily="34" charset="-122"/>
                <a:cs typeface="Calibri" pitchFamily="34" charset="-120"/>
              </a:rPr>
              <a:t>MODUL 6 · HOFFNUNG</a:t>
            </a:r>
            <a:endParaRPr lang="en-US" sz="1300" dirty="0"/>
          </a:p>
        </p:txBody>
      </p:sp>
      <p:sp>
        <p:nvSpPr>
          <p:cNvPr id="8" name="Text 4"/>
          <p:cNvSpPr/>
          <p:nvPr/>
        </p:nvSpPr>
        <p:spPr>
          <a:xfrm>
            <a:off x="566928" y="2194560"/>
            <a:ext cx="109728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Es wird wieder hell.</a:t>
            </a:r>
            <a:endParaRPr lang="en-US" sz="4400" dirty="0"/>
          </a:p>
        </p:txBody>
      </p:sp>
      <p:sp>
        <p:nvSpPr>
          <p:cNvPr id="9" name="Text 5"/>
          <p:cNvSpPr/>
          <p:nvPr/>
        </p:nvSpPr>
        <p:spPr>
          <a:xfrm>
            <a:off x="566928" y="3291840"/>
            <a:ext cx="7315200" cy="2377440"/>
          </a:xfrm>
          <a:prstGeom prst="rect">
            <a:avLst/>
          </a:prstGeom>
          <a:noFill/>
          <a:ln/>
        </p:spPr>
        <p:txBody>
          <a:bodyPr wrap="square" rtlCol="0" anchor="t"/>
          <a:lstStyle/>
          <a:p>
            <a:pPr indent="0" marL="0">
              <a:lnSpc>
                <a:spcPts val="2500"/>
              </a:lnSpc>
              <a:buNone/>
            </a:pPr>
            <a:r>
              <a:rPr lang="en-US" sz="1800" dirty="0">
                <a:solidFill>
                  <a:srgbClr val="F2FAF5"/>
                </a:solidFill>
              </a:rPr>
              <a:t>Depression, Angst und PTBS sind behandelbar. Sehr viele Menschen werden wieder gesund oder deutlich besser – auch wenn es sich mitten in der Krise unmöglich anfühlt.
</a:t>
            </a:r>
            <a:endParaRPr lang="en-US" sz="1800" dirty="0"/>
          </a:p>
          <a:p>
            <a:pPr indent="0" marL="0">
              <a:lnSpc>
                <a:spcPts val="2500"/>
              </a:lnSpc>
              <a:buNone/>
            </a:pPr>
            <a:r>
              <a:rPr lang="en-US" sz="1800" i="1" dirty="0">
                <a:solidFill>
                  <a:srgbClr val="FFFFFF"/>
                </a:solidFill>
              </a:rPr>
              <a:t>Ich bin der Beweis: Ich war an einem Punkt, an dem ich nicht glauben konnte, dass es je wieder gut wird. Heute stehe ich hier vor Ihnen.</a:t>
            </a:r>
            <a:endParaRPr lang="en-US" sz="1800" dirty="0"/>
          </a:p>
        </p:txBody>
      </p:sp>
      <p:sp>
        <p:nvSpPr>
          <p:cNvPr id="11" name="Text 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2" name="Text 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1F8F4"/>
        </a:solidFill>
      </p:bgPr>
    </p:bg>
    <p:spTree>
      <p:nvGrpSpPr>
        <p:cNvPr id="1" name=""/>
        <p:cNvGrpSpPr/>
        <p:nvPr/>
      </p:nvGrpSpPr>
      <p:grpSpPr>
        <a:xfrm>
          <a:off x="0" y="0"/>
          <a:ext cx="0" cy="0"/>
          <a:chOff x="0" y="0"/>
          <a:chExt cx="0" cy="0"/>
        </a:xfrm>
      </p:grpSpPr>
      <p:sp>
        <p:nvSpPr>
          <p:cNvPr id="2" name="Text 0"/>
          <p:cNvSpPr/>
          <p:nvPr/>
        </p:nvSpPr>
        <p:spPr>
          <a:xfrm>
            <a:off x="566928" y="438912"/>
            <a:ext cx="11057839" cy="310896"/>
          </a:xfrm>
          <a:prstGeom prst="rect">
            <a:avLst/>
          </a:prstGeom>
          <a:noFill/>
          <a:ln/>
        </p:spPr>
        <p:txBody>
          <a:bodyPr wrap="square" rtlCol="0" anchor="ctr"/>
          <a:lstStyle/>
          <a:p>
            <a:pPr algn="l" indent="0" marL="0">
              <a:buNone/>
            </a:pPr>
            <a:r>
              <a:rPr lang="en-US" sz="1300" b="1" spc="200" kern="0" dirty="0">
                <a:solidFill>
                  <a:srgbClr val="BC722A"/>
                </a:solidFill>
                <a:latin typeface="Calibri" pitchFamily="34" charset="0"/>
                <a:ea typeface="Calibri" pitchFamily="34" charset="-122"/>
                <a:cs typeface="Calibri" pitchFamily="34" charset="-120"/>
              </a:rPr>
              <a:t>ABSCHLUSS · DER ROTE FADEN</a:t>
            </a:r>
            <a:endParaRPr lang="en-US" sz="1300" dirty="0"/>
          </a:p>
        </p:txBody>
      </p:sp>
      <p:sp>
        <p:nvSpPr>
          <p:cNvPr id="3" name="Text 1"/>
          <p:cNvSpPr/>
          <p:nvPr/>
        </p:nvSpPr>
        <p:spPr>
          <a:xfrm>
            <a:off x="566928" y="731520"/>
            <a:ext cx="11057839" cy="731520"/>
          </a:xfrm>
          <a:prstGeom prst="rect">
            <a:avLst/>
          </a:prstGeom>
          <a:noFill/>
          <a:ln/>
        </p:spPr>
        <p:txBody>
          <a:bodyPr wrap="square" rtlCol="0" anchor="ctr"/>
          <a:lstStyle/>
          <a:p>
            <a:pPr algn="l" indent="0" marL="0">
              <a:buNone/>
            </a:pPr>
            <a:r>
              <a:rPr lang="en-US" sz="3400" b="1" dirty="0">
                <a:solidFill>
                  <a:srgbClr val="2C7A6B"/>
                </a:solidFill>
                <a:latin typeface="Cambria" pitchFamily="34" charset="0"/>
                <a:ea typeface="Cambria" pitchFamily="34" charset="-122"/>
                <a:cs typeface="Cambria" pitchFamily="34" charset="-120"/>
              </a:rPr>
              <a:t>Was heute bleibt</a:t>
            </a:r>
            <a:endParaRPr lang="en-US" sz="3400" dirty="0"/>
          </a:p>
        </p:txBody>
      </p:sp>
      <p:sp>
        <p:nvSpPr>
          <p:cNvPr id="4" name="Shape 2"/>
          <p:cNvSpPr/>
          <p:nvPr/>
        </p:nvSpPr>
        <p:spPr>
          <a:xfrm>
            <a:off x="566928" y="173736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5" name="Shape 3"/>
          <p:cNvSpPr/>
          <p:nvPr/>
        </p:nvSpPr>
        <p:spPr>
          <a:xfrm>
            <a:off x="886968" y="2194560"/>
            <a:ext cx="777240" cy="777240"/>
          </a:xfrm>
          <a:prstGeom prst="ellipse">
            <a:avLst/>
          </a:prstGeom>
          <a:solidFill>
            <a:srgbClr val="6FBE9C"/>
          </a:solidFill>
          <a:ln/>
        </p:spPr>
      </p:sp>
      <p:pic>
        <p:nvPicPr>
          <p:cNvPr id="6" name="Image 0" descr="preencoded.png">    </p:cNvPr>
          <p:cNvPicPr>
            <a:picLocks noChangeAspect="1"/>
          </p:cNvPicPr>
          <p:nvPr/>
        </p:nvPicPr>
        <p:blipFill>
          <a:blip r:embed="rId1"/>
          <a:stretch>
            <a:fillRect/>
          </a:stretch>
        </p:blipFill>
        <p:spPr>
          <a:xfrm>
            <a:off x="1089050" y="2396642"/>
            <a:ext cx="373075" cy="373075"/>
          </a:xfrm>
          <a:prstGeom prst="rect">
            <a:avLst/>
          </a:prstGeom>
        </p:spPr>
      </p:pic>
      <p:sp>
        <p:nvSpPr>
          <p:cNvPr id="7" name="Text 4"/>
          <p:cNvSpPr/>
          <p:nvPr/>
        </p:nvSpPr>
        <p:spPr>
          <a:xfrm>
            <a:off x="1892808" y="2029968"/>
            <a:ext cx="384048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Unsichtbar heißt nicht unecht</a:t>
            </a:r>
            <a:endParaRPr lang="en-US" sz="1700" dirty="0"/>
          </a:p>
        </p:txBody>
      </p:sp>
      <p:sp>
        <p:nvSpPr>
          <p:cNvPr id="8" name="Text 5"/>
          <p:cNvSpPr/>
          <p:nvPr/>
        </p:nvSpPr>
        <p:spPr>
          <a:xfrm>
            <a:off x="1892808" y="2542032"/>
            <a:ext cx="384048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Nur weil man es nicht sieht, ist es nicht weniger real oder schwer.</a:t>
            </a:r>
            <a:endParaRPr lang="en-US" sz="1350" dirty="0"/>
          </a:p>
        </p:txBody>
      </p:sp>
      <p:sp>
        <p:nvSpPr>
          <p:cNvPr id="9" name="Shape 6"/>
          <p:cNvSpPr/>
          <p:nvPr/>
        </p:nvSpPr>
        <p:spPr>
          <a:xfrm>
            <a:off x="6281928" y="173736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0" name="Shape 7"/>
          <p:cNvSpPr/>
          <p:nvPr/>
        </p:nvSpPr>
        <p:spPr>
          <a:xfrm>
            <a:off x="6601968" y="2194560"/>
            <a:ext cx="777240" cy="777240"/>
          </a:xfrm>
          <a:prstGeom prst="ellipse">
            <a:avLst/>
          </a:prstGeom>
          <a:solidFill>
            <a:srgbClr val="6FBE9C"/>
          </a:solidFill>
          <a:ln/>
        </p:spPr>
      </p:sp>
      <p:pic>
        <p:nvPicPr>
          <p:cNvPr id="11" name="Image 1" descr="preencoded.png">    </p:cNvPr>
          <p:cNvPicPr>
            <a:picLocks noChangeAspect="1"/>
          </p:cNvPicPr>
          <p:nvPr/>
        </p:nvPicPr>
        <p:blipFill>
          <a:blip r:embed="rId2"/>
          <a:stretch>
            <a:fillRect/>
          </a:stretch>
        </p:blipFill>
        <p:spPr>
          <a:xfrm>
            <a:off x="6804050" y="2396642"/>
            <a:ext cx="373075" cy="373075"/>
          </a:xfrm>
          <a:prstGeom prst="rect">
            <a:avLst/>
          </a:prstGeom>
        </p:spPr>
      </p:pic>
      <p:sp>
        <p:nvSpPr>
          <p:cNvPr id="12" name="Text 8"/>
          <p:cNvSpPr/>
          <p:nvPr/>
        </p:nvSpPr>
        <p:spPr>
          <a:xfrm>
            <a:off x="7607808" y="2029968"/>
            <a:ext cx="384048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Es ist Krankheit, nicht Wille</a:t>
            </a:r>
            <a:endParaRPr lang="en-US" sz="1700" dirty="0"/>
          </a:p>
        </p:txBody>
      </p:sp>
      <p:sp>
        <p:nvSpPr>
          <p:cNvPr id="13" name="Text 9"/>
          <p:cNvSpPr/>
          <p:nvPr/>
        </p:nvSpPr>
        <p:spPr>
          <a:xfrm>
            <a:off x="7607808" y="2542032"/>
            <a:ext cx="384048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Niemand wählt eine Depression. ‚Zusammenreißen‘ ist keine Behandlung.</a:t>
            </a:r>
            <a:endParaRPr lang="en-US" sz="1350" dirty="0"/>
          </a:p>
        </p:txBody>
      </p:sp>
      <p:sp>
        <p:nvSpPr>
          <p:cNvPr id="14" name="Shape 10"/>
          <p:cNvSpPr/>
          <p:nvPr/>
        </p:nvSpPr>
        <p:spPr>
          <a:xfrm>
            <a:off x="566928" y="374904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15" name="Shape 11"/>
          <p:cNvSpPr/>
          <p:nvPr/>
        </p:nvSpPr>
        <p:spPr>
          <a:xfrm>
            <a:off x="886968" y="4206240"/>
            <a:ext cx="777240" cy="777240"/>
          </a:xfrm>
          <a:prstGeom prst="ellipse">
            <a:avLst/>
          </a:prstGeom>
          <a:solidFill>
            <a:srgbClr val="6FBE9C"/>
          </a:solidFill>
          <a:ln/>
        </p:spPr>
      </p:sp>
      <p:pic>
        <p:nvPicPr>
          <p:cNvPr id="16" name="Image 2" descr="preencoded.png">    </p:cNvPr>
          <p:cNvPicPr>
            <a:picLocks noChangeAspect="1"/>
          </p:cNvPicPr>
          <p:nvPr/>
        </p:nvPicPr>
        <p:blipFill>
          <a:blip r:embed="rId3"/>
          <a:stretch>
            <a:fillRect/>
          </a:stretch>
        </p:blipFill>
        <p:spPr>
          <a:xfrm>
            <a:off x="1089050" y="4408322"/>
            <a:ext cx="373075" cy="373075"/>
          </a:xfrm>
          <a:prstGeom prst="rect">
            <a:avLst/>
          </a:prstGeom>
        </p:spPr>
      </p:pic>
      <p:sp>
        <p:nvSpPr>
          <p:cNvPr id="17" name="Text 12"/>
          <p:cNvSpPr/>
          <p:nvPr/>
        </p:nvSpPr>
        <p:spPr>
          <a:xfrm>
            <a:off x="1892808" y="4041648"/>
            <a:ext cx="384048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Da sein schlägt Ratschlag</a:t>
            </a:r>
            <a:endParaRPr lang="en-US" sz="1700" dirty="0"/>
          </a:p>
        </p:txBody>
      </p:sp>
      <p:sp>
        <p:nvSpPr>
          <p:cNvPr id="18" name="Text 13"/>
          <p:cNvSpPr/>
          <p:nvPr/>
        </p:nvSpPr>
        <p:spPr>
          <a:xfrm>
            <a:off x="1892808" y="4553712"/>
            <a:ext cx="384048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Zuhören, ernst nehmen, bleiben – das kann jeder von uns.</a:t>
            </a:r>
            <a:endParaRPr lang="en-US" sz="1350" dirty="0"/>
          </a:p>
        </p:txBody>
      </p:sp>
      <p:sp>
        <p:nvSpPr>
          <p:cNvPr id="19" name="Shape 14"/>
          <p:cNvSpPr/>
          <p:nvPr/>
        </p:nvSpPr>
        <p:spPr>
          <a:xfrm>
            <a:off x="6281928" y="3749040"/>
            <a:ext cx="5394960" cy="1737360"/>
          </a:xfrm>
          <a:prstGeom prst="roundRect">
            <a:avLst>
              <a:gd name="adj" fmla="val 5789"/>
            </a:avLst>
          </a:prstGeom>
          <a:solidFill>
            <a:srgbClr val="FFFFFF"/>
          </a:solidFill>
          <a:ln w="12700">
            <a:solidFill>
              <a:srgbClr val="D9E9E1"/>
            </a:solidFill>
            <a:prstDash val="solid"/>
          </a:ln>
          <a:effectLst>
            <a:outerShdw sx="100000" sy="100000" kx="0" ky="0" algn="bl" rotWithShape="0" blurRad="101600" dist="38100" dir="5400000">
              <a:srgbClr val="A9C6BC">
                <a:alpha val="30000"/>
              </a:srgbClr>
            </a:outerShdw>
          </a:effectLst>
        </p:spPr>
      </p:sp>
      <p:sp>
        <p:nvSpPr>
          <p:cNvPr id="20" name="Shape 15"/>
          <p:cNvSpPr/>
          <p:nvPr/>
        </p:nvSpPr>
        <p:spPr>
          <a:xfrm>
            <a:off x="6601968" y="4206240"/>
            <a:ext cx="777240" cy="777240"/>
          </a:xfrm>
          <a:prstGeom prst="ellipse">
            <a:avLst/>
          </a:prstGeom>
          <a:solidFill>
            <a:srgbClr val="6FBE9C"/>
          </a:solidFill>
          <a:ln/>
        </p:spPr>
      </p:sp>
      <p:pic>
        <p:nvPicPr>
          <p:cNvPr id="21" name="Image 3" descr="preencoded.png">    </p:cNvPr>
          <p:cNvPicPr>
            <a:picLocks noChangeAspect="1"/>
          </p:cNvPicPr>
          <p:nvPr/>
        </p:nvPicPr>
        <p:blipFill>
          <a:blip r:embed="rId4"/>
          <a:stretch>
            <a:fillRect/>
          </a:stretch>
        </p:blipFill>
        <p:spPr>
          <a:xfrm>
            <a:off x="6804050" y="4408322"/>
            <a:ext cx="373075" cy="373075"/>
          </a:xfrm>
          <a:prstGeom prst="rect">
            <a:avLst/>
          </a:prstGeom>
        </p:spPr>
      </p:pic>
      <p:sp>
        <p:nvSpPr>
          <p:cNvPr id="22" name="Text 16"/>
          <p:cNvSpPr/>
          <p:nvPr/>
        </p:nvSpPr>
        <p:spPr>
          <a:xfrm>
            <a:off x="7607808" y="4041648"/>
            <a:ext cx="3840480" cy="502920"/>
          </a:xfrm>
          <a:prstGeom prst="rect">
            <a:avLst/>
          </a:prstGeom>
          <a:noFill/>
          <a:ln/>
        </p:spPr>
        <p:txBody>
          <a:bodyPr wrap="square" rtlCol="0" anchor="ctr"/>
          <a:lstStyle/>
          <a:p>
            <a:pPr indent="0" marL="0">
              <a:buNone/>
            </a:pPr>
            <a:r>
              <a:rPr lang="en-US" sz="1700" b="1" dirty="0">
                <a:solidFill>
                  <a:srgbClr val="2C7A6B"/>
                </a:solidFill>
                <a:latin typeface="Cambria" pitchFamily="34" charset="0"/>
                <a:ea typeface="Cambria" pitchFamily="34" charset="-122"/>
                <a:cs typeface="Cambria" pitchFamily="34" charset="-120"/>
              </a:rPr>
              <a:t>Hilfe annehmen ist Stärke</a:t>
            </a:r>
            <a:endParaRPr lang="en-US" sz="1700" dirty="0"/>
          </a:p>
        </p:txBody>
      </p:sp>
      <p:sp>
        <p:nvSpPr>
          <p:cNvPr id="23" name="Text 17"/>
          <p:cNvSpPr/>
          <p:nvPr/>
        </p:nvSpPr>
        <p:spPr>
          <a:xfrm>
            <a:off x="7607808" y="4553712"/>
            <a:ext cx="3840480" cy="777240"/>
          </a:xfrm>
          <a:prstGeom prst="rect">
            <a:avLst/>
          </a:prstGeom>
          <a:noFill/>
          <a:ln/>
        </p:spPr>
        <p:txBody>
          <a:bodyPr wrap="square" rtlCol="0" anchor="ctr"/>
          <a:lstStyle/>
          <a:p>
            <a:pPr indent="0" marL="0">
              <a:buNone/>
            </a:pPr>
            <a:r>
              <a:rPr lang="en-US" sz="1350" dirty="0">
                <a:solidFill>
                  <a:srgbClr val="5E736E"/>
                </a:solidFill>
                <a:latin typeface="Calibri" pitchFamily="34" charset="0"/>
                <a:ea typeface="Calibri" pitchFamily="34" charset="-122"/>
                <a:cs typeface="Calibri" pitchFamily="34" charset="-120"/>
              </a:rPr>
              <a:t>Fachleute sind Verbündete. Mit Hilfe führt aus fast jeder Krise ein Weg.</a:t>
            </a:r>
            <a:endParaRPr lang="en-US" sz="1350" dirty="0"/>
          </a:p>
        </p:txBody>
      </p:sp>
      <p:sp>
        <p:nvSpPr>
          <p:cNvPr id="24" name="Text 18"/>
          <p:cNvSpPr/>
          <p:nvPr/>
        </p:nvSpPr>
        <p:spPr>
          <a:xfrm>
            <a:off x="566928" y="5943600"/>
            <a:ext cx="11057839" cy="457200"/>
          </a:xfrm>
          <a:prstGeom prst="rect">
            <a:avLst/>
          </a:prstGeom>
          <a:noFill/>
          <a:ln/>
        </p:spPr>
        <p:txBody>
          <a:bodyPr wrap="square" rtlCol="0" anchor="ctr"/>
          <a:lstStyle/>
          <a:p>
            <a:pPr algn="ctr" indent="0" marL="0">
              <a:buNone/>
            </a:pPr>
            <a:r>
              <a:rPr lang="en-US" sz="1450" i="1" dirty="0">
                <a:solidFill>
                  <a:srgbClr val="2E9284"/>
                </a:solidFill>
                <a:latin typeface="Calibri" pitchFamily="34" charset="0"/>
                <a:ea typeface="Calibri" pitchFamily="34" charset="-122"/>
                <a:cs typeface="Calibri" pitchFamily="34" charset="-120"/>
              </a:rPr>
              <a:t>Erinnern Sie sich an die Erwartungen vom Morgen – haben wir sie eingelöst?</a:t>
            </a:r>
            <a:endParaRPr lang="en-US" sz="1450" dirty="0"/>
          </a:p>
        </p:txBody>
      </p:sp>
      <p:sp>
        <p:nvSpPr>
          <p:cNvPr id="26" name="Text 19"/>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5E736E"/>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27" name="Text 20"/>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5E736E"/>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C7A6B"/>
        </a:solidFill>
      </p:bgPr>
    </p:bg>
    <p:spTree>
      <p:nvGrpSpPr>
        <p:cNvPr id="1" name=""/>
        <p:cNvGrpSpPr/>
        <p:nvPr/>
      </p:nvGrpSpPr>
      <p:grpSpPr>
        <a:xfrm>
          <a:off x="0" y="0"/>
          <a:ext cx="0" cy="0"/>
          <a:chOff x="0" y="0"/>
          <a:chExt cx="0" cy="0"/>
        </a:xfrm>
      </p:grpSpPr>
      <p:sp>
        <p:nvSpPr>
          <p:cNvPr id="2" name="Text 0"/>
          <p:cNvSpPr/>
          <p:nvPr/>
        </p:nvSpPr>
        <p:spPr>
          <a:xfrm>
            <a:off x="566928" y="502920"/>
            <a:ext cx="10058400" cy="292608"/>
          </a:xfrm>
          <a:prstGeom prst="rect">
            <a:avLst/>
          </a:prstGeom>
          <a:noFill/>
          <a:ln/>
        </p:spPr>
        <p:txBody>
          <a:bodyPr wrap="square" rtlCol="0" anchor="ctr"/>
          <a:lstStyle/>
          <a:p>
            <a:pPr indent="0" marL="0">
              <a:buNone/>
            </a:pPr>
            <a:r>
              <a:rPr lang="en-US" sz="1250" b="1" spc="200" kern="0" dirty="0">
                <a:solidFill>
                  <a:srgbClr val="F4D9B8"/>
                </a:solidFill>
                <a:latin typeface="Calibri" pitchFamily="34" charset="0"/>
                <a:ea typeface="Calibri" pitchFamily="34" charset="-122"/>
                <a:cs typeface="Calibri" pitchFamily="34" charset="-120"/>
              </a:rPr>
              <a:t>ABSCHLUSS · HILFE FINDEN</a:t>
            </a:r>
            <a:endParaRPr lang="en-US" sz="1250" dirty="0"/>
          </a:p>
        </p:txBody>
      </p:sp>
      <p:sp>
        <p:nvSpPr>
          <p:cNvPr id="3" name="Text 1"/>
          <p:cNvSpPr/>
          <p:nvPr/>
        </p:nvSpPr>
        <p:spPr>
          <a:xfrm>
            <a:off x="566928" y="822960"/>
            <a:ext cx="109728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Wichtige Anlaufstellen in Österreich</a:t>
            </a:r>
            <a:endParaRPr lang="en-US" sz="2800" dirty="0"/>
          </a:p>
        </p:txBody>
      </p:sp>
      <p:sp>
        <p:nvSpPr>
          <p:cNvPr id="4" name="Shape 2"/>
          <p:cNvSpPr/>
          <p:nvPr/>
        </p:nvSpPr>
        <p:spPr>
          <a:xfrm>
            <a:off x="566928" y="1691640"/>
            <a:ext cx="11057839" cy="1051560"/>
          </a:xfrm>
          <a:prstGeom prst="roundRect">
            <a:avLst>
              <a:gd name="adj" fmla="val 9565"/>
            </a:avLst>
          </a:prstGeom>
          <a:solidFill>
            <a:srgbClr val="E89A45"/>
          </a:solidFill>
          <a:ln/>
        </p:spPr>
      </p:sp>
      <p:sp>
        <p:nvSpPr>
          <p:cNvPr id="5" name="Shape 3"/>
          <p:cNvSpPr/>
          <p:nvPr/>
        </p:nvSpPr>
        <p:spPr>
          <a:xfrm>
            <a:off x="886968" y="1901952"/>
            <a:ext cx="640080" cy="6400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53389" y="2068373"/>
            <a:ext cx="307238" cy="307238"/>
          </a:xfrm>
          <a:prstGeom prst="rect">
            <a:avLst/>
          </a:prstGeom>
        </p:spPr>
      </p:pic>
      <p:sp>
        <p:nvSpPr>
          <p:cNvPr id="7" name="Text 4"/>
          <p:cNvSpPr/>
          <p:nvPr/>
        </p:nvSpPr>
        <p:spPr>
          <a:xfrm>
            <a:off x="1755648" y="1691640"/>
            <a:ext cx="9594799" cy="1051560"/>
          </a:xfrm>
          <a:prstGeom prst="rect">
            <a:avLst/>
          </a:prstGeom>
          <a:noFill/>
          <a:ln/>
        </p:spPr>
        <p:txBody>
          <a:bodyPr wrap="square" rtlCol="0" anchor="ctr"/>
          <a:lstStyle/>
          <a:p>
            <a:pPr indent="0" marL="0">
              <a:lnSpc>
                <a:spcPts val="2100"/>
              </a:lnSpc>
              <a:buNone/>
            </a:pPr>
            <a:r>
              <a:rPr lang="en-US" sz="1650" b="1" dirty="0">
                <a:solidFill>
                  <a:srgbClr val="FFFFFF"/>
                </a:solidFill>
                <a:latin typeface="Calibri" pitchFamily="34" charset="0"/>
                <a:ea typeface="Calibri" pitchFamily="34" charset="-122"/>
                <a:cs typeface="Calibri" pitchFamily="34" charset="-120"/>
              </a:rPr>
              <a:t>Im Notfall / akute Krise:   </a:t>
            </a:r>
            <a:pPr indent="0" marL="0">
              <a:lnSpc>
                <a:spcPts val="2100"/>
              </a:lnSpc>
              <a:buNone/>
            </a:pPr>
            <a:r>
              <a:rPr lang="en-US" sz="1650" dirty="0">
                <a:solidFill>
                  <a:srgbClr val="FFFFFF"/>
                </a:solidFill>
                <a:latin typeface="Calibri" pitchFamily="34" charset="0"/>
                <a:ea typeface="Calibri" pitchFamily="34" charset="-122"/>
                <a:cs typeface="Calibri" pitchFamily="34" charset="-120"/>
              </a:rPr>
              <a:t>Rettung 144  ·  Euronotruf 112  ·  Telefonseelsorge 142 (24 h, kostenlos, anonym)</a:t>
            </a:r>
            <a:endParaRPr lang="en-US" sz="1650" dirty="0"/>
          </a:p>
        </p:txBody>
      </p:sp>
      <p:sp>
        <p:nvSpPr>
          <p:cNvPr id="8" name="Shape 5"/>
          <p:cNvSpPr/>
          <p:nvPr/>
        </p:nvSpPr>
        <p:spPr>
          <a:xfrm>
            <a:off x="566928" y="2971800"/>
            <a:ext cx="5394960" cy="786384"/>
          </a:xfrm>
          <a:prstGeom prst="roundRect">
            <a:avLst>
              <a:gd name="adj" fmla="val 10465"/>
            </a:avLst>
          </a:prstGeom>
          <a:solidFill>
            <a:srgbClr val="FFFFFF">
              <a:alpha val="92000"/>
            </a:srgbClr>
          </a:solidFill>
          <a:ln/>
        </p:spPr>
      </p:sp>
      <p:sp>
        <p:nvSpPr>
          <p:cNvPr id="9" name="Shape 6"/>
          <p:cNvSpPr/>
          <p:nvPr/>
        </p:nvSpPr>
        <p:spPr>
          <a:xfrm>
            <a:off x="795528" y="3154680"/>
            <a:ext cx="420624" cy="420624"/>
          </a:xfrm>
          <a:prstGeom prst="ellipse">
            <a:avLst/>
          </a:prstGeom>
          <a:solidFill>
            <a:srgbClr val="6FBE9C"/>
          </a:solidFill>
          <a:ln/>
        </p:spPr>
      </p:sp>
      <p:pic>
        <p:nvPicPr>
          <p:cNvPr id="10" name="Image 1" descr="preencoded.png">    </p:cNvPr>
          <p:cNvPicPr>
            <a:picLocks noChangeAspect="1"/>
          </p:cNvPicPr>
          <p:nvPr/>
        </p:nvPicPr>
        <p:blipFill>
          <a:blip r:embed="rId2"/>
          <a:stretch>
            <a:fillRect/>
          </a:stretch>
        </p:blipFill>
        <p:spPr>
          <a:xfrm>
            <a:off x="904890" y="3264042"/>
            <a:ext cx="201900" cy="201900"/>
          </a:xfrm>
          <a:prstGeom prst="rect">
            <a:avLst/>
          </a:prstGeom>
        </p:spPr>
      </p:pic>
      <p:sp>
        <p:nvSpPr>
          <p:cNvPr id="11" name="Text 7"/>
          <p:cNvSpPr/>
          <p:nvPr/>
        </p:nvSpPr>
        <p:spPr>
          <a:xfrm>
            <a:off x="1408176" y="3063240"/>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Telefonseelsorge</a:t>
            </a:r>
            <a:endParaRPr lang="en-US" sz="1500" dirty="0"/>
          </a:p>
        </p:txBody>
      </p:sp>
      <p:sp>
        <p:nvSpPr>
          <p:cNvPr id="12" name="Text 8"/>
          <p:cNvSpPr/>
          <p:nvPr/>
        </p:nvSpPr>
        <p:spPr>
          <a:xfrm>
            <a:off x="1408176" y="3383280"/>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142 – rund um die Uhr, anonym, kostenlos</a:t>
            </a:r>
            <a:endParaRPr lang="en-US" sz="1250" dirty="0"/>
          </a:p>
        </p:txBody>
      </p:sp>
      <p:sp>
        <p:nvSpPr>
          <p:cNvPr id="13" name="Shape 9"/>
          <p:cNvSpPr/>
          <p:nvPr/>
        </p:nvSpPr>
        <p:spPr>
          <a:xfrm>
            <a:off x="6281928" y="2971800"/>
            <a:ext cx="5394960" cy="786384"/>
          </a:xfrm>
          <a:prstGeom prst="roundRect">
            <a:avLst>
              <a:gd name="adj" fmla="val 10465"/>
            </a:avLst>
          </a:prstGeom>
          <a:solidFill>
            <a:srgbClr val="FFFFFF">
              <a:alpha val="92000"/>
            </a:srgbClr>
          </a:solidFill>
          <a:ln/>
        </p:spPr>
      </p:sp>
      <p:sp>
        <p:nvSpPr>
          <p:cNvPr id="14" name="Shape 10"/>
          <p:cNvSpPr/>
          <p:nvPr/>
        </p:nvSpPr>
        <p:spPr>
          <a:xfrm>
            <a:off x="6510528" y="3154680"/>
            <a:ext cx="420624" cy="420624"/>
          </a:xfrm>
          <a:prstGeom prst="ellipse">
            <a:avLst/>
          </a:prstGeom>
          <a:solidFill>
            <a:srgbClr val="6FBE9C"/>
          </a:solidFill>
          <a:ln/>
        </p:spPr>
      </p:sp>
      <p:pic>
        <p:nvPicPr>
          <p:cNvPr id="15" name="Image 2" descr="preencoded.png">    </p:cNvPr>
          <p:cNvPicPr>
            <a:picLocks noChangeAspect="1"/>
          </p:cNvPicPr>
          <p:nvPr/>
        </p:nvPicPr>
        <p:blipFill>
          <a:blip r:embed="rId3"/>
          <a:stretch>
            <a:fillRect/>
          </a:stretch>
        </p:blipFill>
        <p:spPr>
          <a:xfrm>
            <a:off x="6619890" y="3264042"/>
            <a:ext cx="201900" cy="201900"/>
          </a:xfrm>
          <a:prstGeom prst="rect">
            <a:avLst/>
          </a:prstGeom>
        </p:spPr>
      </p:pic>
      <p:sp>
        <p:nvSpPr>
          <p:cNvPr id="16" name="Text 11"/>
          <p:cNvSpPr/>
          <p:nvPr/>
        </p:nvSpPr>
        <p:spPr>
          <a:xfrm>
            <a:off x="7123176" y="3063240"/>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Rat auf Draht</a:t>
            </a:r>
            <a:endParaRPr lang="en-US" sz="1500" dirty="0"/>
          </a:p>
        </p:txBody>
      </p:sp>
      <p:sp>
        <p:nvSpPr>
          <p:cNvPr id="17" name="Text 12"/>
          <p:cNvSpPr/>
          <p:nvPr/>
        </p:nvSpPr>
        <p:spPr>
          <a:xfrm>
            <a:off x="7123176" y="3383280"/>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147 – für Kinder &amp; Jugendliche (24 h)</a:t>
            </a:r>
            <a:endParaRPr lang="en-US" sz="1250" dirty="0"/>
          </a:p>
        </p:txBody>
      </p:sp>
      <p:sp>
        <p:nvSpPr>
          <p:cNvPr id="18" name="Shape 13"/>
          <p:cNvSpPr/>
          <p:nvPr/>
        </p:nvSpPr>
        <p:spPr>
          <a:xfrm>
            <a:off x="566928" y="3959352"/>
            <a:ext cx="5394960" cy="786384"/>
          </a:xfrm>
          <a:prstGeom prst="roundRect">
            <a:avLst>
              <a:gd name="adj" fmla="val 10465"/>
            </a:avLst>
          </a:prstGeom>
          <a:solidFill>
            <a:srgbClr val="FFFFFF">
              <a:alpha val="92000"/>
            </a:srgbClr>
          </a:solidFill>
          <a:ln/>
        </p:spPr>
      </p:sp>
      <p:sp>
        <p:nvSpPr>
          <p:cNvPr id="19" name="Shape 14"/>
          <p:cNvSpPr/>
          <p:nvPr/>
        </p:nvSpPr>
        <p:spPr>
          <a:xfrm>
            <a:off x="795528" y="4142232"/>
            <a:ext cx="420624" cy="420624"/>
          </a:xfrm>
          <a:prstGeom prst="ellipse">
            <a:avLst/>
          </a:prstGeom>
          <a:solidFill>
            <a:srgbClr val="6FBE9C"/>
          </a:solidFill>
          <a:ln/>
        </p:spPr>
      </p:sp>
      <p:pic>
        <p:nvPicPr>
          <p:cNvPr id="20" name="Image 3" descr="preencoded.png">    </p:cNvPr>
          <p:cNvPicPr>
            <a:picLocks noChangeAspect="1"/>
          </p:cNvPicPr>
          <p:nvPr/>
        </p:nvPicPr>
        <p:blipFill>
          <a:blip r:embed="rId4"/>
          <a:stretch>
            <a:fillRect/>
          </a:stretch>
        </p:blipFill>
        <p:spPr>
          <a:xfrm>
            <a:off x="904890" y="4251594"/>
            <a:ext cx="201900" cy="201900"/>
          </a:xfrm>
          <a:prstGeom prst="rect">
            <a:avLst/>
          </a:prstGeom>
        </p:spPr>
      </p:pic>
      <p:sp>
        <p:nvSpPr>
          <p:cNvPr id="21" name="Text 15"/>
          <p:cNvSpPr/>
          <p:nvPr/>
        </p:nvSpPr>
        <p:spPr>
          <a:xfrm>
            <a:off x="1408176" y="4050792"/>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Ö3-Kummernummer</a:t>
            </a:r>
            <a:endParaRPr lang="en-US" sz="1500" dirty="0"/>
          </a:p>
        </p:txBody>
      </p:sp>
      <p:sp>
        <p:nvSpPr>
          <p:cNvPr id="22" name="Text 16"/>
          <p:cNvSpPr/>
          <p:nvPr/>
        </p:nvSpPr>
        <p:spPr>
          <a:xfrm>
            <a:off x="1408176" y="4370832"/>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116 123 – täglich 16–24 Uhr</a:t>
            </a:r>
            <a:endParaRPr lang="en-US" sz="1250" dirty="0"/>
          </a:p>
        </p:txBody>
      </p:sp>
      <p:sp>
        <p:nvSpPr>
          <p:cNvPr id="23" name="Shape 17"/>
          <p:cNvSpPr/>
          <p:nvPr/>
        </p:nvSpPr>
        <p:spPr>
          <a:xfrm>
            <a:off x="6281928" y="3959352"/>
            <a:ext cx="5394960" cy="786384"/>
          </a:xfrm>
          <a:prstGeom prst="roundRect">
            <a:avLst>
              <a:gd name="adj" fmla="val 10465"/>
            </a:avLst>
          </a:prstGeom>
          <a:solidFill>
            <a:srgbClr val="FFFFFF">
              <a:alpha val="92000"/>
            </a:srgbClr>
          </a:solidFill>
          <a:ln/>
        </p:spPr>
      </p:sp>
      <p:sp>
        <p:nvSpPr>
          <p:cNvPr id="24" name="Shape 18"/>
          <p:cNvSpPr/>
          <p:nvPr/>
        </p:nvSpPr>
        <p:spPr>
          <a:xfrm>
            <a:off x="6510528" y="4142232"/>
            <a:ext cx="420624" cy="420624"/>
          </a:xfrm>
          <a:prstGeom prst="ellipse">
            <a:avLst/>
          </a:prstGeom>
          <a:solidFill>
            <a:srgbClr val="6FBE9C"/>
          </a:solidFill>
          <a:ln/>
        </p:spPr>
      </p:sp>
      <p:pic>
        <p:nvPicPr>
          <p:cNvPr id="25" name="Image 4" descr="preencoded.png">    </p:cNvPr>
          <p:cNvPicPr>
            <a:picLocks noChangeAspect="1"/>
          </p:cNvPicPr>
          <p:nvPr/>
        </p:nvPicPr>
        <p:blipFill>
          <a:blip r:embed="rId5"/>
          <a:stretch>
            <a:fillRect/>
          </a:stretch>
        </p:blipFill>
        <p:spPr>
          <a:xfrm>
            <a:off x="6619890" y="4251594"/>
            <a:ext cx="201900" cy="201900"/>
          </a:xfrm>
          <a:prstGeom prst="rect">
            <a:avLst/>
          </a:prstGeom>
        </p:spPr>
      </p:pic>
      <p:sp>
        <p:nvSpPr>
          <p:cNvPr id="26" name="Text 19"/>
          <p:cNvSpPr/>
          <p:nvPr/>
        </p:nvSpPr>
        <p:spPr>
          <a:xfrm>
            <a:off x="7123176" y="4050792"/>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 mente Austria</a:t>
            </a:r>
            <a:endParaRPr lang="en-US" sz="1500" dirty="0"/>
          </a:p>
        </p:txBody>
      </p:sp>
      <p:sp>
        <p:nvSpPr>
          <p:cNvPr id="27" name="Text 20"/>
          <p:cNvSpPr/>
          <p:nvPr/>
        </p:nvSpPr>
        <p:spPr>
          <a:xfrm>
            <a:off x="7123176" y="4370832"/>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psychosoziale Beratung (promente-austria.at)</a:t>
            </a:r>
            <a:endParaRPr lang="en-US" sz="1250" dirty="0"/>
          </a:p>
        </p:txBody>
      </p:sp>
      <p:sp>
        <p:nvSpPr>
          <p:cNvPr id="28" name="Shape 21"/>
          <p:cNvSpPr/>
          <p:nvPr/>
        </p:nvSpPr>
        <p:spPr>
          <a:xfrm>
            <a:off x="566928" y="4946904"/>
            <a:ext cx="5394960" cy="786384"/>
          </a:xfrm>
          <a:prstGeom prst="roundRect">
            <a:avLst>
              <a:gd name="adj" fmla="val 10465"/>
            </a:avLst>
          </a:prstGeom>
          <a:solidFill>
            <a:srgbClr val="FFFFFF">
              <a:alpha val="92000"/>
            </a:srgbClr>
          </a:solidFill>
          <a:ln/>
        </p:spPr>
      </p:sp>
      <p:sp>
        <p:nvSpPr>
          <p:cNvPr id="29" name="Shape 22"/>
          <p:cNvSpPr/>
          <p:nvPr/>
        </p:nvSpPr>
        <p:spPr>
          <a:xfrm>
            <a:off x="795528" y="5129784"/>
            <a:ext cx="420624" cy="420624"/>
          </a:xfrm>
          <a:prstGeom prst="ellipse">
            <a:avLst/>
          </a:prstGeom>
          <a:solidFill>
            <a:srgbClr val="6FBE9C"/>
          </a:solidFill>
          <a:ln/>
        </p:spPr>
      </p:sp>
      <p:pic>
        <p:nvPicPr>
          <p:cNvPr id="30" name="Image 5" descr="preencoded.png">    </p:cNvPr>
          <p:cNvPicPr>
            <a:picLocks noChangeAspect="1"/>
          </p:cNvPicPr>
          <p:nvPr/>
        </p:nvPicPr>
        <p:blipFill>
          <a:blip r:embed="rId6"/>
          <a:stretch>
            <a:fillRect/>
          </a:stretch>
        </p:blipFill>
        <p:spPr>
          <a:xfrm>
            <a:off x="904890" y="5239146"/>
            <a:ext cx="201900" cy="201900"/>
          </a:xfrm>
          <a:prstGeom prst="rect">
            <a:avLst/>
          </a:prstGeom>
        </p:spPr>
      </p:pic>
      <p:sp>
        <p:nvSpPr>
          <p:cNvPr id="31" name="Text 23"/>
          <p:cNvSpPr/>
          <p:nvPr/>
        </p:nvSpPr>
        <p:spPr>
          <a:xfrm>
            <a:off x="1408176" y="5038344"/>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HPE Österreich</a:t>
            </a:r>
            <a:endParaRPr lang="en-US" sz="1500" dirty="0"/>
          </a:p>
        </p:txBody>
      </p:sp>
      <p:sp>
        <p:nvSpPr>
          <p:cNvPr id="32" name="Text 24"/>
          <p:cNvSpPr/>
          <p:nvPr/>
        </p:nvSpPr>
        <p:spPr>
          <a:xfrm>
            <a:off x="1408176" y="5358384"/>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Hilfe für Angehörige (hpe.at)</a:t>
            </a:r>
            <a:endParaRPr lang="en-US" sz="1250" dirty="0"/>
          </a:p>
        </p:txBody>
      </p:sp>
      <p:sp>
        <p:nvSpPr>
          <p:cNvPr id="33" name="Shape 25"/>
          <p:cNvSpPr/>
          <p:nvPr/>
        </p:nvSpPr>
        <p:spPr>
          <a:xfrm>
            <a:off x="6281928" y="4946904"/>
            <a:ext cx="5394960" cy="786384"/>
          </a:xfrm>
          <a:prstGeom prst="roundRect">
            <a:avLst>
              <a:gd name="adj" fmla="val 10465"/>
            </a:avLst>
          </a:prstGeom>
          <a:solidFill>
            <a:srgbClr val="FFFFFF">
              <a:alpha val="92000"/>
            </a:srgbClr>
          </a:solidFill>
          <a:ln/>
        </p:spPr>
      </p:sp>
      <p:sp>
        <p:nvSpPr>
          <p:cNvPr id="34" name="Shape 26"/>
          <p:cNvSpPr/>
          <p:nvPr/>
        </p:nvSpPr>
        <p:spPr>
          <a:xfrm>
            <a:off x="6510528" y="5129784"/>
            <a:ext cx="420624" cy="420624"/>
          </a:xfrm>
          <a:prstGeom prst="ellipse">
            <a:avLst/>
          </a:prstGeom>
          <a:solidFill>
            <a:srgbClr val="6FBE9C"/>
          </a:solidFill>
          <a:ln/>
        </p:spPr>
      </p:sp>
      <p:pic>
        <p:nvPicPr>
          <p:cNvPr id="35" name="Image 6" descr="preencoded.png">    </p:cNvPr>
          <p:cNvPicPr>
            <a:picLocks noChangeAspect="1"/>
          </p:cNvPicPr>
          <p:nvPr/>
        </p:nvPicPr>
        <p:blipFill>
          <a:blip r:embed="rId7"/>
          <a:stretch>
            <a:fillRect/>
          </a:stretch>
        </p:blipFill>
        <p:spPr>
          <a:xfrm>
            <a:off x="6619890" y="5239146"/>
            <a:ext cx="201900" cy="201900"/>
          </a:xfrm>
          <a:prstGeom prst="rect">
            <a:avLst/>
          </a:prstGeom>
        </p:spPr>
      </p:pic>
      <p:sp>
        <p:nvSpPr>
          <p:cNvPr id="36" name="Text 27"/>
          <p:cNvSpPr/>
          <p:nvPr/>
        </p:nvSpPr>
        <p:spPr>
          <a:xfrm>
            <a:off x="7123176" y="5038344"/>
            <a:ext cx="4389120" cy="34747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Kriseninterventionszentrum</a:t>
            </a:r>
            <a:endParaRPr lang="en-US" sz="1500" dirty="0"/>
          </a:p>
        </p:txBody>
      </p:sp>
      <p:sp>
        <p:nvSpPr>
          <p:cNvPr id="37" name="Text 28"/>
          <p:cNvSpPr/>
          <p:nvPr/>
        </p:nvSpPr>
        <p:spPr>
          <a:xfrm>
            <a:off x="7123176" y="5358384"/>
            <a:ext cx="4389120" cy="320040"/>
          </a:xfrm>
          <a:prstGeom prst="rect">
            <a:avLst/>
          </a:prstGeom>
          <a:noFill/>
          <a:ln/>
        </p:spPr>
        <p:txBody>
          <a:bodyPr wrap="square" rtlCol="0" anchor="ctr"/>
          <a:lstStyle/>
          <a:p>
            <a:pPr indent="0" marL="0">
              <a:buNone/>
            </a:pPr>
            <a:r>
              <a:rPr lang="en-US" sz="1250" dirty="0">
                <a:solidFill>
                  <a:srgbClr val="EAF6EF"/>
                </a:solidFill>
                <a:latin typeface="Calibri" pitchFamily="34" charset="0"/>
                <a:ea typeface="Calibri" pitchFamily="34" charset="-122"/>
                <a:cs typeface="Calibri" pitchFamily="34" charset="-120"/>
              </a:rPr>
              <a:t>Wien: 01 / 406 95 95 (Mo–Fr)</a:t>
            </a:r>
            <a:endParaRPr lang="en-US" sz="1250" dirty="0"/>
          </a:p>
        </p:txBody>
      </p:sp>
      <p:sp>
        <p:nvSpPr>
          <p:cNvPr id="38" name="Text 29"/>
          <p:cNvSpPr/>
          <p:nvPr/>
        </p:nvSpPr>
        <p:spPr>
          <a:xfrm>
            <a:off x="566928" y="6126480"/>
            <a:ext cx="11057839" cy="320040"/>
          </a:xfrm>
          <a:prstGeom prst="rect">
            <a:avLst/>
          </a:prstGeom>
          <a:noFill/>
          <a:ln/>
        </p:spPr>
        <p:txBody>
          <a:bodyPr wrap="square" rtlCol="0" anchor="ctr"/>
          <a:lstStyle/>
          <a:p>
            <a:pPr algn="ctr" indent="0" marL="0">
              <a:buNone/>
            </a:pPr>
            <a:r>
              <a:rPr lang="en-US" sz="1100" i="1" dirty="0">
                <a:solidFill>
                  <a:srgbClr val="EAF6EF"/>
                </a:solidFill>
                <a:latin typeface="Calibri" pitchFamily="34" charset="0"/>
                <a:ea typeface="Calibri" pitchFamily="34" charset="-122"/>
                <a:cs typeface="Calibri" pitchFamily="34" charset="-120"/>
              </a:rPr>
              <a:t>Erste Anlaufstelle ist immer auch die Hausärztin / der Hausarzt. Angaben vor dem Workshop auf Aktualität prüfen.</a:t>
            </a:r>
            <a:endParaRPr lang="en-US" sz="1100" dirty="0"/>
          </a:p>
        </p:txBody>
      </p:sp>
      <p:sp>
        <p:nvSpPr>
          <p:cNvPr id="40" name="Text 30"/>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41" name="Text 31"/>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tmp/claude-0/-home-user-spanwerk-datenschutz/aecddc76-056b-54e2-a906-9229bc8dda84/scratchpad/final/bg_tite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4685C">
              <a:alpha val="80000"/>
            </a:srgbClr>
          </a:solidFill>
          <a:ln/>
        </p:spPr>
      </p:sp>
      <p:sp>
        <p:nvSpPr>
          <p:cNvPr id="4" name="Shape 1"/>
          <p:cNvSpPr/>
          <p:nvPr/>
        </p:nvSpPr>
        <p:spPr>
          <a:xfrm>
            <a:off x="0" y="0"/>
            <a:ext cx="12191695" cy="6858000"/>
          </a:xfrm>
          <a:prstGeom prst="rect">
            <a:avLst/>
          </a:prstGeom>
          <a:solidFill>
            <a:srgbClr val="24685C">
              <a:alpha val="84000"/>
            </a:srgbClr>
          </a:solidFill>
          <a:ln/>
        </p:spPr>
      </p:sp>
      <p:sp>
        <p:nvSpPr>
          <p:cNvPr id="5" name="Shape 2"/>
          <p:cNvSpPr/>
          <p:nvPr/>
        </p:nvSpPr>
        <p:spPr>
          <a:xfrm>
            <a:off x="5547208" y="1234440"/>
            <a:ext cx="1097280" cy="1097280"/>
          </a:xfrm>
          <a:prstGeom prst="ellipse">
            <a:avLst/>
          </a:prstGeom>
          <a:solidFill>
            <a:srgbClr val="E89A45"/>
          </a:solidFill>
          <a:ln/>
        </p:spPr>
      </p:sp>
      <p:pic>
        <p:nvPicPr>
          <p:cNvPr id="6" name="Image 1" descr="preencoded.png">    </p:cNvPr>
          <p:cNvPicPr>
            <a:picLocks noChangeAspect="1"/>
          </p:cNvPicPr>
          <p:nvPr/>
        </p:nvPicPr>
        <p:blipFill>
          <a:blip r:embed="rId2"/>
          <a:stretch>
            <a:fillRect/>
          </a:stretch>
        </p:blipFill>
        <p:spPr>
          <a:xfrm>
            <a:off x="5832500" y="1519733"/>
            <a:ext cx="526694" cy="526694"/>
          </a:xfrm>
          <a:prstGeom prst="rect">
            <a:avLst/>
          </a:prstGeom>
        </p:spPr>
      </p:pic>
      <p:sp>
        <p:nvSpPr>
          <p:cNvPr id="7" name="Text 3"/>
          <p:cNvSpPr/>
          <p:nvPr/>
        </p:nvSpPr>
        <p:spPr>
          <a:xfrm>
            <a:off x="731520" y="2651760"/>
            <a:ext cx="10728655" cy="914400"/>
          </a:xfrm>
          <a:prstGeom prst="rect">
            <a:avLst/>
          </a:prstGeom>
          <a:noFill/>
          <a:ln/>
        </p:spPr>
        <p:txBody>
          <a:bodyPr wrap="square" rtlCol="0" anchor="ctr"/>
          <a:lstStyle/>
          <a:p>
            <a:pPr algn="ctr" indent="0" marL="0">
              <a:buNone/>
            </a:pPr>
            <a:r>
              <a:rPr lang="en-US" sz="3700" b="1" dirty="0">
                <a:solidFill>
                  <a:srgbClr val="FFFFFF"/>
                </a:solidFill>
                <a:latin typeface="Cambria" pitchFamily="34" charset="0"/>
                <a:ea typeface="Cambria" pitchFamily="34" charset="-122"/>
                <a:cs typeface="Cambria" pitchFamily="34" charset="-120"/>
              </a:rPr>
              <a:t>Danke, dass Sie hingesehen haben.</a:t>
            </a:r>
            <a:endParaRPr lang="en-US" sz="3700" dirty="0"/>
          </a:p>
        </p:txBody>
      </p:sp>
      <p:sp>
        <p:nvSpPr>
          <p:cNvPr id="8" name="Text 4"/>
          <p:cNvSpPr/>
          <p:nvPr/>
        </p:nvSpPr>
        <p:spPr>
          <a:xfrm>
            <a:off x="1097280" y="3794760"/>
            <a:ext cx="9997135" cy="1005840"/>
          </a:xfrm>
          <a:prstGeom prst="rect">
            <a:avLst/>
          </a:prstGeom>
          <a:noFill/>
          <a:ln/>
        </p:spPr>
        <p:txBody>
          <a:bodyPr wrap="square" rtlCol="0" anchor="ctr"/>
          <a:lstStyle/>
          <a:p>
            <a:pPr algn="ctr" indent="0" marL="0">
              <a:lnSpc>
                <a:spcPts val="2700"/>
              </a:lnSpc>
              <a:buNone/>
            </a:pPr>
            <a:r>
              <a:rPr lang="en-US" sz="1800" i="1" dirty="0">
                <a:solidFill>
                  <a:srgbClr val="F2FAF5"/>
                </a:solidFill>
                <a:latin typeface="Calibri" pitchFamily="34" charset="0"/>
                <a:ea typeface="Calibri" pitchFamily="34" charset="-122"/>
                <a:cs typeface="Calibri" pitchFamily="34" charset="-120"/>
              </a:rPr>
              <a:t>„Man sieht es einem nicht an. Aber jetzt wissen Sie, wie man hinschaut –</a:t>
            </a:r>
            <a:endParaRPr lang="en-US" sz="1800" dirty="0"/>
          </a:p>
          <a:p>
            <a:pPr algn="ctr" indent="0" marL="0">
              <a:lnSpc>
                <a:spcPts val="2700"/>
              </a:lnSpc>
              <a:buNone/>
            </a:pPr>
            <a:r>
              <a:rPr lang="en-US" sz="1800" i="1" dirty="0">
                <a:solidFill>
                  <a:srgbClr val="F2FAF5"/>
                </a:solidFill>
                <a:latin typeface="Calibri" pitchFamily="34" charset="0"/>
                <a:ea typeface="Calibri" pitchFamily="34" charset="-122"/>
                <a:cs typeface="Calibri" pitchFamily="34" charset="-120"/>
              </a:rPr>
              <a:t>und was ein einziger verständnisvoller Mensch verändern kann.“</a:t>
            </a:r>
            <a:endParaRPr lang="en-US" sz="1800" dirty="0"/>
          </a:p>
        </p:txBody>
      </p:sp>
      <p:sp>
        <p:nvSpPr>
          <p:cNvPr id="9" name="Text 5"/>
          <p:cNvSpPr/>
          <p:nvPr/>
        </p:nvSpPr>
        <p:spPr>
          <a:xfrm>
            <a:off x="731520" y="5212080"/>
            <a:ext cx="10728655" cy="365760"/>
          </a:xfrm>
          <a:prstGeom prst="rect">
            <a:avLst/>
          </a:prstGeom>
          <a:noFill/>
          <a:ln/>
        </p:spPr>
        <p:txBody>
          <a:bodyPr wrap="square" rtlCol="0" anchor="ctr"/>
          <a:lstStyle/>
          <a:p>
            <a:pPr algn="ctr" indent="0" marL="0">
              <a:buNone/>
            </a:pPr>
            <a:r>
              <a:rPr lang="en-US" sz="1400" dirty="0">
                <a:solidFill>
                  <a:srgbClr val="EAF6EF"/>
                </a:solidFill>
                <a:latin typeface="Calibri" pitchFamily="34" charset="0"/>
                <a:ea typeface="Calibri" pitchFamily="34" charset="-122"/>
                <a:cs typeface="Calibri" pitchFamily="34" charset="-120"/>
              </a:rPr>
              <a:t>Markus Warscher     ·     Kontakt:  ____________________</a:t>
            </a:r>
            <a:endParaRPr lang="en-US" sz="1400" dirty="0"/>
          </a:p>
        </p:txBody>
      </p:sp>
      <p:sp>
        <p:nvSpPr>
          <p:cNvPr id="11" name="Text 6"/>
          <p:cNvSpPr/>
          <p:nvPr/>
        </p:nvSpPr>
        <p:spPr>
          <a:xfrm>
            <a:off x="566928" y="6492240"/>
            <a:ext cx="9326880" cy="274320"/>
          </a:xfrm>
          <a:prstGeom prst="rect">
            <a:avLst/>
          </a:prstGeom>
          <a:noFill/>
          <a:ln/>
        </p:spPr>
        <p:txBody>
          <a:bodyPr wrap="square" rtlCol="0" anchor="ctr"/>
          <a:lstStyle/>
          <a:p>
            <a:pPr algn="l" indent="0" marL="0">
              <a:buNone/>
            </a:pPr>
            <a:r>
              <a:rPr lang="en-US" sz="900" dirty="0">
                <a:solidFill>
                  <a:srgbClr val="CFE6DC"/>
                </a:solidFill>
                <a:latin typeface="Calibri" pitchFamily="34" charset="0"/>
                <a:ea typeface="Calibri" pitchFamily="34" charset="-122"/>
                <a:cs typeface="Calibri" pitchFamily="34" charset="-120"/>
              </a:rPr>
              <a:t>„Man sieht es mir nicht an“  ·  Erlebnis-Workshop mit Markus Warscher</a:t>
            </a:r>
            <a:endParaRPr lang="en-US" sz="900" dirty="0"/>
          </a:p>
        </p:txBody>
      </p:sp>
      <p:sp>
        <p:nvSpPr>
          <p:cNvPr id="12" name="Text 7"/>
          <p:cNvSpPr/>
          <p:nvPr/>
        </p:nvSpPr>
        <p:spPr>
          <a:xfrm>
            <a:off x="11185855" y="6492240"/>
            <a:ext cx="457200" cy="274320"/>
          </a:xfrm>
          <a:prstGeom prst="rect">
            <a:avLst/>
          </a:prstGeom>
          <a:noFill/>
          <a:ln/>
        </p:spPr>
        <p:txBody>
          <a:bodyPr wrap="square" rtlCol="0" anchor="ctr"/>
          <a:lstStyle/>
          <a:p>
            <a:pPr algn="r" indent="0" marL="0">
              <a:buNone/>
            </a:pPr>
            <a:r>
              <a:rPr lang="en-US" sz="1000" dirty="0">
                <a:solidFill>
                  <a:srgbClr val="CFE6DC"/>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 sieht es mir nicht an</dc:title>
  <dc:subject>PptxGenJS Presentation</dc:subject>
  <dc:creator>Erlebnis-Workshop mit Markus Warscher</dc:creator>
  <cp:lastModifiedBy>Erlebnis-Workshop mit Markus Warscher</cp:lastModifiedBy>
  <cp:revision>1</cp:revision>
  <dcterms:created xsi:type="dcterms:W3CDTF">2026-07-23T15:19:21Z</dcterms:created>
  <dcterms:modified xsi:type="dcterms:W3CDTF">2026-07-23T15:19:21Z</dcterms:modified>
</cp:coreProperties>
</file>