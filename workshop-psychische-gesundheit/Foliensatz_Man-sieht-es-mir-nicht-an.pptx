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0:00 – Beginn
🎯 ZIEL: Ankommen, Ton setzen: ruhig, warm, wertschätzend.
🗣 SPRECHERNOTIZEN
Titel wirken lassen, bevor Sie sprechen. Leise beginnen: „Der Satz auf dieser Folie ist einer der häufigsten, den Betroffene hören. Und er ist das Problem – und heute unser Thema. Denn genau das macht psychische Erkrankungen so schwer: Man sieht sie nicht.“ Kurz Ihren Namen und dass Sie heute nicht als Arzt sprechen, sondern als Mensch mit eigener Erfahrung.
✨ ANIMATION
Titel „Man sieht es mir nicht an.“ nach 2 Sek. sanft einblenden (Erscheinen/Verblassen, langsam). Untertitel danach. Keine schnellen Effekte.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Vertrauen aufbauen. Ihre Betroffenheit ist Ihre Glaubwürdigkeit.
🗣 SPRECHERNOTIZEN
PLATZHALTER – bitte in EIGENEN Worten. Erzählen Sie nur so viel, wie Ihnen heute guttut. Faustregel: Sprechen Sie aus der Narbe, nicht aus der offenen Wunde – über das, was Sie verarbeitet haben. Sie müssen keine Details des Unfalls schildern; die Diagnose und der Weg genügen. Details siehe Trainerhandbuch, Kapitel ‚Sichere Selbstoffenbarung‘.
✨ ANIMATION
Zitat links zuerst einblenden, dann der Text rechts absatzweise (Wischen von unten). Pausen zwischen den Absätzen zulassen.
🎬 REGIE / METHODIK
Wenn Sie emotional werden: kurz innehalten, atmen, weiter. Das ist authentisch, nicht unprofessionell.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Psychologische Sicherheit herstellen (trauma-informierter Rahmen).
🗣 SPRECHERNOTIZEN
„Dieses Thema kann berühren – vielleicht kennen Sie jemanden, vielleicht sich selbst. Deshalb drei Zusagen an Sie …“ Die drei Punkte ruhig vorlesen. Betonen: Es gibt heute kein Richtig oder Falsch im Fühlen.
✨ ANIMATION
Karten nacheinander einfliegen (Wischen von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Orientierung geben; Erwartung setzen: Erlebnis, kein Frontalvortrag.
🗣 SPRECHERNOTIZEN
Kurz durch die sechs Stationen führen. Verben betonen. Versprechen: „Mein Ziel ist nicht, dass Sie Fachbegriffe mitnehmen, sondern ein Gefühl dafür.“
✨ ANIMATION
Die sechs Karten nacheinander (0,2 s Versatz). Merksatz unten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Relevanz herstellen: Das betrifft uns alle, nicht ‚die anderen‘.
🗣 SPRECHERNOTIZEN
„Schauen Sie sich im Raum um. Statistisch ist mindestens jede vierte Person hier im Lauf eines Jahres betroffen – oder ein enger Angehöriger. Wir reden also nicht über eine Randgruppe. Wir reden über uns.“
✨ ANIMATION
Überschrift zuerst, dann die drei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Teilnehmer aktivieren, Erwartungen abholen.
🗣 SPRECHERNOTIZEN
Nicht bewerten, nur sammeln und spiegeln.
✨ ANIMATION
Zwei Karten von links/rechts einfliegen lassen.
🎬 REGIE / METHODIK
Erwartungen auf Karten schreiben lassen und an Pinnwand hängen. Am Tagesende (Folie 38) darauf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Sicheren Raum vereinbaren.
🗣 SPRECHERNOTIZEN
Regeln gemeinsam ‚absegnen‘: „Können wir uns auf diese sechs Punkte einigen?“ Zustimmung per Handzeichen. Ergänzungen zulassen.
✨ ANIMATION
Sechs Karten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Start
🎯 ZIEL: Ausmaß begreifbar machen, Entstigmatisierung durch Normalität.
🗣 SPRECHERNOTIZEN
„Diese Zahlen sind keine Statistik über Fremde. Rechnen wir es auf diesen Raum um …“ Betonen: Angststörungen und Depression sind Volkskrankheiten wie Diabetes. Zahlen als Größenordnung nennen, nicht auf die Kommastelle.
✨ ANIMATION
Vier Zahlenkacheln nacheinander dezent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Verstehen: Erkrankung ist nicht ‚zu viel Stress‘, sondern etwas qualitativ anderes.
🗣 SPRECHERNOTIZEN
„Stress hat jeder. Eine Krise trifft die meisten irgendwann. Eine Erkrankung ist etwas anderes: Sie bleibt, und man kommt nicht allein wieder heraus.“ Übergänge sind fließend – niemand muss sich rechtfertigen, ab wann es ‚schlimm genug‘ ist.
✨ ANIMATION
Drei Spalten von links nach rechts aufbauen, dann den Pfeil.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Landkarte geben. Jede Erkrankung bekommt gleich ein Bild.
🗣 SPRECHERNOTIZEN
„Wir konzentrieren uns auf fünf häufige Erkrankungen, die man oft missversteht. Zu jeder gebe ich Ihnen ein Bild, kein Lehrbuch.“
✨ ANIMATION
Fünf Kacheln nacheinander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Depression von ‚Traurigsein‘ abgrenzen.
🗣 SPRECHERNOTIZEN
„Depression ist nicht ‚schlechte Laune‘. Traurigkeit hat einen Grund und geht vorbei. Depression ist oft grundlos da und bleibt. Viele sagen nicht ‚ich bin traurig‘, sondern ‚ich fühle gar nichts mehr‘.“
✨ ANIMATION
Symptome zeilenweise. Metapher-Box am Ende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Angst als überaktives Schutzsystem verstehen.
🗣 SPRECHERNOTIZEN
„Angst ist eigentlich sinnvoll – sie schützt uns. Bei einer Angststörung ist der Schutzschalter nur zu empfindlich. Eine Panikattacke fühlt sich an wie ein Herzinfarkt – der Körper ist überzeugt, es geht ums Überleben.“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Burnout ernst nehmen und sauber einordnen.
🗣 SPRECHERNOTIZEN
„Burnout trifft selten die Faulen – meist die, die zu lange zu viel gegeben haben. Es ist das Gegenteil von ‚sich hängen lassen‘.“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persönlicher Ankerpunkt
🎯 ZIEL: PTBS erfahrbar machen – hier dürfen Sie Ihre eigene Geschichte einbringen.
🗣 SPRECHERNOTIZEN
PLATZHALTER FÜR IHR BEISPIEL. Erzählen Sie – wenn es Ihnen guttut – einen konkreten, verarbeiteten Moment: z. B. wie ein bestimmtes Geräusch Sie schlagartig zurückgeworfen hat, obwohl real keine Gefahr war. Zeigen Sie den MECHANISMUS (Trigger → Körper im Vollalarm), nicht die Unfalldetails. Aus der Narbe, nicht aus der offenen Wunde.
✨ ANIMATION
Symptome ruhig zeilenweise. Bei Ihrem Beispiel KEINE Animation.
🎬 REGIE / METHODIK
Emotionaler Höhepunkt. Danach 3 Sekunden Stille.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Bipolar von normalen Stimmungsschwankungen abgrenzen.
🗣 SPRECHERNOTIZEN
„Wir alle haben mal einen guten und mal einen schlechten Tag. Bei der bipolaren Störung geht es um echte Phasen – Wochen kaum Schlaf und Größengefühl, dann Wochen tiefer Depression. Wichtig: gut behandelbar.“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Start
🎯 ZIEL: Übergang vom Kopf ins Herz. Der emotionale Kern.
🗣 SPRECHERNOTIZEN
Tempo herausnehmen. „Bis jetzt haben wir gewusst. Jetzt wollen wir verstehen – also fühlen. Ich gebe Ihnen ein paar Bilder. Sie müssen nichts glauben, nur einen Moment mitgehen.“
✨ ANIMATION
Titel groß einblenden,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Antriebslosigkeit körperlich nachvollziehbar machen.
🗣 SPRECHERNOTIZEN
„Wir sagen leicht: ‚Reiß dich zusammen, geh halt raus.‘ Aber stellen Sie sich vor, an jedem Handgriff hängen 15 Kilo. Aufstehen: 15 Kilo. Freundlich sein: 15 Kilo. Das ist kein Unwille. Das ist die Krankheit.“
✨ ANIMATION
Rechte Karte ‚+15 kg‘ betonen. Text links absatzweise. Letzten Satz einzeln.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Diskrepanz zwischen Fassade und Innenleben zeigen.
🗣 SPRECHERNOTIZEN
„Das Einzige, was andere sehen, ist die Spitze: ein ‚Mir geht’s gut‘, ein Lächeln im Meeting. Alles, was die Person wirklich trägt, liegt unter der Wasserlinie. Deshalb hört man so oft: ‚Das hätte ich nie gedacht.‘“
✨ ANIMATION
Wasserlinie, dann Spitze, dann die verborgenen Begriffe nacheinander auftauchen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‚Aber er wirkte doch fröhlich!‘ auflösen.
🗣 SPRECHERNOTIZEN
„Warum sieht man es nicht? Weil viele es aktiv verstecken. Sie halten die Maske hoch, bis sie zu Hause die Tür zumachen. Wenn Ihnen jemand sagt ‚Mir geht’s nicht gut‘, ist das oft schon ein riesiger Schritt.“
✨ ANIMATION
Linke Karte zuerst, dann rechte – der Kontrast wirkt.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Den häufigsten gut gemeinten Fehler entkräften.
🗣 SPRECHERNOTIZEN
„Der wichtigste Vergleich des Tages: Niemand würde einem Menschen mit gebrochenem Bein sagen ‚Lauf halt‘. Bei der Seele tun wir es ständig. ‚Positiv denken‘ verlangt von einem kranken Gehirn genau das, was gerade nicht geht.“
✨ ANIMATION
Zitat-Box zuerst, dann die drei Karten.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Doppelmoral sichtbar machen.
🗣 SPRECHERNOTIZEN
Zeile für Zeile durchgehen. Letzte Zeile betonen: ‚Heilung ebenso möglich.‘ – Brücke zu Modul 6.
✨ ANIMATION
Zeilen paarweise einblenden. Letzte Zeile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Panik körperlich nachvollziehbar machen.
🗣 SPRECHERNOTIZEN
Optionale Mini-Selbsterfahrung (freiwillig!): „Atmen Sie 20 Sekunden bewusst zu schnell und flach. Spüren Sie das Kribbeln? Genau dieses Körpergefühl – aber ohne Ende und mit Todesangst – ist eine Panikattacke.“ Danach gemeinsam ruhig ausatmen. Nur anbieten, nie erzwingen.
✨ ANIMATION
Vier Kacheln nacheinander. Merksatz zuletzt.
🎬 REGIE / METHODIK
Bei der Atem-Übung vorher Sicherheit ansagen, danach gemeinsam beruhigen.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Verhalten neu deuten: nicht ‚unzuverlässig‘, sondern krank.
🗣 SPRECHERNOTIZEN
PLATZHALTER: Bringen Sie hier ein eigenes, konkretes Alltagsbeispiel. Kernbotschaft: Hinter ‚schwierigem‘ Verhalten steckt oft eine unsichtbare Anstrengung.
✨ ANIMATION
Vier Beispiele nacheinander. Ihre Zeile am Ende frei erzählt.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Übung
🎯 ZIEL: Perspektivübernahme – Depression von innen erleben.
🗣 SPRECHERNOTIZEN
„Sie schlüpfen jetzt für ein paar Minuten in ein Leben mit Depression. Kein Schauspiel – nur mitlesen und spüren.“ Nach der Übung nicht zerreden.
✨ ANIMATION
Ablaufschritte nacheinander, dann Reflexionsbox.
🎬 REGIE / METHODIK
Kopiervorlage austeilen. Nach der Stillarbeit erst Murmelrunde zu zweit, dann Blitzlicht.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Pause (15 min)
🎯 ZIEL: Erholung – besonders nach dem emotionalen Modul 3 wichtig.
🗣 SPRECHERNOTIZEN
„Nehmen Sie sich die Pause wirklich. Bewegung, frische Luft, ein Schluck Wasser.“
✨ ANIMATION
Optional dezenter Countdown-Timer.
🎬 REGIE / METHODIK
Ansprechbar bleiben. Auf Selbstfürsorge achten (auch Ihre eigene).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Start
🎯 ZIEL: Handlungskompetenz statt Hilflosigkeit.
🗣 SPRECHERNOTIZEN
„Die häufigste Frage von Angehörigen ist: Was soll ich denn sagen? Die gute Nachricht: Sie müssen nichts reparieren. Sie müssen da sein.“
✨ ANIMATION
Titel groß,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machbare Hilfe-Werkzeuge geben.
🗣 SPRECHERNOTIZEN
Punkt 1 ist der wichtigste. Betroffene brauchen zuerst das Gefühl, nicht allein zu sein. ‚Zu Hilfe ermutigen‘ heißt begleiten, nicht drängen.
✨ ANIMATION
Fünf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Typische Fettnäpfchen bewusst machen – ohne Schuldgefühle.
🗣 SPRECHERNOTIZEN
„Wichtig: Fast alle diese Sätze sind LIEB gemeint. Es geht nicht darum, sich schlecht zu fühlen, sondern zu verstehen, warum sie nicht ankommen.“
✨ ANIMATION
Fünf Zeilen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Satz-Alternativen geben.
🗣 SPRECHERNOTIZEN
Beide Sätze laut lesen. Links wird bewertet/beschwichtigt, rechts wird Verbindung angeboten.
✨ ANIMATION
Paare zeilenweise – erst links, dann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Zuhören als Kernkompetenz (Überleitung zum Rollenspiel).
🗣 SPRECHERNOTIZEN
‚Pausen aushalten‘ fällt am schwersten – wir reden aus Unsicherheit. Überleitung: ‚Genau das üben wir jetzt.‘
✨ ANIMATION
Vier Karten nacheinander. Faustregel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Vor Selbstüberforderung schützen; Notfall-Handeln klarmachen.
🗣 SPRECHERNOTIZEN
„Sie dürfen helfen – aber Sie müssen niemanden retten.“ Suizidgedanken direkt ansprechen (‚Denkst du daran, dir das Leben zu nehmen?‘) – das pflanzt nichts ein, es entlastet. Dann sofort professionelle Hilfe.
✨ ANIMATION
Vier Kacheln nacheinander. Notfallzeile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Übung
🎯 ZIEL: Do’s, Sprache und aktives Zuhören praktisch erproben.
🗣 SPRECHERNOTIZEN
„Sie werden merken: Es ist gar nicht so leicht, NICHT sofort Ratschläge zu geben. Genau das ist die Übung.“
✨ ANIMATION
Ablaufschritte nacheinander, dann Auswertungsbox.
🎬 REGIE / METHODIK
Situationskarten &amp; Beobachtungsbogen austeilen. Klar timen: 5 Min. spielen, 3 Min. auswerten, dann Rollentausch. Niemand spielt echtes eigenes Leid nach, wenn er nicht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Start
🎯 ZIEL: Aktivierend Stigmata entlarven.
🗣 SPRECHERNOTIZEN
„Kein Test – niemand blamiert sich. Wir schauen, welche Sätze sich hartnäckig halten und was wirklich dahintersteckt.“
✨ ANIMATION
Titel groß, dann Untertitel.
🎬 REGIE / METHODIK
Bei jeder Aussage erst abstimmen lassen,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ZIEL: Stigmatisierende Überzeugungen mit Fakten kontern.
🗣 SPRECHERNOTIZEN
Jede Aussage einzeln aufdecken, nachdem die Gruppe abgestimmt hat. Alle vier sind Mythen. Der dritte verbindet zurück zum Workshop-Titel.
✨ ANIMATION
Karten einzeln aufdecken. ‚Mythos‘-Stempel nach kurzer Diskussion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Zeigen: Behandlung wirkt, ist normal, ist verfügbar.
🗣 SPRECHERNOTIZEN
Medikamente entstigmatisieren: „Ein Antidepressivum ist so wenig eine Schwäche wie eine Insulinspritze.“ Kombination wirkt am besten.
✨ ANIMATION
Vier Karten nacheinander. Merksatz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Angst vor Fachleuten abbauen; Hilfe-Annehmen als Stärke verankern.
🗣 SPRECHERNOTIZEN
„Viele haben Angst vor der ‚Psycho‘-Schiene – als käme man in die Schublade ‚verrückt‘. Das Gegenteil stimmt: Diese Menschen sind Verbündete, keine Gegner. Ein Psychiater ist ein Arzt wie jeder andere, eine Therapie ist Training für die Seele.“ Betonen: Der Schritt zur Hilfe ist der mutigste. Optional Ihre eigene Erfahrung: Wer oder was hat Ihnen geholfen?
✨ ANIMATION
Drei Rollen-Karten nacheinander, dann der grüne Botschafts-Balken.
🎬 REGIE / METHODIK
Wichtige Kernbotschaft – ruhig und bestimmt vortragen. Verbindet zur Hoffnungs-Folie.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Hoffnung verankern – emotionaler Gegenpol zu Modul 3.
🗣 SPRECHERNOTIZEN
PLATZHALTER FÜR IHRE BOTSCHAFT: Erzählen Sie kurz und ehrlich, was Ihnen geholfen hat (Therapie, Menschen, Zeit, ein Wendepunkt). Ihr Weg ist der stärkste Beweis für Hoffnung. Enden Sie mit einem Satz zum Mitnehmen.
✨ ANIMATION
‚Es wird wieder hell.‘ langsam einblenden. Ihre Worte ohne Animation.
🎬 REGIE / METHODIK
Der wärmste Moment des 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Kernbotschaften bündeln, roten Faden schließen.
🗣 SPRECHERNOTIZEN
Die vier Erkenntnisse als Essenz benennen. Dann Raum für Fragen.
✨ ANIMATION
Vier Karten nacheinander. Rückfrage zuletzt.
🎬 REGIE / METHODIK
Zurück zur Erwartungs-Pinnwand (Folie 6): Punkte durchgehen, abhaken. Dann offene Fragerunde.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Handlungsfähigkeit sichern.
🗣 SPRECHERNOTIZEN
„Bitte nehmen Sie dieses Blatt mit – für sich oder für jemanden, an den Sie heute gedacht haben. 142 ist Tag und Nacht erreichbar, kostenlos und anonym.“
✨ ANIMATION
Notfall-Band zuerst, dann die Kacheln.
🎬 REGIE / METHODIK
Als Handout austeilen. Nummern regional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Warm und würdevoll schließen.
🗣 SPRECHERNOTIZEN
Ruhig enden. Für die Offenheit danken. Optional Blitzlicht: ‚Ein Wort, das Sie mitnehmen.‘ Reflexionsbogen austeilen.
✨ ANIMATION
Titel, dann Zitat langsam einblenden.
🎬 REGIE / METHODIK
Reflexionsbogen &amp; Anlaufstellen-Handout mitgeben.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slideLayout" Target="../slideLayouts/slideLayout1.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66928" y="868680"/>
            <a:ext cx="868680" cy="86868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792785" y="1094537"/>
            <a:ext cx="416966" cy="416966"/>
          </a:xfrm>
          <a:prstGeom prst="rect">
            <a:avLst/>
          </a:prstGeom>
        </p:spPr>
      </p:pic>
      <p:sp>
        <p:nvSpPr>
          <p:cNvPr id="5" name="Text 1"/>
          <p:cNvSpPr/>
          <p:nvPr/>
        </p:nvSpPr>
        <p:spPr>
          <a:xfrm>
            <a:off x="566928" y="2194560"/>
            <a:ext cx="10058400" cy="365760"/>
          </a:xfrm>
          <a:prstGeom prst="rect">
            <a:avLst/>
          </a:prstGeom>
          <a:noFill/>
          <a:ln/>
        </p:spPr>
        <p:txBody>
          <a:bodyPr wrap="square"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ERLEBNIS-WORKSHOP  ·  PSYCHISCHE GESUNDHEIT</a:t>
            </a:r>
            <a:endParaRPr lang="en-US" sz="1500" dirty="0"/>
          </a:p>
        </p:txBody>
      </p:sp>
      <p:sp>
        <p:nvSpPr>
          <p:cNvPr id="6" name="Text 2"/>
          <p:cNvSpPr/>
          <p:nvPr/>
        </p:nvSpPr>
        <p:spPr>
          <a:xfrm>
            <a:off x="566928" y="2560320"/>
            <a:ext cx="10515600" cy="2194560"/>
          </a:xfrm>
          <a:prstGeom prst="rect">
            <a:avLst/>
          </a:prstGeom>
          <a:noFill/>
          <a:ln/>
        </p:spPr>
        <p:txBody>
          <a:bodyPr wrap="square" rtlCol="0" anchor="ctr"/>
          <a:lstStyle/>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„Man sieht es</a:t>
            </a:r>
            <a:endParaRPr lang="en-US" sz="6200" dirty="0"/>
          </a:p>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mir nicht an.“</a:t>
            </a:r>
            <a:endParaRPr lang="en-US" sz="6200" dirty="0"/>
          </a:p>
        </p:txBody>
      </p:sp>
      <p:sp>
        <p:nvSpPr>
          <p:cNvPr id="7" name="Text 3"/>
          <p:cNvSpPr/>
          <p:nvPr/>
        </p:nvSpPr>
        <p:spPr>
          <a:xfrm>
            <a:off x="566928" y="4892040"/>
            <a:ext cx="10424160" cy="822960"/>
          </a:xfrm>
          <a:prstGeom prst="rect">
            <a:avLst/>
          </a:prstGeom>
          <a:noFill/>
          <a:ln/>
        </p:spPr>
        <p:txBody>
          <a:bodyPr wrap="square" rtlCol="0" anchor="ctr"/>
          <a:lstStyle/>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Wie sich Depression, Angst und Trauma wirklich anfühlen –</a:t>
            </a:r>
            <a:endParaRPr lang="en-US" sz="2000" dirty="0"/>
          </a:p>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und wie wir Betroffene wirklich begleiten.</a:t>
            </a:r>
            <a:endParaRPr lang="en-US" sz="2000" dirty="0"/>
          </a:p>
        </p:txBody>
      </p:sp>
      <p:pic>
        <p:nvPicPr>
          <p:cNvPr id="8" name="Image 2" descr="/tmp/claude-0/-home-user-spanwerk-datenschutz/aecddc76-056b-54e2-a906-9229bc8dda84/scratchpad/final/referent_round.jpg">    </p:cNvPr>
          <p:cNvPicPr>
            <a:picLocks noChangeAspect="1"/>
          </p:cNvPicPr>
          <p:nvPr/>
        </p:nvPicPr>
        <p:blipFill>
          <a:blip r:embed="rId3"/>
          <a:stretch>
            <a:fillRect/>
          </a:stretch>
        </p:blipFill>
        <p:spPr>
          <a:xfrm>
            <a:off x="566928" y="5623560"/>
            <a:ext cx="777240" cy="777240"/>
          </a:xfrm>
          <a:prstGeom prst="ellipse">
            <a:avLst/>
          </a:prstGeom>
        </p:spPr>
      </p:pic>
      <p:sp>
        <p:nvSpPr>
          <p:cNvPr id="9" name="Text 4"/>
          <p:cNvSpPr/>
          <p:nvPr/>
        </p:nvSpPr>
        <p:spPr>
          <a:xfrm>
            <a:off x="1527048" y="5623560"/>
            <a:ext cx="7315200" cy="777240"/>
          </a:xfrm>
          <a:prstGeom prst="rect">
            <a:avLst/>
          </a:prstGeom>
          <a:noFill/>
          <a:ln/>
        </p:spPr>
        <p:txBody>
          <a:bodyPr wrap="square" rtlCol="0" anchor="ctr"/>
          <a:lstStyle/>
          <a:p>
            <a:pPr indent="0" marL="0">
              <a:lnSpc>
                <a:spcPts val="1900"/>
              </a:lnSpc>
              <a:buNone/>
            </a:pPr>
            <a:r>
              <a:rPr lang="en-US" sz="1500" i="1" dirty="0">
                <a:solidFill>
                  <a:srgbClr val="EAF6EF"/>
                </a:solidFill>
                <a:latin typeface="Calibri" pitchFamily="34" charset="0"/>
                <a:ea typeface="Calibri" pitchFamily="34" charset="-122"/>
                <a:cs typeface="Calibri" pitchFamily="34" charset="-120"/>
              </a:rPr>
              <a:t>Ein Erlebnis-Workshop mit</a:t>
            </a:r>
            <a:endParaRPr lang="en-US" sz="1500" dirty="0"/>
          </a:p>
          <a:p>
            <a:pPr indent="0" marL="0">
              <a:lnSpc>
                <a:spcPts val="1900"/>
              </a:lnSpc>
              <a:buNone/>
            </a:pPr>
            <a:r>
              <a:rPr lang="en-US" sz="1500" i="1" dirty="0">
                <a:solidFill>
                  <a:srgbClr val="EAF6EF"/>
                </a:solidFill>
                <a:latin typeface="Calibri" pitchFamily="34" charset="0"/>
                <a:ea typeface="Calibri" pitchFamily="34" charset="-122"/>
                <a:cs typeface="Calibri" pitchFamily="34" charset="-120"/>
              </a:rPr>
              <a:t>Markus Warscher</a:t>
            </a:r>
            <a:endParaRPr lang="en-US" sz="1500" dirty="0"/>
          </a:p>
        </p:txBody>
      </p:sp>
      <p:sp>
        <p:nvSpPr>
          <p:cNvPr id="11"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2"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referent_portrait.jpg">    </p:cNvPr>
          <p:cNvPicPr>
            <a:picLocks noChangeAspect="1"/>
          </p:cNvPicPr>
          <p:nvPr/>
        </p:nvPicPr>
        <p:blipFill>
          <a:blip r:embed="rId1"/>
          <a:srcRect l="0" r="0" t="0" b="0"/>
          <a:stretch/>
        </p:blipFill>
        <p:spPr>
          <a:xfrm>
            <a:off x="0" y="0"/>
            <a:ext cx="4297680" cy="6858000"/>
          </a:xfrm>
          <a:prstGeom prst="rect">
            <a:avLst/>
          </a:prstGeom>
        </p:spPr>
      </p:pic>
      <p:sp>
        <p:nvSpPr>
          <p:cNvPr id="3" name="Shape 0"/>
          <p:cNvSpPr/>
          <p:nvPr/>
        </p:nvSpPr>
        <p:spPr>
          <a:xfrm>
            <a:off x="0" y="4709160"/>
            <a:ext cx="4297680" cy="2148840"/>
          </a:xfrm>
          <a:prstGeom prst="rect">
            <a:avLst/>
          </a:prstGeom>
          <a:solidFill>
            <a:srgbClr val="24685C"/>
          </a:solidFill>
          <a:ln/>
        </p:spPr>
      </p:sp>
      <p:sp>
        <p:nvSpPr>
          <p:cNvPr id="4" name="Text 1"/>
          <p:cNvSpPr/>
          <p:nvPr/>
        </p:nvSpPr>
        <p:spPr>
          <a:xfrm>
            <a:off x="365760" y="5029200"/>
            <a:ext cx="3611880" cy="1371600"/>
          </a:xfrm>
          <a:prstGeom prst="rect">
            <a:avLst/>
          </a:prstGeom>
          <a:noFill/>
          <a:ln/>
        </p:spPr>
        <p:txBody>
          <a:bodyPr wrap="square" rtlCol="0" anchor="ctr"/>
          <a:lstStyle/>
          <a:p>
            <a:pPr indent="0" marL="0">
              <a:lnSpc>
                <a:spcPts val="2300"/>
              </a:lnSpc>
              <a:buNone/>
            </a:pPr>
            <a:r>
              <a:rPr lang="en-US" sz="1700" i="1" dirty="0">
                <a:solidFill>
                  <a:srgbClr val="FFFFFF"/>
                </a:solidFill>
                <a:latin typeface="Cambria" pitchFamily="34" charset="0"/>
                <a:ea typeface="Cambria" pitchFamily="34" charset="-122"/>
                <a:cs typeface="Cambria" pitchFamily="34" charset="-120"/>
              </a:rPr>
              <a:t>„Ich erzähle Ihnen heute nichts,</a:t>
            </a:r>
            <a:endParaRPr lang="en-US" sz="1700" dirty="0"/>
          </a:p>
          <a:p>
            <a:pPr indent="0" marL="0">
              <a:lnSpc>
                <a:spcPts val="2300"/>
              </a:lnSpc>
              <a:buNone/>
            </a:pPr>
            <a:r>
              <a:rPr lang="en-US" sz="1700" i="1" dirty="0">
                <a:solidFill>
                  <a:srgbClr val="FFFFFF"/>
                </a:solidFill>
                <a:latin typeface="Cambria" pitchFamily="34" charset="0"/>
                <a:ea typeface="Cambria" pitchFamily="34" charset="-122"/>
                <a:cs typeface="Cambria" pitchFamily="34" charset="-120"/>
              </a:rPr>
              <a:t>was ich nicht selbst erlebt habe.“</a:t>
            </a:r>
            <a:endParaRPr lang="en-US" sz="1700" dirty="0"/>
          </a:p>
        </p:txBody>
      </p:sp>
      <p:sp>
        <p:nvSpPr>
          <p:cNvPr id="5" name="Text 2"/>
          <p:cNvSpPr/>
          <p:nvPr/>
        </p:nvSpPr>
        <p:spPr>
          <a:xfrm>
            <a:off x="4709160" y="548640"/>
            <a:ext cx="6766560" cy="310896"/>
          </a:xfrm>
          <a:prstGeom prst="rect">
            <a:avLst/>
          </a:prstGeom>
          <a:noFill/>
          <a:ln/>
        </p:spPr>
        <p:txBody>
          <a:bodyPr wrap="square" rtlCol="0" anchor="ctr"/>
          <a:lstStyle/>
          <a:p>
            <a:pPr indent="0" marL="0">
              <a:buNone/>
            </a:pPr>
            <a:r>
              <a:rPr lang="en-US" sz="1300" b="1" spc="200" kern="0" dirty="0">
                <a:solidFill>
                  <a:srgbClr val="BC722A"/>
                </a:solidFill>
                <a:latin typeface="Calibri" pitchFamily="34" charset="0"/>
                <a:ea typeface="Calibri" pitchFamily="34" charset="-122"/>
                <a:cs typeface="Calibri" pitchFamily="34" charset="-120"/>
              </a:rPr>
              <a:t>WER HEUTE VOR IHNEN STEHT</a:t>
            </a:r>
            <a:endParaRPr lang="en-US" sz="1300" dirty="0"/>
          </a:p>
        </p:txBody>
      </p:sp>
      <p:sp>
        <p:nvSpPr>
          <p:cNvPr id="6" name="Text 3"/>
          <p:cNvSpPr/>
          <p:nvPr/>
        </p:nvSpPr>
        <p:spPr>
          <a:xfrm>
            <a:off x="4709160" y="841248"/>
            <a:ext cx="6766560" cy="731520"/>
          </a:xfrm>
          <a:prstGeom prst="rect">
            <a:avLst/>
          </a:prstGeom>
          <a:noFill/>
          <a:ln/>
        </p:spPr>
        <p:txBody>
          <a:bodyPr wrap="square" rtlCol="0" anchor="ctr"/>
          <a:lstStyle/>
          <a:p>
            <a:pPr indent="0" marL="0">
              <a:buNone/>
            </a:pPr>
            <a:r>
              <a:rPr lang="en-US" sz="3400" b="1" dirty="0">
                <a:solidFill>
                  <a:srgbClr val="2C7A6B"/>
                </a:solidFill>
                <a:latin typeface="Cambria" pitchFamily="34" charset="0"/>
                <a:ea typeface="Cambria" pitchFamily="34" charset="-122"/>
                <a:cs typeface="Cambria" pitchFamily="34" charset="-120"/>
              </a:rPr>
              <a:t>Über mich</a:t>
            </a:r>
            <a:endParaRPr lang="en-US" sz="3400" dirty="0"/>
          </a:p>
        </p:txBody>
      </p:sp>
      <p:sp>
        <p:nvSpPr>
          <p:cNvPr id="7" name="Text 4"/>
          <p:cNvSpPr/>
          <p:nvPr/>
        </p:nvSpPr>
        <p:spPr>
          <a:xfrm>
            <a:off x="4709160" y="1737360"/>
            <a:ext cx="6766560" cy="4114800"/>
          </a:xfrm>
          <a:prstGeom prst="rect">
            <a:avLst/>
          </a:prstGeom>
          <a:noFill/>
          <a:ln/>
        </p:spPr>
        <p:txBody>
          <a:bodyPr wrap="square" rtlCol="0" anchor="t"/>
          <a:lstStyle/>
          <a:p>
            <a:pPr indent="0" marL="0">
              <a:spcAft>
                <a:spcPts val="1200"/>
              </a:spcAft>
              <a:buNone/>
            </a:pPr>
            <a:r>
              <a:rPr lang="en-US" sz="1800" dirty="0">
                <a:solidFill>
                  <a:srgbClr val="23423C"/>
                </a:solidFill>
              </a:rPr>
              <a:t>Mein Name ist Markus Warscher, und ich bin heute Ihr Begleiter durch dieses Thema.
</a:t>
            </a:r>
            <a:endParaRPr lang="en-US" sz="1800" dirty="0"/>
          </a:p>
          <a:p>
            <a:pPr indent="0" marL="0">
              <a:spcAft>
                <a:spcPts val="1200"/>
              </a:spcAft>
              <a:buNone/>
            </a:pPr>
            <a:r>
              <a:rPr lang="en-US" sz="1800" dirty="0">
                <a:solidFill>
                  <a:srgbClr val="23423C"/>
                </a:solidFill>
              </a:rPr>
              <a:t>Vor einigen Jahren war ich in einen schweren Verkehrsunfall verwickelt. Menschen sind dabei gestorben, andere und ich selbst wurden schwer verletzt.
</a:t>
            </a:r>
            <a:endParaRPr lang="en-US" sz="1800" dirty="0"/>
          </a:p>
          <a:p>
            <a:pPr indent="0" marL="0">
              <a:spcAft>
                <a:spcPts val="1200"/>
              </a:spcAft>
              <a:buNone/>
            </a:pPr>
            <a:r>
              <a:rPr lang="en-US" sz="1800" dirty="0">
                <a:solidFill>
                  <a:srgbClr val="23423C"/>
                </a:solidFill>
              </a:rPr>
              <a:t>Was danach kam, war für viele unsichtbar: eine Depression und eine posttraumatische Belastungsstörung (PTBS).
</a:t>
            </a:r>
            <a:endParaRPr lang="en-US" sz="1800" dirty="0"/>
          </a:p>
          <a:p>
            <a:pPr indent="0" marL="0">
              <a:buNone/>
            </a:pPr>
            <a:r>
              <a:rPr lang="en-US" sz="1800" dirty="0">
                <a:solidFill>
                  <a:srgbClr val="23423C"/>
                </a:solidFill>
              </a:rPr>
              <a:t>Ich spreche heute nicht als Mediziner, sondern als jemand, der diesen Weg gegangen ist – und wieder herausgefunden hat.</a:t>
            </a:r>
            <a:endParaRPr lang="en-US" sz="1800" dirty="0"/>
          </a:p>
        </p:txBody>
      </p:sp>
      <p:sp>
        <p:nvSpPr>
          <p:cNvPr id="9"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BEVOR WIR STARTEN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Ein Hinweis zu Ihrer Sicherheit</a:t>
            </a:r>
            <a:endParaRPr lang="en-US" sz="3400" dirty="0"/>
          </a:p>
        </p:txBody>
      </p:sp>
      <p:sp>
        <p:nvSpPr>
          <p:cNvPr id="4" name="Shape 2"/>
          <p:cNvSpPr/>
          <p:nvPr/>
        </p:nvSpPr>
        <p:spPr>
          <a:xfrm>
            <a:off x="566928" y="178308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84832"/>
            <a:ext cx="731520" cy="73152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77163" y="2275027"/>
            <a:ext cx="351130" cy="351130"/>
          </a:xfrm>
          <a:prstGeom prst="rect">
            <a:avLst/>
          </a:prstGeom>
        </p:spPr>
      </p:pic>
      <p:sp>
        <p:nvSpPr>
          <p:cNvPr id="7" name="Text 4"/>
          <p:cNvSpPr/>
          <p:nvPr/>
        </p:nvSpPr>
        <p:spPr>
          <a:xfrm>
            <a:off x="1984248" y="200253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Sie bestimmen Ihre Grenze</a:t>
            </a:r>
            <a:endParaRPr lang="en-US" sz="1900" dirty="0"/>
          </a:p>
        </p:txBody>
      </p:sp>
      <p:sp>
        <p:nvSpPr>
          <p:cNvPr id="8" name="Text 5"/>
          <p:cNvSpPr/>
          <p:nvPr/>
        </p:nvSpPr>
        <p:spPr>
          <a:xfrm>
            <a:off x="1984248" y="244144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Sie müssen nichts sagen, nichts teilen, an keiner Übung teilnehmen. Aussteigen ist jederzeit erlaubt – ohne Erklärung.</a:t>
            </a:r>
            <a:endParaRPr lang="en-US" sz="1500" dirty="0"/>
          </a:p>
        </p:txBody>
      </p:sp>
      <p:sp>
        <p:nvSpPr>
          <p:cNvPr id="9" name="Shape 6"/>
          <p:cNvSpPr/>
          <p:nvPr/>
        </p:nvSpPr>
        <p:spPr>
          <a:xfrm>
            <a:off x="566928" y="329184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86968" y="3593592"/>
            <a:ext cx="731520" cy="73152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1077163" y="3783787"/>
            <a:ext cx="351130" cy="351130"/>
          </a:xfrm>
          <a:prstGeom prst="rect">
            <a:avLst/>
          </a:prstGeom>
        </p:spPr>
      </p:pic>
      <p:sp>
        <p:nvSpPr>
          <p:cNvPr id="12" name="Text 8"/>
          <p:cNvSpPr/>
          <p:nvPr/>
        </p:nvSpPr>
        <p:spPr>
          <a:xfrm>
            <a:off x="1984248" y="351129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Pausen sind völlig normal</a:t>
            </a:r>
            <a:endParaRPr lang="en-US" sz="1900" dirty="0"/>
          </a:p>
        </p:txBody>
      </p:sp>
      <p:sp>
        <p:nvSpPr>
          <p:cNvPr id="13" name="Text 9"/>
          <p:cNvSpPr/>
          <p:nvPr/>
        </p:nvSpPr>
        <p:spPr>
          <a:xfrm>
            <a:off x="1984248" y="395020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Wenn ein Thema Sie berührt: Sie dürfen jederzeit kurz rausgehen, durchatmen, ein Glas Wasser holen.</a:t>
            </a:r>
            <a:endParaRPr lang="en-US" sz="1500" dirty="0"/>
          </a:p>
        </p:txBody>
      </p:sp>
      <p:sp>
        <p:nvSpPr>
          <p:cNvPr id="14" name="Shape 10"/>
          <p:cNvSpPr/>
          <p:nvPr/>
        </p:nvSpPr>
        <p:spPr>
          <a:xfrm>
            <a:off x="566928" y="480060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5102352"/>
            <a:ext cx="731520" cy="73152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77163" y="5292547"/>
            <a:ext cx="351130" cy="351130"/>
          </a:xfrm>
          <a:prstGeom prst="rect">
            <a:avLst/>
          </a:prstGeom>
        </p:spPr>
      </p:pic>
      <p:sp>
        <p:nvSpPr>
          <p:cNvPr id="17" name="Text 12"/>
          <p:cNvSpPr/>
          <p:nvPr/>
        </p:nvSpPr>
        <p:spPr>
          <a:xfrm>
            <a:off x="1984248" y="502005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Reden hilft, muss aber nicht</a:t>
            </a:r>
            <a:endParaRPr lang="en-US" sz="1900" dirty="0"/>
          </a:p>
        </p:txBody>
      </p:sp>
      <p:sp>
        <p:nvSpPr>
          <p:cNvPr id="18" name="Text 13"/>
          <p:cNvSpPr/>
          <p:nvPr/>
        </p:nvSpPr>
        <p:spPr>
          <a:xfrm>
            <a:off x="1984248" y="545896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Am Ende nenne ich Anlaufstellen. Wenn heute etwas in Ihnen anklingt, ist das ein guter Grund, sich Unterstützung zu holen.</a:t>
            </a:r>
            <a:endParaRPr lang="en-US" sz="1500" dirty="0"/>
          </a:p>
        </p:txBody>
      </p:sp>
      <p:sp>
        <p:nvSpPr>
          <p:cNvPr id="20"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Weg durch den Tag</a:t>
            </a:r>
            <a:endParaRPr lang="en-US" sz="3400" dirty="0"/>
          </a:p>
        </p:txBody>
      </p:sp>
      <p:sp>
        <p:nvSpPr>
          <p:cNvPr id="4" name="Shape 2"/>
          <p:cNvSpPr/>
          <p:nvPr/>
        </p:nvSpPr>
        <p:spPr>
          <a:xfrm>
            <a:off x="566928"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2057400"/>
            <a:ext cx="676656" cy="676656"/>
          </a:xfrm>
          <a:prstGeom prst="ellipse">
            <a:avLst/>
          </a:prstGeom>
          <a:solidFill>
            <a:srgbClr val="6FBE9C"/>
          </a:solidFill>
          <a:ln/>
        </p:spPr>
      </p:sp>
      <p:sp>
        <p:nvSpPr>
          <p:cNvPr id="6" name="Text 4"/>
          <p:cNvSpPr/>
          <p:nvPr/>
        </p:nvSpPr>
        <p:spPr>
          <a:xfrm>
            <a:off x="841248"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7" name="Text 5"/>
          <p:cNvSpPr/>
          <p:nvPr/>
        </p:nvSpPr>
        <p:spPr>
          <a:xfrm>
            <a:off x="1682496"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Ankommen</a:t>
            </a:r>
            <a:endParaRPr lang="en-US" sz="2100" dirty="0"/>
          </a:p>
        </p:txBody>
      </p:sp>
      <p:sp>
        <p:nvSpPr>
          <p:cNvPr id="8" name="Text 6"/>
          <p:cNvSpPr/>
          <p:nvPr/>
        </p:nvSpPr>
        <p:spPr>
          <a:xfrm>
            <a:off x="859536"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Begrüßung &amp; Erwartungen</a:t>
            </a:r>
            <a:endParaRPr lang="en-US" sz="1450" dirty="0"/>
          </a:p>
        </p:txBody>
      </p:sp>
      <p:sp>
        <p:nvSpPr>
          <p:cNvPr id="9" name="Shape 7"/>
          <p:cNvSpPr/>
          <p:nvPr/>
        </p:nvSpPr>
        <p:spPr>
          <a:xfrm>
            <a:off x="4279392"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8"/>
          <p:cNvSpPr/>
          <p:nvPr/>
        </p:nvSpPr>
        <p:spPr>
          <a:xfrm>
            <a:off x="4553712" y="2057400"/>
            <a:ext cx="676656" cy="676656"/>
          </a:xfrm>
          <a:prstGeom prst="ellipse">
            <a:avLst/>
          </a:prstGeom>
          <a:solidFill>
            <a:srgbClr val="6FBE9C"/>
          </a:solidFill>
          <a:ln/>
        </p:spPr>
      </p:sp>
      <p:sp>
        <p:nvSpPr>
          <p:cNvPr id="11" name="Text 9"/>
          <p:cNvSpPr/>
          <p:nvPr/>
        </p:nvSpPr>
        <p:spPr>
          <a:xfrm>
            <a:off x="4553712"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p:nvPr/>
        </p:nvSpPr>
        <p:spPr>
          <a:xfrm>
            <a:off x="5394960"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Verstehen</a:t>
            </a:r>
            <a:endParaRPr lang="en-US" sz="2100" dirty="0"/>
          </a:p>
        </p:txBody>
      </p:sp>
      <p:sp>
        <p:nvSpPr>
          <p:cNvPr id="13" name="Text 11"/>
          <p:cNvSpPr/>
          <p:nvPr/>
        </p:nvSpPr>
        <p:spPr>
          <a:xfrm>
            <a:off x="4572000"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Was sind psychische Erkrankungen?</a:t>
            </a:r>
            <a:endParaRPr lang="en-US" sz="1450" dirty="0"/>
          </a:p>
        </p:txBody>
      </p:sp>
      <p:sp>
        <p:nvSpPr>
          <p:cNvPr id="14" name="Shape 12"/>
          <p:cNvSpPr/>
          <p:nvPr/>
        </p:nvSpPr>
        <p:spPr>
          <a:xfrm>
            <a:off x="7991856"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3"/>
          <p:cNvSpPr/>
          <p:nvPr/>
        </p:nvSpPr>
        <p:spPr>
          <a:xfrm>
            <a:off x="8266176" y="2057400"/>
            <a:ext cx="676656" cy="676656"/>
          </a:xfrm>
          <a:prstGeom prst="ellipse">
            <a:avLst/>
          </a:prstGeom>
          <a:solidFill>
            <a:srgbClr val="6FBE9C"/>
          </a:solidFill>
          <a:ln/>
        </p:spPr>
      </p:sp>
      <p:sp>
        <p:nvSpPr>
          <p:cNvPr id="16" name="Text 14"/>
          <p:cNvSpPr/>
          <p:nvPr/>
        </p:nvSpPr>
        <p:spPr>
          <a:xfrm>
            <a:off x="8266176"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7" name="Text 15"/>
          <p:cNvSpPr/>
          <p:nvPr/>
        </p:nvSpPr>
        <p:spPr>
          <a:xfrm>
            <a:off x="9107424"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Fühlen</a:t>
            </a:r>
            <a:endParaRPr lang="en-US" sz="2100" dirty="0"/>
          </a:p>
        </p:txBody>
      </p:sp>
      <p:sp>
        <p:nvSpPr>
          <p:cNvPr id="18" name="Text 16"/>
          <p:cNvSpPr/>
          <p:nvPr/>
        </p:nvSpPr>
        <p:spPr>
          <a:xfrm>
            <a:off x="8284464"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Wie fühlt sich das an?</a:t>
            </a:r>
            <a:endParaRPr lang="en-US" sz="1450" dirty="0"/>
          </a:p>
        </p:txBody>
      </p:sp>
      <p:sp>
        <p:nvSpPr>
          <p:cNvPr id="19" name="Shape 17"/>
          <p:cNvSpPr/>
          <p:nvPr/>
        </p:nvSpPr>
        <p:spPr>
          <a:xfrm>
            <a:off x="566928"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8"/>
          <p:cNvSpPr/>
          <p:nvPr/>
        </p:nvSpPr>
        <p:spPr>
          <a:xfrm>
            <a:off x="841248" y="4224528"/>
            <a:ext cx="676656" cy="676656"/>
          </a:xfrm>
          <a:prstGeom prst="ellipse">
            <a:avLst/>
          </a:prstGeom>
          <a:solidFill>
            <a:srgbClr val="6FBE9C"/>
          </a:solidFill>
          <a:ln/>
        </p:spPr>
      </p:sp>
      <p:sp>
        <p:nvSpPr>
          <p:cNvPr id="21" name="Text 19"/>
          <p:cNvSpPr/>
          <p:nvPr/>
        </p:nvSpPr>
        <p:spPr>
          <a:xfrm>
            <a:off x="841248"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22" name="Text 20"/>
          <p:cNvSpPr/>
          <p:nvPr/>
        </p:nvSpPr>
        <p:spPr>
          <a:xfrm>
            <a:off x="1682496"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Begleiten</a:t>
            </a:r>
            <a:endParaRPr lang="en-US" sz="2100" dirty="0"/>
          </a:p>
        </p:txBody>
      </p:sp>
      <p:sp>
        <p:nvSpPr>
          <p:cNvPr id="23" name="Text 21"/>
          <p:cNvSpPr/>
          <p:nvPr/>
        </p:nvSpPr>
        <p:spPr>
          <a:xfrm>
            <a:off x="859536"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Umgang mit Betroffenen</a:t>
            </a:r>
            <a:endParaRPr lang="en-US" sz="1450" dirty="0"/>
          </a:p>
        </p:txBody>
      </p:sp>
      <p:sp>
        <p:nvSpPr>
          <p:cNvPr id="24" name="Shape 22"/>
          <p:cNvSpPr/>
          <p:nvPr/>
        </p:nvSpPr>
        <p:spPr>
          <a:xfrm>
            <a:off x="4279392"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23"/>
          <p:cNvSpPr/>
          <p:nvPr/>
        </p:nvSpPr>
        <p:spPr>
          <a:xfrm>
            <a:off x="4553712" y="4224528"/>
            <a:ext cx="676656" cy="676656"/>
          </a:xfrm>
          <a:prstGeom prst="ellipse">
            <a:avLst/>
          </a:prstGeom>
          <a:solidFill>
            <a:srgbClr val="6FBE9C"/>
          </a:solidFill>
          <a:ln/>
        </p:spPr>
      </p:sp>
      <p:sp>
        <p:nvSpPr>
          <p:cNvPr id="26" name="Text 24"/>
          <p:cNvSpPr/>
          <p:nvPr/>
        </p:nvSpPr>
        <p:spPr>
          <a:xfrm>
            <a:off x="4553712"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27" name="Text 25"/>
          <p:cNvSpPr/>
          <p:nvPr/>
        </p:nvSpPr>
        <p:spPr>
          <a:xfrm>
            <a:off x="5394960"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Aufklären</a:t>
            </a:r>
            <a:endParaRPr lang="en-US" sz="2100" dirty="0"/>
          </a:p>
        </p:txBody>
      </p:sp>
      <p:sp>
        <p:nvSpPr>
          <p:cNvPr id="28" name="Text 26"/>
          <p:cNvSpPr/>
          <p:nvPr/>
        </p:nvSpPr>
        <p:spPr>
          <a:xfrm>
            <a:off x="4572000"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Mythen &amp; Fakten</a:t>
            </a:r>
            <a:endParaRPr lang="en-US" sz="1450" dirty="0"/>
          </a:p>
        </p:txBody>
      </p:sp>
      <p:sp>
        <p:nvSpPr>
          <p:cNvPr id="29" name="Shape 27"/>
          <p:cNvSpPr/>
          <p:nvPr/>
        </p:nvSpPr>
        <p:spPr>
          <a:xfrm>
            <a:off x="7991856"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8"/>
          <p:cNvSpPr/>
          <p:nvPr/>
        </p:nvSpPr>
        <p:spPr>
          <a:xfrm>
            <a:off x="8266176" y="4224528"/>
            <a:ext cx="676656" cy="676656"/>
          </a:xfrm>
          <a:prstGeom prst="ellipse">
            <a:avLst/>
          </a:prstGeom>
          <a:solidFill>
            <a:srgbClr val="6FBE9C"/>
          </a:solidFill>
          <a:ln/>
        </p:spPr>
      </p:sp>
      <p:sp>
        <p:nvSpPr>
          <p:cNvPr id="31" name="Text 29"/>
          <p:cNvSpPr/>
          <p:nvPr/>
        </p:nvSpPr>
        <p:spPr>
          <a:xfrm>
            <a:off x="8266176"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6</a:t>
            </a:r>
            <a:endParaRPr lang="en-US" sz="2700" dirty="0"/>
          </a:p>
        </p:txBody>
      </p:sp>
      <p:sp>
        <p:nvSpPr>
          <p:cNvPr id="32" name="Text 30"/>
          <p:cNvSpPr/>
          <p:nvPr/>
        </p:nvSpPr>
        <p:spPr>
          <a:xfrm>
            <a:off x="9107424"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Hoffen</a:t>
            </a:r>
            <a:endParaRPr lang="en-US" sz="2100" dirty="0"/>
          </a:p>
        </p:txBody>
      </p:sp>
      <p:sp>
        <p:nvSpPr>
          <p:cNvPr id="33" name="Text 31"/>
          <p:cNvSpPr/>
          <p:nvPr/>
        </p:nvSpPr>
        <p:spPr>
          <a:xfrm>
            <a:off x="8284464"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Hilfe &amp; Wege aus der Krise</a:t>
            </a:r>
            <a:endParaRPr lang="en-US" sz="1450" dirty="0"/>
          </a:p>
        </p:txBody>
      </p:sp>
      <p:sp>
        <p:nvSpPr>
          <p:cNvPr id="34" name="Text 32"/>
          <p:cNvSpPr/>
          <p:nvPr/>
        </p:nvSpPr>
        <p:spPr>
          <a:xfrm>
            <a:off x="566928" y="5943600"/>
            <a:ext cx="11057839" cy="457200"/>
          </a:xfrm>
          <a:prstGeom prst="rect">
            <a:avLst/>
          </a:prstGeom>
          <a:noFill/>
          <a:ln/>
        </p:spPr>
        <p:txBody>
          <a:bodyPr wrap="square" rtlCol="0" anchor="ctr"/>
          <a:lstStyle/>
          <a:p>
            <a:pPr algn="ctr" indent="0" marL="0">
              <a:buNone/>
            </a:pPr>
            <a:r>
              <a:rPr lang="en-US" sz="1550" i="1" dirty="0">
                <a:solidFill>
                  <a:srgbClr val="2E9284"/>
                </a:solidFill>
                <a:latin typeface="Calibri" pitchFamily="34" charset="0"/>
                <a:ea typeface="Calibri" pitchFamily="34" charset="-122"/>
                <a:cs typeface="Calibri" pitchFamily="34" charset="-120"/>
              </a:rPr>
              <a:t>Ein roter Faden zieht sich durch alles: nicht nur WISSEN, was eine Erkrankung ist – sondern VERSTEHEN, wie sie sich anfühlt.</a:t>
            </a:r>
            <a:endParaRPr lang="en-US" sz="1550" dirty="0"/>
          </a:p>
        </p:txBody>
      </p:sp>
      <p:sp>
        <p:nvSpPr>
          <p:cNvPr id="36" name="Text 3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7" name="Text 3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9436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WARUM WIR HEUTE HIER SIND</a:t>
            </a:r>
            <a:endParaRPr lang="en-US" sz="1300" dirty="0"/>
          </a:p>
        </p:txBody>
      </p:sp>
      <p:sp>
        <p:nvSpPr>
          <p:cNvPr id="4" name="Text 1"/>
          <p:cNvSpPr/>
          <p:nvPr/>
        </p:nvSpPr>
        <p:spPr>
          <a:xfrm>
            <a:off x="566928" y="960120"/>
            <a:ext cx="10972800" cy="1371600"/>
          </a:xfrm>
          <a:prstGeom prst="rect">
            <a:avLst/>
          </a:prstGeom>
          <a:noFill/>
          <a:ln/>
        </p:spPr>
        <p:txBody>
          <a:bodyPr wrap="square" rtlCol="0" anchor="ctr"/>
          <a:lstStyle/>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Über etwas reden, das man nicht sieht –</a:t>
            </a:r>
            <a:endParaRPr lang="en-US" sz="3200" dirty="0"/>
          </a:p>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damit es kein Schweigen mehr braucht.</a:t>
            </a:r>
            <a:endParaRPr lang="en-US" sz="3200" dirty="0"/>
          </a:p>
        </p:txBody>
      </p:sp>
      <p:sp>
        <p:nvSpPr>
          <p:cNvPr id="5" name="Shape 2"/>
          <p:cNvSpPr/>
          <p:nvPr/>
        </p:nvSpPr>
        <p:spPr>
          <a:xfrm>
            <a:off x="566928" y="2834640"/>
            <a:ext cx="3520440" cy="2743200"/>
          </a:xfrm>
          <a:prstGeom prst="roundRect">
            <a:avLst>
              <a:gd name="adj" fmla="val 3667"/>
            </a:avLst>
          </a:prstGeom>
          <a:solidFill>
            <a:srgbClr val="FFFFFF"/>
          </a:solidFill>
          <a:ln/>
        </p:spPr>
      </p:sp>
      <p:sp>
        <p:nvSpPr>
          <p:cNvPr id="6" name="Shape 3"/>
          <p:cNvSpPr/>
          <p:nvPr/>
        </p:nvSpPr>
        <p:spPr>
          <a:xfrm>
            <a:off x="886968" y="3154680"/>
            <a:ext cx="804672" cy="804672"/>
          </a:xfrm>
          <a:prstGeom prst="ellipse">
            <a:avLst/>
          </a:prstGeom>
          <a:solidFill>
            <a:srgbClr val="2E9284"/>
          </a:solidFill>
          <a:ln/>
        </p:spPr>
      </p:sp>
      <p:pic>
        <p:nvPicPr>
          <p:cNvPr id="7" name="Image 1" descr="preencoded.png">    </p:cNvPr>
          <p:cNvPicPr>
            <a:picLocks noChangeAspect="1"/>
          </p:cNvPicPr>
          <p:nvPr/>
        </p:nvPicPr>
        <p:blipFill>
          <a:blip r:embed="rId2"/>
          <a:stretch>
            <a:fillRect/>
          </a:stretch>
        </p:blipFill>
        <p:spPr>
          <a:xfrm>
            <a:off x="1096183" y="3363895"/>
            <a:ext cx="386243" cy="386243"/>
          </a:xfrm>
          <a:prstGeom prst="rect">
            <a:avLst/>
          </a:prstGeom>
        </p:spPr>
      </p:pic>
      <p:sp>
        <p:nvSpPr>
          <p:cNvPr id="8" name="Text 4"/>
          <p:cNvSpPr/>
          <p:nvPr/>
        </p:nvSpPr>
        <p:spPr>
          <a:xfrm>
            <a:off x="859536"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~1 von 4</a:t>
            </a:r>
            <a:endParaRPr lang="en-US" sz="3100" dirty="0"/>
          </a:p>
        </p:txBody>
      </p:sp>
      <p:sp>
        <p:nvSpPr>
          <p:cNvPr id="9" name="Text 5"/>
          <p:cNvSpPr/>
          <p:nvPr/>
        </p:nvSpPr>
        <p:spPr>
          <a:xfrm>
            <a:off x="886968"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Menschen in Österreich ist im Lauf eines Jahres psychisch belastet oder erkrankt.</a:t>
            </a:r>
            <a:endParaRPr lang="en-US" sz="1450" dirty="0"/>
          </a:p>
        </p:txBody>
      </p:sp>
      <p:sp>
        <p:nvSpPr>
          <p:cNvPr id="10" name="Shape 6"/>
          <p:cNvSpPr/>
          <p:nvPr/>
        </p:nvSpPr>
        <p:spPr>
          <a:xfrm>
            <a:off x="4343400" y="2834640"/>
            <a:ext cx="3520440" cy="2743200"/>
          </a:xfrm>
          <a:prstGeom prst="roundRect">
            <a:avLst>
              <a:gd name="adj" fmla="val 3667"/>
            </a:avLst>
          </a:prstGeom>
          <a:solidFill>
            <a:srgbClr val="FFFFFF"/>
          </a:solidFill>
          <a:ln/>
        </p:spPr>
      </p:sp>
      <p:sp>
        <p:nvSpPr>
          <p:cNvPr id="11" name="Shape 7"/>
          <p:cNvSpPr/>
          <p:nvPr/>
        </p:nvSpPr>
        <p:spPr>
          <a:xfrm>
            <a:off x="4663440" y="3154680"/>
            <a:ext cx="804672" cy="804672"/>
          </a:xfrm>
          <a:prstGeom prst="ellipse">
            <a:avLst/>
          </a:prstGeom>
          <a:solidFill>
            <a:srgbClr val="2E9284"/>
          </a:solidFill>
          <a:ln/>
        </p:spPr>
      </p:sp>
      <p:pic>
        <p:nvPicPr>
          <p:cNvPr id="12" name="Image 2" descr="preencoded.png">    </p:cNvPr>
          <p:cNvPicPr>
            <a:picLocks noChangeAspect="1"/>
          </p:cNvPicPr>
          <p:nvPr/>
        </p:nvPicPr>
        <p:blipFill>
          <a:blip r:embed="rId3"/>
          <a:stretch>
            <a:fillRect/>
          </a:stretch>
        </p:blipFill>
        <p:spPr>
          <a:xfrm>
            <a:off x="4872655" y="3363895"/>
            <a:ext cx="386243" cy="386243"/>
          </a:xfrm>
          <a:prstGeom prst="rect">
            <a:avLst/>
          </a:prstGeom>
        </p:spPr>
      </p:pic>
      <p:sp>
        <p:nvSpPr>
          <p:cNvPr id="13" name="Text 8"/>
          <p:cNvSpPr/>
          <p:nvPr/>
        </p:nvSpPr>
        <p:spPr>
          <a:xfrm>
            <a:off x="4636008"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unsichtbar</a:t>
            </a:r>
            <a:endParaRPr lang="en-US" sz="3100" dirty="0"/>
          </a:p>
        </p:txBody>
      </p:sp>
      <p:sp>
        <p:nvSpPr>
          <p:cNvPr id="14" name="Text 9"/>
          <p:cNvSpPr/>
          <p:nvPr/>
        </p:nvSpPr>
        <p:spPr>
          <a:xfrm>
            <a:off x="4663440"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Die meisten Erkrankungen sieht man niemandem an – deshalb bleiben sie oft unerkannt.</a:t>
            </a:r>
            <a:endParaRPr lang="en-US" sz="1450" dirty="0"/>
          </a:p>
        </p:txBody>
      </p:sp>
      <p:sp>
        <p:nvSpPr>
          <p:cNvPr id="15" name="Shape 10"/>
          <p:cNvSpPr/>
          <p:nvPr/>
        </p:nvSpPr>
        <p:spPr>
          <a:xfrm>
            <a:off x="8119872" y="2834640"/>
            <a:ext cx="3520440" cy="2743200"/>
          </a:xfrm>
          <a:prstGeom prst="roundRect">
            <a:avLst>
              <a:gd name="adj" fmla="val 3667"/>
            </a:avLst>
          </a:prstGeom>
          <a:solidFill>
            <a:srgbClr val="FFFFFF"/>
          </a:solidFill>
          <a:ln/>
        </p:spPr>
      </p:sp>
      <p:sp>
        <p:nvSpPr>
          <p:cNvPr id="16" name="Shape 11"/>
          <p:cNvSpPr/>
          <p:nvPr/>
        </p:nvSpPr>
        <p:spPr>
          <a:xfrm>
            <a:off x="8439912" y="3154680"/>
            <a:ext cx="804672" cy="804672"/>
          </a:xfrm>
          <a:prstGeom prst="ellipse">
            <a:avLst/>
          </a:prstGeom>
          <a:solidFill>
            <a:srgbClr val="2E9284"/>
          </a:solidFill>
          <a:ln/>
        </p:spPr>
      </p:sp>
      <p:pic>
        <p:nvPicPr>
          <p:cNvPr id="17" name="Image 3" descr="preencoded.png">    </p:cNvPr>
          <p:cNvPicPr>
            <a:picLocks noChangeAspect="1"/>
          </p:cNvPicPr>
          <p:nvPr/>
        </p:nvPicPr>
        <p:blipFill>
          <a:blip r:embed="rId4"/>
          <a:stretch>
            <a:fillRect/>
          </a:stretch>
        </p:blipFill>
        <p:spPr>
          <a:xfrm>
            <a:off x="8649127" y="3363895"/>
            <a:ext cx="386243" cy="386243"/>
          </a:xfrm>
          <a:prstGeom prst="rect">
            <a:avLst/>
          </a:prstGeom>
        </p:spPr>
      </p:pic>
      <p:sp>
        <p:nvSpPr>
          <p:cNvPr id="18" name="Text 12"/>
          <p:cNvSpPr/>
          <p:nvPr/>
        </p:nvSpPr>
        <p:spPr>
          <a:xfrm>
            <a:off x="8412480"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Schweigen</a:t>
            </a:r>
            <a:endParaRPr lang="en-US" sz="3100" dirty="0"/>
          </a:p>
        </p:txBody>
      </p:sp>
      <p:sp>
        <p:nvSpPr>
          <p:cNvPr id="19" name="Text 13"/>
          <p:cNvSpPr/>
          <p:nvPr/>
        </p:nvSpPr>
        <p:spPr>
          <a:xfrm>
            <a:off x="8439912"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Aus Scham und Angst vor Vorurteilen sprechen viele erst spät – oder gar nicht.</a:t>
            </a:r>
            <a:endParaRPr lang="en-US" sz="1450" dirty="0"/>
          </a:p>
        </p:txBody>
      </p:sp>
      <p:sp>
        <p:nvSpPr>
          <p:cNvPr id="21"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2"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IHRE STIMME ZÄHLT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möchten Sie heute mitnehmen?</a:t>
            </a:r>
            <a:endParaRPr lang="en-US" sz="3400" dirty="0"/>
          </a:p>
        </p:txBody>
      </p:sp>
      <p:sp>
        <p:nvSpPr>
          <p:cNvPr id="4" name="Shape 2"/>
          <p:cNvSpPr/>
          <p:nvPr/>
        </p:nvSpPr>
        <p:spPr>
          <a:xfrm>
            <a:off x="566928" y="1783080"/>
            <a:ext cx="548640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32688" y="2103120"/>
            <a:ext cx="804672" cy="804672"/>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141903" y="2312335"/>
            <a:ext cx="386243" cy="386243"/>
          </a:xfrm>
          <a:prstGeom prst="rect">
            <a:avLst/>
          </a:prstGeom>
        </p:spPr>
      </p:pic>
      <p:sp>
        <p:nvSpPr>
          <p:cNvPr id="7" name="Text 4"/>
          <p:cNvSpPr/>
          <p:nvPr/>
        </p:nvSpPr>
        <p:spPr>
          <a:xfrm>
            <a:off x="1984248" y="2212848"/>
            <a:ext cx="3657600" cy="54864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Kurze Runde</a:t>
            </a:r>
            <a:endParaRPr lang="en-US" sz="2100" dirty="0"/>
          </a:p>
        </p:txBody>
      </p:sp>
      <p:sp>
        <p:nvSpPr>
          <p:cNvPr id="8" name="Text 5"/>
          <p:cNvSpPr/>
          <p:nvPr/>
        </p:nvSpPr>
        <p:spPr>
          <a:xfrm>
            <a:off x="1024128" y="3063240"/>
            <a:ext cx="475488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hat Sie hierher geführt?</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Kennen Sie jemanden mit einer psychischen Erkrankung?</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wäre für Sie heute ein guter Tag?</a:t>
            </a:r>
            <a:endParaRPr lang="en-US" sz="1600" dirty="0"/>
          </a:p>
          <a:p>
            <a:pPr marL="342900" indent="-342900">
              <a:buSzPct val="100000"/>
              <a:buChar char="•"/>
            </a:pPr>
            <a:r>
              <a:rPr lang="en-US" sz="1600" dirty="0">
                <a:solidFill>
                  <a:srgbClr val="23423C"/>
                </a:solidFill>
                <a:latin typeface="Calibri" pitchFamily="34" charset="0"/>
                <a:ea typeface="Calibri" pitchFamily="34" charset="-122"/>
                <a:cs typeface="Calibri" pitchFamily="34" charset="-120"/>
              </a:rPr>
              <a:t>Gibt es eine Frage, die Sie schon lange beschäftigt?</a:t>
            </a:r>
            <a:endParaRPr lang="en-US" sz="1600" dirty="0"/>
          </a:p>
        </p:txBody>
      </p:sp>
      <p:sp>
        <p:nvSpPr>
          <p:cNvPr id="9" name="Shape 6"/>
          <p:cNvSpPr/>
          <p:nvPr/>
        </p:nvSpPr>
        <p:spPr>
          <a:xfrm>
            <a:off x="6419088" y="1783080"/>
            <a:ext cx="5205679"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Text 7"/>
          <p:cNvSpPr/>
          <p:nvPr/>
        </p:nvSpPr>
        <p:spPr>
          <a:xfrm>
            <a:off x="6784848" y="2103120"/>
            <a:ext cx="45720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So sammeln wir</a:t>
            </a:r>
            <a:endParaRPr lang="en-US" sz="1900" dirty="0"/>
          </a:p>
        </p:txBody>
      </p:sp>
      <p:sp>
        <p:nvSpPr>
          <p:cNvPr id="11" name="Text 8"/>
          <p:cNvSpPr/>
          <p:nvPr/>
        </p:nvSpPr>
        <p:spPr>
          <a:xfrm>
            <a:off x="6784848" y="2788920"/>
            <a:ext cx="4572000" cy="2194560"/>
          </a:xfrm>
          <a:prstGeom prst="rect">
            <a:avLst/>
          </a:prstGeom>
          <a:noFill/>
          <a:ln/>
        </p:spPr>
        <p:txBody>
          <a:bodyPr wrap="square" rtlCol="0" anchor="ctr"/>
          <a:lstStyle/>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Zuruf oder auf Moderationskarten</a:t>
            </a:r>
            <a:endParaRPr lang="en-US" sz="1600" dirty="0"/>
          </a:p>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An Pinnwand / Flipchart sichtbar machen</a:t>
            </a:r>
            <a:endParaRPr lang="en-US" sz="1600" dirty="0"/>
          </a:p>
          <a:p>
            <a:pPr marL="342900" indent="-342900">
              <a:buSzPct val="100000"/>
              <a:buChar char="•"/>
            </a:pPr>
            <a:r>
              <a:rPr lang="en-US" sz="1600" dirty="0">
                <a:solidFill>
                  <a:srgbClr val="F1FAF5"/>
                </a:solidFill>
                <a:latin typeface="Calibri" pitchFamily="34" charset="0"/>
                <a:ea typeface="Calibri" pitchFamily="34" charset="-122"/>
                <a:cs typeface="Calibri" pitchFamily="34" charset="-120"/>
              </a:rPr>
              <a:t>Am Ende gemeinsam prüfen: erfüllt?</a:t>
            </a:r>
            <a:endParaRPr lang="en-US" sz="1600" dirty="0"/>
          </a:p>
        </p:txBody>
      </p:sp>
      <p:sp>
        <p:nvSpPr>
          <p:cNvPr id="13" name="Text 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4" name="Text 1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DAMIT SICH ALLE SICHER FÜHLEN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Miteinander heute</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58368" cy="658368"/>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0712" y="2219432"/>
            <a:ext cx="316017" cy="316017"/>
          </a:xfrm>
          <a:prstGeom prst="rect">
            <a:avLst/>
          </a:prstGeom>
        </p:spPr>
      </p:pic>
      <p:sp>
        <p:nvSpPr>
          <p:cNvPr id="7" name="Text 4"/>
          <p:cNvSpPr/>
          <p:nvPr/>
        </p:nvSpPr>
        <p:spPr>
          <a:xfrm>
            <a:off x="1645920"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Vertraulichkeit</a:t>
            </a:r>
            <a:endParaRPr lang="en-US" sz="1700" dirty="0"/>
          </a:p>
        </p:txBody>
      </p:sp>
      <p:sp>
        <p:nvSpPr>
          <p:cNvPr id="8" name="Text 5"/>
          <p:cNvSpPr/>
          <p:nvPr/>
        </p:nvSpPr>
        <p:spPr>
          <a:xfrm>
            <a:off x="859536"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Was hier gesagt wird, bleibt hier. Geschichten gehören denen, die sie erzählen.</a:t>
            </a:r>
            <a:endParaRPr lang="en-US" sz="135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58368" cy="658368"/>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3176" y="2219432"/>
            <a:ext cx="316017" cy="316017"/>
          </a:xfrm>
          <a:prstGeom prst="rect">
            <a:avLst/>
          </a:prstGeom>
        </p:spPr>
      </p:pic>
      <p:sp>
        <p:nvSpPr>
          <p:cNvPr id="12" name="Text 8"/>
          <p:cNvSpPr/>
          <p:nvPr/>
        </p:nvSpPr>
        <p:spPr>
          <a:xfrm>
            <a:off x="5358384"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Respekt</a:t>
            </a:r>
            <a:endParaRPr lang="en-US" sz="1700" dirty="0"/>
          </a:p>
        </p:txBody>
      </p:sp>
      <p:sp>
        <p:nvSpPr>
          <p:cNvPr id="13" name="Text 9"/>
          <p:cNvSpPr/>
          <p:nvPr/>
        </p:nvSpPr>
        <p:spPr>
          <a:xfrm>
            <a:off x="4572000"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Keine Bewertung, kein Auslachen. Jede Erfahrung ist gültig.</a:t>
            </a:r>
            <a:endParaRPr lang="en-US" sz="135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58368" cy="658368"/>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55640" y="2219432"/>
            <a:ext cx="316017" cy="316017"/>
          </a:xfrm>
          <a:prstGeom prst="rect">
            <a:avLst/>
          </a:prstGeom>
        </p:spPr>
      </p:pic>
      <p:sp>
        <p:nvSpPr>
          <p:cNvPr id="17" name="Text 12"/>
          <p:cNvSpPr/>
          <p:nvPr/>
        </p:nvSpPr>
        <p:spPr>
          <a:xfrm>
            <a:off x="9070848"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Ich-Botschaften</a:t>
            </a:r>
            <a:endParaRPr lang="en-US" sz="1700" dirty="0"/>
          </a:p>
        </p:txBody>
      </p:sp>
      <p:sp>
        <p:nvSpPr>
          <p:cNvPr id="18" name="Text 13"/>
          <p:cNvSpPr/>
          <p:nvPr/>
        </p:nvSpPr>
        <p:spPr>
          <a:xfrm>
            <a:off x="8284464"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Wir sprechen von uns – nicht über ‚die‘ Betroffenen.</a:t>
            </a:r>
            <a:endParaRPr lang="en-US" sz="1350" dirty="0"/>
          </a:p>
        </p:txBody>
      </p:sp>
      <p:sp>
        <p:nvSpPr>
          <p:cNvPr id="19" name="Shape 14"/>
          <p:cNvSpPr/>
          <p:nvPr/>
        </p:nvSpPr>
        <p:spPr>
          <a:xfrm>
            <a:off x="566928"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859536" y="4087368"/>
            <a:ext cx="658368" cy="658368"/>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1030712" y="4258544"/>
            <a:ext cx="316017" cy="316017"/>
          </a:xfrm>
          <a:prstGeom prst="rect">
            <a:avLst/>
          </a:prstGeom>
        </p:spPr>
      </p:pic>
      <p:sp>
        <p:nvSpPr>
          <p:cNvPr id="22" name="Text 16"/>
          <p:cNvSpPr/>
          <p:nvPr/>
        </p:nvSpPr>
        <p:spPr>
          <a:xfrm>
            <a:off x="1645920"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Freiwilligkeit</a:t>
            </a:r>
            <a:endParaRPr lang="en-US" sz="1700" dirty="0"/>
          </a:p>
        </p:txBody>
      </p:sp>
      <p:sp>
        <p:nvSpPr>
          <p:cNvPr id="23" name="Text 17"/>
          <p:cNvSpPr/>
          <p:nvPr/>
        </p:nvSpPr>
        <p:spPr>
          <a:xfrm>
            <a:off x="859536"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Mitmachen ja, Aussteigen jederzeit. Passen ist erlaubt.</a:t>
            </a:r>
            <a:endParaRPr lang="en-US" sz="1350" dirty="0"/>
          </a:p>
        </p:txBody>
      </p:sp>
      <p:sp>
        <p:nvSpPr>
          <p:cNvPr id="24" name="Shape 18"/>
          <p:cNvSpPr/>
          <p:nvPr/>
        </p:nvSpPr>
        <p:spPr>
          <a:xfrm>
            <a:off x="4279392"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4572000" y="4087368"/>
            <a:ext cx="658368" cy="658368"/>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4743176" y="4258544"/>
            <a:ext cx="316017" cy="316017"/>
          </a:xfrm>
          <a:prstGeom prst="rect">
            <a:avLst/>
          </a:prstGeom>
        </p:spPr>
      </p:pic>
      <p:sp>
        <p:nvSpPr>
          <p:cNvPr id="27" name="Text 20"/>
          <p:cNvSpPr/>
          <p:nvPr/>
        </p:nvSpPr>
        <p:spPr>
          <a:xfrm>
            <a:off x="5358384"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Ausreden lassen</a:t>
            </a:r>
            <a:endParaRPr lang="en-US" sz="1700" dirty="0"/>
          </a:p>
        </p:txBody>
      </p:sp>
      <p:sp>
        <p:nvSpPr>
          <p:cNvPr id="28" name="Text 21"/>
          <p:cNvSpPr/>
          <p:nvPr/>
        </p:nvSpPr>
        <p:spPr>
          <a:xfrm>
            <a:off x="4572000"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Einer spricht, die anderen hören zu. Kein Wettbewerb um Leid.</a:t>
            </a:r>
            <a:endParaRPr lang="en-US" sz="1350" dirty="0"/>
          </a:p>
        </p:txBody>
      </p:sp>
      <p:sp>
        <p:nvSpPr>
          <p:cNvPr id="29" name="Shape 22"/>
          <p:cNvSpPr/>
          <p:nvPr/>
        </p:nvSpPr>
        <p:spPr>
          <a:xfrm>
            <a:off x="7991856"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3"/>
          <p:cNvSpPr/>
          <p:nvPr/>
        </p:nvSpPr>
        <p:spPr>
          <a:xfrm>
            <a:off x="8284464" y="4087368"/>
            <a:ext cx="658368" cy="658368"/>
          </a:xfrm>
          <a:prstGeom prst="ellipse">
            <a:avLst/>
          </a:prstGeom>
          <a:solidFill>
            <a:srgbClr val="6FBE9C"/>
          </a:solidFill>
          <a:ln/>
        </p:spPr>
      </p:sp>
      <p:pic>
        <p:nvPicPr>
          <p:cNvPr id="31" name="Image 5" descr="preencoded.png">    </p:cNvPr>
          <p:cNvPicPr>
            <a:picLocks noChangeAspect="1"/>
          </p:cNvPicPr>
          <p:nvPr/>
        </p:nvPicPr>
        <p:blipFill>
          <a:blip r:embed="rId6"/>
          <a:stretch>
            <a:fillRect/>
          </a:stretch>
        </p:blipFill>
        <p:spPr>
          <a:xfrm>
            <a:off x="8455640" y="4258544"/>
            <a:ext cx="316017" cy="316017"/>
          </a:xfrm>
          <a:prstGeom prst="rect">
            <a:avLst/>
          </a:prstGeom>
        </p:spPr>
      </p:pic>
      <p:sp>
        <p:nvSpPr>
          <p:cNvPr id="32" name="Text 24"/>
          <p:cNvSpPr/>
          <p:nvPr/>
        </p:nvSpPr>
        <p:spPr>
          <a:xfrm>
            <a:off x="9070848"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Neugier statt Urteil</a:t>
            </a:r>
            <a:endParaRPr lang="en-US" sz="1700" dirty="0"/>
          </a:p>
        </p:txBody>
      </p:sp>
      <p:sp>
        <p:nvSpPr>
          <p:cNvPr id="33" name="Text 25"/>
          <p:cNvSpPr/>
          <p:nvPr/>
        </p:nvSpPr>
        <p:spPr>
          <a:xfrm>
            <a:off x="8284464"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Fragen sind willkommen – auch die vermeintlich ‚dummen‘.</a:t>
            </a:r>
            <a:endParaRPr lang="en-US" sz="1350" dirty="0"/>
          </a:p>
        </p:txBody>
      </p:sp>
      <p:sp>
        <p:nvSpPr>
          <p:cNvPr id="35"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6"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48640"/>
            <a:ext cx="109728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2  ·  WAS SIND PSYCHISCHE ERKRANKUNGEN?</a:t>
            </a:r>
            <a:endParaRPr lang="en-US" sz="1300" dirty="0"/>
          </a:p>
        </p:txBody>
      </p:sp>
      <p:sp>
        <p:nvSpPr>
          <p:cNvPr id="4" name="Text 1"/>
          <p:cNvSpPr/>
          <p:nvPr/>
        </p:nvSpPr>
        <p:spPr>
          <a:xfrm>
            <a:off x="566928" y="896112"/>
            <a:ext cx="10972800" cy="640080"/>
          </a:xfrm>
          <a:prstGeom prst="rect">
            <a:avLst/>
          </a:prstGeom>
          <a:noFill/>
          <a:ln/>
        </p:spPr>
        <p:txBody>
          <a:bodyPr wrap="square"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Häufiger, als die meisten denken</a:t>
            </a:r>
            <a:endParaRPr lang="en-US" sz="3300" dirty="0"/>
          </a:p>
        </p:txBody>
      </p:sp>
      <p:sp>
        <p:nvSpPr>
          <p:cNvPr id="5" name="Shape 2"/>
          <p:cNvSpPr/>
          <p:nvPr/>
        </p:nvSpPr>
        <p:spPr>
          <a:xfrm>
            <a:off x="566928" y="1874520"/>
            <a:ext cx="5394960" cy="1627632"/>
          </a:xfrm>
          <a:prstGeom prst="roundRect">
            <a:avLst>
              <a:gd name="adj" fmla="val 6180"/>
            </a:avLst>
          </a:prstGeom>
          <a:solidFill>
            <a:srgbClr val="FFFFFF"/>
          </a:solidFill>
          <a:ln/>
        </p:spPr>
      </p:sp>
      <p:sp>
        <p:nvSpPr>
          <p:cNvPr id="6" name="Text 3"/>
          <p:cNvSpPr/>
          <p:nvPr/>
        </p:nvSpPr>
        <p:spPr>
          <a:xfrm>
            <a:off x="886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ca. 1 von 4</a:t>
            </a:r>
            <a:endParaRPr lang="en-US" sz="3500" dirty="0"/>
          </a:p>
        </p:txBody>
      </p:sp>
      <p:sp>
        <p:nvSpPr>
          <p:cNvPr id="7" name="Text 4"/>
          <p:cNvSpPr/>
          <p:nvPr/>
        </p:nvSpPr>
        <p:spPr>
          <a:xfrm>
            <a:off x="905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in Österreich ist pro Jahr betroffen</a:t>
            </a:r>
            <a:endParaRPr lang="en-US" sz="1500" dirty="0"/>
          </a:p>
        </p:txBody>
      </p:sp>
      <p:sp>
        <p:nvSpPr>
          <p:cNvPr id="8" name="Shape 5"/>
          <p:cNvSpPr/>
          <p:nvPr/>
        </p:nvSpPr>
        <p:spPr>
          <a:xfrm>
            <a:off x="6281928" y="1874520"/>
            <a:ext cx="5394960" cy="1627632"/>
          </a:xfrm>
          <a:prstGeom prst="roundRect">
            <a:avLst>
              <a:gd name="adj" fmla="val 6180"/>
            </a:avLst>
          </a:prstGeom>
          <a:solidFill>
            <a:srgbClr val="FFFFFF"/>
          </a:solidFill>
          <a:ln/>
        </p:spPr>
      </p:sp>
      <p:sp>
        <p:nvSpPr>
          <p:cNvPr id="9" name="Text 6"/>
          <p:cNvSpPr/>
          <p:nvPr/>
        </p:nvSpPr>
        <p:spPr>
          <a:xfrm>
            <a:off x="6601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~730.000</a:t>
            </a:r>
            <a:endParaRPr lang="en-US" sz="3500" dirty="0"/>
          </a:p>
        </p:txBody>
      </p:sp>
      <p:sp>
        <p:nvSpPr>
          <p:cNvPr id="10" name="Text 7"/>
          <p:cNvSpPr/>
          <p:nvPr/>
        </p:nvSpPr>
        <p:spPr>
          <a:xfrm>
            <a:off x="6620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leben mit einer Depression</a:t>
            </a:r>
            <a:endParaRPr lang="en-US" sz="1500" dirty="0"/>
          </a:p>
        </p:txBody>
      </p:sp>
      <p:sp>
        <p:nvSpPr>
          <p:cNvPr id="11" name="Shape 8"/>
          <p:cNvSpPr/>
          <p:nvPr/>
        </p:nvSpPr>
        <p:spPr>
          <a:xfrm>
            <a:off x="566928" y="3794760"/>
            <a:ext cx="5394960" cy="1627632"/>
          </a:xfrm>
          <a:prstGeom prst="roundRect">
            <a:avLst>
              <a:gd name="adj" fmla="val 6180"/>
            </a:avLst>
          </a:prstGeom>
          <a:solidFill>
            <a:srgbClr val="FFFFFF"/>
          </a:solidFill>
          <a:ln/>
        </p:spPr>
      </p:sp>
      <p:sp>
        <p:nvSpPr>
          <p:cNvPr id="12" name="Text 9"/>
          <p:cNvSpPr/>
          <p:nvPr/>
        </p:nvSpPr>
        <p:spPr>
          <a:xfrm>
            <a:off x="886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Nr. 1</a:t>
            </a:r>
            <a:endParaRPr lang="en-US" sz="3500" dirty="0"/>
          </a:p>
        </p:txBody>
      </p:sp>
      <p:sp>
        <p:nvSpPr>
          <p:cNvPr id="13" name="Text 10"/>
          <p:cNvSpPr/>
          <p:nvPr/>
        </p:nvSpPr>
        <p:spPr>
          <a:xfrm>
            <a:off x="905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Angststörungen: die häufigste psychische Erkrankung</a:t>
            </a:r>
            <a:endParaRPr lang="en-US" sz="1500" dirty="0"/>
          </a:p>
        </p:txBody>
      </p:sp>
      <p:sp>
        <p:nvSpPr>
          <p:cNvPr id="14" name="Shape 11"/>
          <p:cNvSpPr/>
          <p:nvPr/>
        </p:nvSpPr>
        <p:spPr>
          <a:xfrm>
            <a:off x="6281928" y="3794760"/>
            <a:ext cx="5394960" cy="1627632"/>
          </a:xfrm>
          <a:prstGeom prst="roundRect">
            <a:avLst>
              <a:gd name="adj" fmla="val 6180"/>
            </a:avLst>
          </a:prstGeom>
          <a:solidFill>
            <a:srgbClr val="FFFFFF"/>
          </a:solidFill>
          <a:ln/>
        </p:spPr>
      </p:sp>
      <p:sp>
        <p:nvSpPr>
          <p:cNvPr id="15" name="Text 12"/>
          <p:cNvSpPr/>
          <p:nvPr/>
        </p:nvSpPr>
        <p:spPr>
          <a:xfrm>
            <a:off x="6601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Top 3</a:t>
            </a:r>
            <a:endParaRPr lang="en-US" sz="3500" dirty="0"/>
          </a:p>
        </p:txBody>
      </p:sp>
      <p:sp>
        <p:nvSpPr>
          <p:cNvPr id="16" name="Text 13"/>
          <p:cNvSpPr/>
          <p:nvPr/>
        </p:nvSpPr>
        <p:spPr>
          <a:xfrm>
            <a:off x="6620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psychische Leiden zählen zu den häufigsten Gründen für Krankenstand &amp; Frühpension</a:t>
            </a:r>
            <a:endParaRPr lang="en-US" sz="1500" dirty="0"/>
          </a:p>
        </p:txBody>
      </p:sp>
      <p:sp>
        <p:nvSpPr>
          <p:cNvPr id="17" name="Text 14"/>
          <p:cNvSpPr/>
          <p:nvPr/>
        </p:nvSpPr>
        <p:spPr>
          <a:xfrm>
            <a:off x="566928" y="6035040"/>
            <a:ext cx="11057839" cy="365760"/>
          </a:xfrm>
          <a:prstGeom prst="rect">
            <a:avLst/>
          </a:prstGeom>
          <a:noFill/>
          <a:ln/>
        </p:spPr>
        <p:txBody>
          <a:bodyPr wrap="square" rtlCol="0" anchor="ctr"/>
          <a:lstStyle/>
          <a:p>
            <a:pPr indent="0" marL="0">
              <a:buNone/>
            </a:pPr>
            <a:r>
              <a:rPr lang="en-US" sz="1100" i="1" dirty="0">
                <a:solidFill>
                  <a:srgbClr val="EAF6EF"/>
                </a:solidFill>
                <a:latin typeface="Calibri" pitchFamily="34" charset="0"/>
                <a:ea typeface="Calibri" pitchFamily="34" charset="-122"/>
                <a:cs typeface="Calibri" pitchFamily="34" charset="-120"/>
              </a:rPr>
              <a:t>Zahlen sind Größenordnungen (Quellen u. a. Gesundheit Österreich, Statistik Austria, pro mente) – vor dem Einsatz auf Aktualität prüfen.</a:t>
            </a:r>
            <a:endParaRPr lang="en-US" sz="1100" dirty="0"/>
          </a:p>
        </p:txBody>
      </p:sp>
      <p:sp>
        <p:nvSpPr>
          <p:cNvPr id="19" name="Text 1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0" name="Text 1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WO HÖRT DAS NORMALE AUF?</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Stress · Krise · Erkrankung</a:t>
            </a:r>
            <a:endParaRPr lang="en-US" sz="3400" dirty="0"/>
          </a:p>
        </p:txBody>
      </p:sp>
      <p:sp>
        <p:nvSpPr>
          <p:cNvPr id="4" name="Shape 2"/>
          <p:cNvSpPr/>
          <p:nvPr/>
        </p:nvSpPr>
        <p:spPr>
          <a:xfrm>
            <a:off x="566928"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566928" y="1828800"/>
            <a:ext cx="3520440" cy="164592"/>
          </a:xfrm>
          <a:prstGeom prst="roundRect">
            <a:avLst>
              <a:gd name="adj" fmla="val 38889"/>
            </a:avLst>
          </a:prstGeom>
          <a:solidFill>
            <a:srgbClr val="6FBE9C"/>
          </a:solidFill>
          <a:ln/>
        </p:spPr>
      </p:sp>
      <p:sp>
        <p:nvSpPr>
          <p:cNvPr id="6" name="Shape 4"/>
          <p:cNvSpPr/>
          <p:nvPr/>
        </p:nvSpPr>
        <p:spPr>
          <a:xfrm>
            <a:off x="886968" y="2212848"/>
            <a:ext cx="749808" cy="749808"/>
          </a:xfrm>
          <a:prstGeom prst="ellipse">
            <a:avLst/>
          </a:prstGeom>
          <a:solidFill>
            <a:srgbClr val="6FBE9C"/>
          </a:solidFill>
          <a:ln/>
        </p:spPr>
      </p:sp>
      <p:pic>
        <p:nvPicPr>
          <p:cNvPr id="7" name="Image 0" descr="preencoded.png">    </p:cNvPr>
          <p:cNvPicPr>
            <a:picLocks noChangeAspect="1"/>
          </p:cNvPicPr>
          <p:nvPr/>
        </p:nvPicPr>
        <p:blipFill>
          <a:blip r:embed="rId1"/>
          <a:stretch>
            <a:fillRect/>
          </a:stretch>
        </p:blipFill>
        <p:spPr>
          <a:xfrm>
            <a:off x="1081918" y="2407798"/>
            <a:ext cx="359908" cy="359908"/>
          </a:xfrm>
          <a:prstGeom prst="rect">
            <a:avLst/>
          </a:prstGeom>
        </p:spPr>
      </p:pic>
      <p:sp>
        <p:nvSpPr>
          <p:cNvPr id="8" name="Text 5"/>
          <p:cNvSpPr/>
          <p:nvPr/>
        </p:nvSpPr>
        <p:spPr>
          <a:xfrm>
            <a:off x="1773936"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Stress / Belastung</a:t>
            </a:r>
            <a:endParaRPr lang="en-US" sz="1800" dirty="0"/>
          </a:p>
        </p:txBody>
      </p:sp>
      <p:sp>
        <p:nvSpPr>
          <p:cNvPr id="9" name="Text 6"/>
          <p:cNvSpPr/>
          <p:nvPr/>
        </p:nvSpPr>
        <p:spPr>
          <a:xfrm>
            <a:off x="886968"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Eine normale Reaktion auf Anforderung. Geht vorbei, wenn die Belastung endet. Erholung funktioniert.</a:t>
            </a:r>
            <a:endParaRPr lang="en-US" sz="1450" dirty="0"/>
          </a:p>
        </p:txBody>
      </p:sp>
      <p:sp>
        <p:nvSpPr>
          <p:cNvPr id="10" name="Text 7"/>
          <p:cNvSpPr/>
          <p:nvPr/>
        </p:nvSpPr>
        <p:spPr>
          <a:xfrm>
            <a:off x="886968"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bin gerade viel unterwegs.“</a:t>
            </a:r>
            <a:endParaRPr lang="en-US" sz="1400" dirty="0"/>
          </a:p>
        </p:txBody>
      </p:sp>
      <p:sp>
        <p:nvSpPr>
          <p:cNvPr id="11" name="Shape 8"/>
          <p:cNvSpPr/>
          <p:nvPr/>
        </p:nvSpPr>
        <p:spPr>
          <a:xfrm>
            <a:off x="4343400"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2" name="Shape 9"/>
          <p:cNvSpPr/>
          <p:nvPr/>
        </p:nvSpPr>
        <p:spPr>
          <a:xfrm>
            <a:off x="4343400" y="1828800"/>
            <a:ext cx="3520440" cy="164592"/>
          </a:xfrm>
          <a:prstGeom prst="roundRect">
            <a:avLst>
              <a:gd name="adj" fmla="val 38889"/>
            </a:avLst>
          </a:prstGeom>
          <a:solidFill>
            <a:srgbClr val="E89A45"/>
          </a:solidFill>
          <a:ln/>
        </p:spPr>
      </p:sp>
      <p:sp>
        <p:nvSpPr>
          <p:cNvPr id="13" name="Shape 10"/>
          <p:cNvSpPr/>
          <p:nvPr/>
        </p:nvSpPr>
        <p:spPr>
          <a:xfrm>
            <a:off x="4663440" y="2212848"/>
            <a:ext cx="749808" cy="749808"/>
          </a:xfrm>
          <a:prstGeom prst="ellipse">
            <a:avLst/>
          </a:prstGeom>
          <a:solidFill>
            <a:srgbClr val="E89A45"/>
          </a:solidFill>
          <a:ln/>
        </p:spPr>
      </p:sp>
      <p:pic>
        <p:nvPicPr>
          <p:cNvPr id="14" name="Image 1" descr="preencoded.png">    </p:cNvPr>
          <p:cNvPicPr>
            <a:picLocks noChangeAspect="1"/>
          </p:cNvPicPr>
          <p:nvPr/>
        </p:nvPicPr>
        <p:blipFill>
          <a:blip r:embed="rId2"/>
          <a:stretch>
            <a:fillRect/>
          </a:stretch>
        </p:blipFill>
        <p:spPr>
          <a:xfrm>
            <a:off x="4858390" y="2407798"/>
            <a:ext cx="359908" cy="359908"/>
          </a:xfrm>
          <a:prstGeom prst="rect">
            <a:avLst/>
          </a:prstGeom>
        </p:spPr>
      </p:pic>
      <p:sp>
        <p:nvSpPr>
          <p:cNvPr id="15" name="Text 11"/>
          <p:cNvSpPr/>
          <p:nvPr/>
        </p:nvSpPr>
        <p:spPr>
          <a:xfrm>
            <a:off x="5550408"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Krise</a:t>
            </a:r>
            <a:endParaRPr lang="en-US" sz="1800" dirty="0"/>
          </a:p>
        </p:txBody>
      </p:sp>
      <p:sp>
        <p:nvSpPr>
          <p:cNvPr id="16" name="Text 12"/>
          <p:cNvSpPr/>
          <p:nvPr/>
        </p:nvSpPr>
        <p:spPr>
          <a:xfrm>
            <a:off x="4663440"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 einschneidendes Ereignis wirft uns aus der Bahn. Zeitlich begrenzt, aber überfordernd. Braucht Unterstützung.</a:t>
            </a:r>
            <a:endParaRPr lang="en-US" sz="1450" dirty="0"/>
          </a:p>
        </p:txBody>
      </p:sp>
      <p:sp>
        <p:nvSpPr>
          <p:cNvPr id="17" name="Text 13"/>
          <p:cNvSpPr/>
          <p:nvPr/>
        </p:nvSpPr>
        <p:spPr>
          <a:xfrm>
            <a:off x="4663440"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weiß gerade nicht weiter.“</a:t>
            </a:r>
            <a:endParaRPr lang="en-US" sz="1400" dirty="0"/>
          </a:p>
        </p:txBody>
      </p:sp>
      <p:sp>
        <p:nvSpPr>
          <p:cNvPr id="18" name="Shape 14"/>
          <p:cNvSpPr/>
          <p:nvPr/>
        </p:nvSpPr>
        <p:spPr>
          <a:xfrm>
            <a:off x="8119872"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5"/>
          <p:cNvSpPr/>
          <p:nvPr/>
        </p:nvSpPr>
        <p:spPr>
          <a:xfrm>
            <a:off x="8119872" y="1828800"/>
            <a:ext cx="3520440" cy="164592"/>
          </a:xfrm>
          <a:prstGeom prst="roundRect">
            <a:avLst>
              <a:gd name="adj" fmla="val 38889"/>
            </a:avLst>
          </a:prstGeom>
          <a:solidFill>
            <a:srgbClr val="2E9284"/>
          </a:solidFill>
          <a:ln/>
        </p:spPr>
      </p:sp>
      <p:sp>
        <p:nvSpPr>
          <p:cNvPr id="20" name="Shape 16"/>
          <p:cNvSpPr/>
          <p:nvPr/>
        </p:nvSpPr>
        <p:spPr>
          <a:xfrm>
            <a:off x="8439912" y="2212848"/>
            <a:ext cx="749808" cy="749808"/>
          </a:xfrm>
          <a:prstGeom prst="ellipse">
            <a:avLst/>
          </a:prstGeom>
          <a:solidFill>
            <a:srgbClr val="2E9284"/>
          </a:solidFill>
          <a:ln/>
        </p:spPr>
      </p:sp>
      <p:pic>
        <p:nvPicPr>
          <p:cNvPr id="21" name="Image 2" descr="preencoded.png">    </p:cNvPr>
          <p:cNvPicPr>
            <a:picLocks noChangeAspect="1"/>
          </p:cNvPicPr>
          <p:nvPr/>
        </p:nvPicPr>
        <p:blipFill>
          <a:blip r:embed="rId3"/>
          <a:stretch>
            <a:fillRect/>
          </a:stretch>
        </p:blipFill>
        <p:spPr>
          <a:xfrm>
            <a:off x="8634862" y="2407798"/>
            <a:ext cx="359908" cy="359908"/>
          </a:xfrm>
          <a:prstGeom prst="rect">
            <a:avLst/>
          </a:prstGeom>
        </p:spPr>
      </p:pic>
      <p:sp>
        <p:nvSpPr>
          <p:cNvPr id="22" name="Text 17"/>
          <p:cNvSpPr/>
          <p:nvPr/>
        </p:nvSpPr>
        <p:spPr>
          <a:xfrm>
            <a:off x="9326880"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Erkrankung</a:t>
            </a:r>
            <a:endParaRPr lang="en-US" sz="1800" dirty="0"/>
          </a:p>
        </p:txBody>
      </p:sp>
      <p:sp>
        <p:nvSpPr>
          <p:cNvPr id="23" name="Text 18"/>
          <p:cNvSpPr/>
          <p:nvPr/>
        </p:nvSpPr>
        <p:spPr>
          <a:xfrm>
            <a:off x="8439912"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Beschwerden bleiben (Wochen, Monate), belasten den Alltag stark und gehen nicht ‚von selbst‘ weg. Braucht Behandlung.</a:t>
            </a:r>
            <a:endParaRPr lang="en-US" sz="1450" dirty="0"/>
          </a:p>
        </p:txBody>
      </p:sp>
      <p:sp>
        <p:nvSpPr>
          <p:cNvPr id="24" name="Text 19"/>
          <p:cNvSpPr/>
          <p:nvPr/>
        </p:nvSpPr>
        <p:spPr>
          <a:xfrm>
            <a:off x="8439912"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komme aus eigener Kraft nicht mehr raus.“</a:t>
            </a:r>
            <a:endParaRPr lang="en-US" sz="1400" dirty="0"/>
          </a:p>
        </p:txBody>
      </p:sp>
      <p:sp>
        <p:nvSpPr>
          <p:cNvPr id="25" name="Shape 20"/>
          <p:cNvSpPr/>
          <p:nvPr/>
        </p:nvSpPr>
        <p:spPr>
          <a:xfrm>
            <a:off x="2926080" y="5715000"/>
            <a:ext cx="6309360" cy="384048"/>
          </a:xfrm>
          <a:prstGeom prst="rightArrow">
            <a:avLst/>
          </a:prstGeom>
          <a:solidFill>
            <a:srgbClr val="E6F2EC"/>
          </a:solidFill>
          <a:ln w="12700">
            <a:solidFill>
              <a:srgbClr val="D9E9E1"/>
            </a:solidFill>
            <a:prstDash val="solid"/>
          </a:ln>
        </p:spPr>
      </p:sp>
      <p:sp>
        <p:nvSpPr>
          <p:cNvPr id="26" name="Text 21"/>
          <p:cNvSpPr/>
          <p:nvPr/>
        </p:nvSpPr>
        <p:spPr>
          <a:xfrm>
            <a:off x="2926080" y="5715000"/>
            <a:ext cx="6309360" cy="384048"/>
          </a:xfrm>
          <a:prstGeom prst="rect">
            <a:avLst/>
          </a:prstGeom>
          <a:noFill/>
          <a:ln/>
        </p:spPr>
        <p:txBody>
          <a:bodyPr wrap="square" rtlCol="0" anchor="ctr"/>
          <a:lstStyle/>
          <a:p>
            <a:pPr algn="ctr" indent="0" marL="0">
              <a:buNone/>
            </a:pPr>
            <a:r>
              <a:rPr lang="en-US" sz="1300" i="1" dirty="0">
                <a:solidFill>
                  <a:srgbClr val="5E736E"/>
                </a:solidFill>
                <a:latin typeface="Calibri" pitchFamily="34" charset="0"/>
                <a:ea typeface="Calibri" pitchFamily="34" charset="-122"/>
                <a:cs typeface="Calibri" pitchFamily="34" charset="-120"/>
              </a:rPr>
              <a:t>fließender Übergang – keine scharfe Grenze</a:t>
            </a:r>
            <a:endParaRPr lang="en-US" sz="1300" dirty="0"/>
          </a:p>
        </p:txBody>
      </p:sp>
      <p:sp>
        <p:nvSpPr>
          <p:cNvPr id="28"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9"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2 · ÜBERBLICK</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über die wir heute sprechen</a:t>
            </a:r>
            <a:endParaRPr lang="en-US" sz="3400" dirty="0"/>
          </a:p>
        </p:txBody>
      </p:sp>
      <p:sp>
        <p:nvSpPr>
          <p:cNvPr id="4" name="Shape 2"/>
          <p:cNvSpPr/>
          <p:nvPr/>
        </p:nvSpPr>
        <p:spPr>
          <a:xfrm>
            <a:off x="566928"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1792224" y="2075688"/>
            <a:ext cx="1005840" cy="10058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2053742" y="2337206"/>
            <a:ext cx="482803" cy="482803"/>
          </a:xfrm>
          <a:prstGeom prst="rect">
            <a:avLst/>
          </a:prstGeom>
        </p:spPr>
      </p:pic>
      <p:sp>
        <p:nvSpPr>
          <p:cNvPr id="7" name="Text 4"/>
          <p:cNvSpPr/>
          <p:nvPr/>
        </p:nvSpPr>
        <p:spPr>
          <a:xfrm>
            <a:off x="566928"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Depression</a:t>
            </a:r>
            <a:endParaRPr lang="en-US" sz="1900" dirty="0"/>
          </a:p>
        </p:txBody>
      </p:sp>
      <p:sp>
        <p:nvSpPr>
          <p:cNvPr id="8" name="Text 5"/>
          <p:cNvSpPr/>
          <p:nvPr/>
        </p:nvSpPr>
        <p:spPr>
          <a:xfrm>
            <a:off x="749808"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Die Farbe geht aus der Welt</a:t>
            </a:r>
            <a:endParaRPr lang="en-US" sz="1350" dirty="0"/>
          </a:p>
        </p:txBody>
      </p:sp>
      <p:sp>
        <p:nvSpPr>
          <p:cNvPr id="9" name="Shape 6"/>
          <p:cNvSpPr/>
          <p:nvPr/>
        </p:nvSpPr>
        <p:spPr>
          <a:xfrm>
            <a:off x="4279392"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5504688" y="2075688"/>
            <a:ext cx="1005840" cy="10058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5766206" y="2337206"/>
            <a:ext cx="482803" cy="482803"/>
          </a:xfrm>
          <a:prstGeom prst="rect">
            <a:avLst/>
          </a:prstGeom>
        </p:spPr>
      </p:pic>
      <p:sp>
        <p:nvSpPr>
          <p:cNvPr id="12" name="Text 8"/>
          <p:cNvSpPr/>
          <p:nvPr/>
        </p:nvSpPr>
        <p:spPr>
          <a:xfrm>
            <a:off x="4279392"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Angst &amp; Panik</a:t>
            </a:r>
            <a:endParaRPr lang="en-US" sz="1900" dirty="0"/>
          </a:p>
        </p:txBody>
      </p:sp>
      <p:sp>
        <p:nvSpPr>
          <p:cNvPr id="13" name="Text 9"/>
          <p:cNvSpPr/>
          <p:nvPr/>
        </p:nvSpPr>
        <p:spPr>
          <a:xfrm>
            <a:off x="4462272"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Alarm, der grundlos schrillt</a:t>
            </a:r>
            <a:endParaRPr lang="en-US" sz="1350" dirty="0"/>
          </a:p>
        </p:txBody>
      </p:sp>
      <p:sp>
        <p:nvSpPr>
          <p:cNvPr id="14" name="Shape 10"/>
          <p:cNvSpPr/>
          <p:nvPr/>
        </p:nvSpPr>
        <p:spPr>
          <a:xfrm>
            <a:off x="7991856"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9217152" y="2075688"/>
            <a:ext cx="1005840" cy="10058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9478670" y="2337206"/>
            <a:ext cx="482803" cy="482803"/>
          </a:xfrm>
          <a:prstGeom prst="rect">
            <a:avLst/>
          </a:prstGeom>
        </p:spPr>
      </p:pic>
      <p:sp>
        <p:nvSpPr>
          <p:cNvPr id="17" name="Text 12"/>
          <p:cNvSpPr/>
          <p:nvPr/>
        </p:nvSpPr>
        <p:spPr>
          <a:xfrm>
            <a:off x="7991856"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Burnout</a:t>
            </a:r>
            <a:endParaRPr lang="en-US" sz="1900" dirty="0"/>
          </a:p>
        </p:txBody>
      </p:sp>
      <p:sp>
        <p:nvSpPr>
          <p:cNvPr id="18" name="Text 13"/>
          <p:cNvSpPr/>
          <p:nvPr/>
        </p:nvSpPr>
        <p:spPr>
          <a:xfrm>
            <a:off x="8174736"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Akku, der leer bleibt</a:t>
            </a:r>
            <a:endParaRPr lang="en-US" sz="1350" dirty="0"/>
          </a:p>
        </p:txBody>
      </p:sp>
      <p:sp>
        <p:nvSpPr>
          <p:cNvPr id="19" name="Shape 14"/>
          <p:cNvSpPr/>
          <p:nvPr/>
        </p:nvSpPr>
        <p:spPr>
          <a:xfrm>
            <a:off x="2423160"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3648456" y="4315968"/>
            <a:ext cx="1005840" cy="10058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3909974" y="4577486"/>
            <a:ext cx="482803" cy="482803"/>
          </a:xfrm>
          <a:prstGeom prst="rect">
            <a:avLst/>
          </a:prstGeom>
        </p:spPr>
      </p:pic>
      <p:sp>
        <p:nvSpPr>
          <p:cNvPr id="22" name="Text 16"/>
          <p:cNvSpPr/>
          <p:nvPr/>
        </p:nvSpPr>
        <p:spPr>
          <a:xfrm>
            <a:off x="2423160"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PTBS</a:t>
            </a:r>
            <a:endParaRPr lang="en-US" sz="1900" dirty="0"/>
          </a:p>
        </p:txBody>
      </p:sp>
      <p:sp>
        <p:nvSpPr>
          <p:cNvPr id="23" name="Text 17"/>
          <p:cNvSpPr/>
          <p:nvPr/>
        </p:nvSpPr>
        <p:spPr>
          <a:xfrm>
            <a:off x="2606040"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Wenn die Vergangenheit nicht vergeht</a:t>
            </a:r>
            <a:endParaRPr lang="en-US" sz="1350" dirty="0"/>
          </a:p>
        </p:txBody>
      </p:sp>
      <p:sp>
        <p:nvSpPr>
          <p:cNvPr id="24" name="Shape 18"/>
          <p:cNvSpPr/>
          <p:nvPr/>
        </p:nvSpPr>
        <p:spPr>
          <a:xfrm>
            <a:off x="6135624"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7360920" y="4315968"/>
            <a:ext cx="1005840" cy="1005840"/>
          </a:xfrm>
          <a:prstGeom prst="ellipse">
            <a:avLst/>
          </a:prstGeom>
          <a:solidFill>
            <a:srgbClr val="2E9284"/>
          </a:solidFill>
          <a:ln/>
        </p:spPr>
      </p:sp>
      <p:pic>
        <p:nvPicPr>
          <p:cNvPr id="26" name="Image 4" descr="preencoded.png">    </p:cNvPr>
          <p:cNvPicPr>
            <a:picLocks noChangeAspect="1"/>
          </p:cNvPicPr>
          <p:nvPr/>
        </p:nvPicPr>
        <p:blipFill>
          <a:blip r:embed="rId5"/>
          <a:stretch>
            <a:fillRect/>
          </a:stretch>
        </p:blipFill>
        <p:spPr>
          <a:xfrm>
            <a:off x="7622438" y="4577486"/>
            <a:ext cx="482803" cy="482803"/>
          </a:xfrm>
          <a:prstGeom prst="rect">
            <a:avLst/>
          </a:prstGeom>
        </p:spPr>
      </p:pic>
      <p:sp>
        <p:nvSpPr>
          <p:cNvPr id="27" name="Text 20"/>
          <p:cNvSpPr/>
          <p:nvPr/>
        </p:nvSpPr>
        <p:spPr>
          <a:xfrm>
            <a:off x="6135624"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Bipolare Störung</a:t>
            </a:r>
            <a:endParaRPr lang="en-US" sz="1900" dirty="0"/>
          </a:p>
        </p:txBody>
      </p:sp>
      <p:sp>
        <p:nvSpPr>
          <p:cNvPr id="28" name="Text 21"/>
          <p:cNvSpPr/>
          <p:nvPr/>
        </p:nvSpPr>
        <p:spPr>
          <a:xfrm>
            <a:off x="6318504"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Zwischen Hoch und Tief</a:t>
            </a:r>
            <a:endParaRPr lang="en-US" sz="135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depression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Depression</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Graufilter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Als hätte jemand die Farbe und den Ton aus der Welt gedreht. Nicht Traurigkeit – eher Leere.</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Mehr als „traurig sein“</a:t>
            </a:r>
            <a:endParaRPr lang="en-US" sz="2500" dirty="0"/>
          </a:p>
        </p:txBody>
      </p:sp>
      <p:sp>
        <p:nvSpPr>
          <p:cNvPr id="12" name="Shape 8"/>
          <p:cNvSpPr/>
          <p:nvPr/>
        </p:nvSpPr>
        <p:spPr>
          <a:xfrm>
            <a:off x="4617720" y="2020824"/>
            <a:ext cx="201168" cy="201168"/>
          </a:xfrm>
          <a:prstGeom prst="ellipse">
            <a:avLst/>
          </a:prstGeom>
          <a:solidFill>
            <a:srgbClr val="2E9284"/>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Antriebslosigkeit: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Selbst Aufstehen, Duschen, Zähneputzen fühlt sich riesig an.</a:t>
            </a:r>
            <a:endParaRPr lang="en-US" sz="1600" dirty="0"/>
          </a:p>
        </p:txBody>
      </p:sp>
      <p:sp>
        <p:nvSpPr>
          <p:cNvPr id="14" name="Shape 10"/>
          <p:cNvSpPr/>
          <p:nvPr/>
        </p:nvSpPr>
        <p:spPr>
          <a:xfrm>
            <a:off x="4617720" y="2880360"/>
            <a:ext cx="201168" cy="201168"/>
          </a:xfrm>
          <a:prstGeom prst="ellipse">
            <a:avLst/>
          </a:prstGeom>
          <a:solidFill>
            <a:srgbClr val="2E9284"/>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Freudlosigkeit: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Nichts macht mehr Freude – auch das, was man liebt.</a:t>
            </a:r>
            <a:endParaRPr lang="en-US" sz="1600" dirty="0"/>
          </a:p>
        </p:txBody>
      </p:sp>
      <p:sp>
        <p:nvSpPr>
          <p:cNvPr id="16" name="Shape 12"/>
          <p:cNvSpPr/>
          <p:nvPr/>
        </p:nvSpPr>
        <p:spPr>
          <a:xfrm>
            <a:off x="4617720" y="3739896"/>
            <a:ext cx="201168" cy="201168"/>
          </a:xfrm>
          <a:prstGeom prst="ellipse">
            <a:avLst/>
          </a:prstGeom>
          <a:solidFill>
            <a:srgbClr val="2E9284"/>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Bleierne Müdigkeit, die kein Schlaf behebt.</a:t>
            </a:r>
            <a:endParaRPr lang="en-US" sz="1600" dirty="0"/>
          </a:p>
        </p:txBody>
      </p:sp>
      <p:sp>
        <p:nvSpPr>
          <p:cNvPr id="18" name="Shape 14"/>
          <p:cNvSpPr/>
          <p:nvPr/>
        </p:nvSpPr>
        <p:spPr>
          <a:xfrm>
            <a:off x="4617720" y="4599432"/>
            <a:ext cx="201168" cy="201168"/>
          </a:xfrm>
          <a:prstGeom prst="ellipse">
            <a:avLst/>
          </a:prstGeom>
          <a:solidFill>
            <a:srgbClr val="2E9284"/>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Gedankenkreisen: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„Ich bin wertlos, eine Last“ – oft gegen besseres Wissen.</a:t>
            </a:r>
            <a:endParaRPr lang="en-US" sz="1600" dirty="0"/>
          </a:p>
        </p:txBody>
      </p:sp>
      <p:sp>
        <p:nvSpPr>
          <p:cNvPr id="20" name="Shape 16"/>
          <p:cNvSpPr/>
          <p:nvPr/>
        </p:nvSpPr>
        <p:spPr>
          <a:xfrm>
            <a:off x="4617720" y="5458968"/>
            <a:ext cx="201168" cy="201168"/>
          </a:xfrm>
          <a:prstGeom prst="ellipse">
            <a:avLst/>
          </a:prstGeom>
          <a:solidFill>
            <a:srgbClr val="2E9284"/>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Schlaf, Appetit, Konzentration verändern sich.</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Angst &amp; Panik</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Rauchmelder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Rauchmelder, der schon beim Toasten losheult. Der Alarm ist echt – die Gefahr ist es nicht.</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Alarm ohne Feuer</a:t>
            </a:r>
            <a:endParaRPr lang="en-US" sz="2500" dirty="0"/>
          </a:p>
        </p:txBody>
      </p:sp>
      <p:sp>
        <p:nvSpPr>
          <p:cNvPr id="12" name="Shape 8"/>
          <p:cNvSpPr/>
          <p:nvPr/>
        </p:nvSpPr>
        <p:spPr>
          <a:xfrm>
            <a:off x="4617720" y="2020824"/>
            <a:ext cx="201168" cy="201168"/>
          </a:xfrm>
          <a:prstGeom prst="ellipse">
            <a:avLst/>
          </a:prstGeom>
          <a:solidFill>
            <a:srgbClr val="E89A45"/>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Daueranspannung: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Ständige Sorge, Grübeln, „Was, wenn …?“</a:t>
            </a:r>
            <a:endParaRPr lang="en-US" sz="1600" dirty="0"/>
          </a:p>
        </p:txBody>
      </p:sp>
      <p:sp>
        <p:nvSpPr>
          <p:cNvPr id="14" name="Shape 10"/>
          <p:cNvSpPr/>
          <p:nvPr/>
        </p:nvSpPr>
        <p:spPr>
          <a:xfrm>
            <a:off x="4617720" y="2880360"/>
            <a:ext cx="201168" cy="201168"/>
          </a:xfrm>
          <a:prstGeom prst="ellipse">
            <a:avLst/>
          </a:prstGeom>
          <a:solidFill>
            <a:srgbClr val="E89A45"/>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Panikattacken: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Herzrasen, Atemnot, Todesangst – in Minuten da.</a:t>
            </a:r>
            <a:endParaRPr lang="en-US" sz="1600" dirty="0"/>
          </a:p>
        </p:txBody>
      </p:sp>
      <p:sp>
        <p:nvSpPr>
          <p:cNvPr id="16" name="Shape 12"/>
          <p:cNvSpPr/>
          <p:nvPr/>
        </p:nvSpPr>
        <p:spPr>
          <a:xfrm>
            <a:off x="4617720" y="3739896"/>
            <a:ext cx="201168" cy="201168"/>
          </a:xfrm>
          <a:prstGeom prst="ellipse">
            <a:avLst/>
          </a:prstGeom>
          <a:solidFill>
            <a:srgbClr val="E89A45"/>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werden gemieden, die Welt wird enger.</a:t>
            </a:r>
            <a:endParaRPr lang="en-US" sz="1600" dirty="0"/>
          </a:p>
        </p:txBody>
      </p:sp>
      <p:sp>
        <p:nvSpPr>
          <p:cNvPr id="18" name="Shape 14"/>
          <p:cNvSpPr/>
          <p:nvPr/>
        </p:nvSpPr>
        <p:spPr>
          <a:xfrm>
            <a:off x="4617720" y="4599432"/>
            <a:ext cx="201168" cy="201168"/>
          </a:xfrm>
          <a:prstGeom prst="ellipse">
            <a:avLst/>
          </a:prstGeom>
          <a:solidFill>
            <a:srgbClr val="E89A45"/>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zuerst: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Der Körper schlägt Alarm, bevor der Kopf ‚Gefahr‘ denkt.</a:t>
            </a:r>
            <a:endParaRPr lang="en-US" sz="1600" dirty="0"/>
          </a:p>
        </p:txBody>
      </p:sp>
      <p:sp>
        <p:nvSpPr>
          <p:cNvPr id="20" name="Shape 16"/>
          <p:cNvSpPr/>
          <p:nvPr/>
        </p:nvSpPr>
        <p:spPr>
          <a:xfrm>
            <a:off x="4617720" y="5458968"/>
            <a:ext cx="201168" cy="201168"/>
          </a:xfrm>
          <a:prstGeom prst="ellipse">
            <a:avLst/>
          </a:prstGeom>
          <a:solidFill>
            <a:srgbClr val="E89A45"/>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Dauernd wachsam zu sein, zehrt enorm.</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urnout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Burnout</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Erloschenes Feuer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Feuer, das ausgeht, weil man zu lange geheizt hat, ohne Holz nachzulegen.</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Ausgebrannt, nicht faul</a:t>
            </a:r>
            <a:endParaRPr lang="en-US" sz="2500" dirty="0"/>
          </a:p>
        </p:txBody>
      </p:sp>
      <p:sp>
        <p:nvSpPr>
          <p:cNvPr id="12" name="Shape 8"/>
          <p:cNvSpPr/>
          <p:nvPr/>
        </p:nvSpPr>
        <p:spPr>
          <a:xfrm>
            <a:off x="4617720" y="2020824"/>
            <a:ext cx="201168" cy="201168"/>
          </a:xfrm>
          <a:prstGeom prst="ellipse">
            <a:avLst/>
          </a:prstGeom>
          <a:solidFill>
            <a:srgbClr val="6FBE9C"/>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Tief und anhaltend – körperlich und emotional leer.</a:t>
            </a:r>
            <a:endParaRPr lang="en-US" sz="1600" dirty="0"/>
          </a:p>
        </p:txBody>
      </p:sp>
      <p:sp>
        <p:nvSpPr>
          <p:cNvPr id="14" name="Shape 10"/>
          <p:cNvSpPr/>
          <p:nvPr/>
        </p:nvSpPr>
        <p:spPr>
          <a:xfrm>
            <a:off x="4617720" y="2880360"/>
            <a:ext cx="201168" cy="201168"/>
          </a:xfrm>
          <a:prstGeom prst="ellipse">
            <a:avLst/>
          </a:prstGeom>
          <a:solidFill>
            <a:srgbClr val="6FBE9C"/>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Distanzierung: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Zynismus, innerer Rückzug, „mir ist alles egal“.</a:t>
            </a:r>
            <a:endParaRPr lang="en-US" sz="1600" dirty="0"/>
          </a:p>
        </p:txBody>
      </p:sp>
      <p:sp>
        <p:nvSpPr>
          <p:cNvPr id="16" name="Shape 12"/>
          <p:cNvSpPr/>
          <p:nvPr/>
        </p:nvSpPr>
        <p:spPr>
          <a:xfrm>
            <a:off x="4617720" y="3739896"/>
            <a:ext cx="201168" cy="201168"/>
          </a:xfrm>
          <a:prstGeom prst="ellipse">
            <a:avLst/>
          </a:prstGeom>
          <a:solidFill>
            <a:srgbClr val="6FBE9C"/>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Leistungsknick: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Gefühl, nichts mehr zu schaffen, trotz Mühe.</a:t>
            </a:r>
            <a:endParaRPr lang="en-US" sz="1600" dirty="0"/>
          </a:p>
        </p:txBody>
      </p:sp>
      <p:sp>
        <p:nvSpPr>
          <p:cNvPr id="18" name="Shape 14"/>
          <p:cNvSpPr/>
          <p:nvPr/>
        </p:nvSpPr>
        <p:spPr>
          <a:xfrm>
            <a:off x="4617720" y="4599432"/>
            <a:ext cx="201168" cy="201168"/>
          </a:xfrm>
          <a:prstGeom prst="ellipse">
            <a:avLst/>
          </a:prstGeom>
          <a:solidFill>
            <a:srgbClr val="6FBE9C"/>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Prozess: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Entsteht schleichend über Monate – oft bei engagierten Menschen.</a:t>
            </a:r>
            <a:endParaRPr lang="en-US" sz="1600" dirty="0"/>
          </a:p>
        </p:txBody>
      </p:sp>
      <p:sp>
        <p:nvSpPr>
          <p:cNvPr id="20" name="Shape 16"/>
          <p:cNvSpPr/>
          <p:nvPr/>
        </p:nvSpPr>
        <p:spPr>
          <a:xfrm>
            <a:off x="4617720" y="5458968"/>
            <a:ext cx="201168" cy="201168"/>
          </a:xfrm>
          <a:prstGeom prst="ellipse">
            <a:avLst/>
          </a:prstGeom>
          <a:solidFill>
            <a:srgbClr val="6FBE9C"/>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Übergang: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Kann in eine Depression münden.</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ptbs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PTBS</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Alarmanlage in der Zeit</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Der Körper verwechselt Vergangenheit mit Gegenwart. Ein Geräusch – und die Gefahr ist ‚jetzt‘.</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Wenn die Vergangenheit nicht vergeht</a:t>
            </a:r>
            <a:endParaRPr lang="en-US" sz="2500" dirty="0"/>
          </a:p>
        </p:txBody>
      </p:sp>
      <p:sp>
        <p:nvSpPr>
          <p:cNvPr id="12" name="Shape 8"/>
          <p:cNvSpPr/>
          <p:nvPr/>
        </p:nvSpPr>
        <p:spPr>
          <a:xfrm>
            <a:off x="4617720" y="2020824"/>
            <a:ext cx="201168" cy="201168"/>
          </a:xfrm>
          <a:prstGeom prst="ellipse">
            <a:avLst/>
          </a:prstGeom>
          <a:solidFill>
            <a:srgbClr val="E89A45"/>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Flashbacks: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Erlebte kehrt zurück – als Wiedererleben, nicht als Erinnerung.</a:t>
            </a:r>
            <a:endParaRPr lang="en-US" sz="1600" dirty="0"/>
          </a:p>
        </p:txBody>
      </p:sp>
      <p:sp>
        <p:nvSpPr>
          <p:cNvPr id="14" name="Shape 10"/>
          <p:cNvSpPr/>
          <p:nvPr/>
        </p:nvSpPr>
        <p:spPr>
          <a:xfrm>
            <a:off x="4617720" y="2880360"/>
            <a:ext cx="201168" cy="201168"/>
          </a:xfrm>
          <a:prstGeom prst="ellipse">
            <a:avLst/>
          </a:prstGeom>
          <a:solidFill>
            <a:srgbClr val="E89A45"/>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Übererregung: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Schreckhaftigkeit, Schlafstörung, ständige Alarmbereitschaft.</a:t>
            </a:r>
            <a:endParaRPr lang="en-US" sz="1600" dirty="0"/>
          </a:p>
        </p:txBody>
      </p:sp>
      <p:sp>
        <p:nvSpPr>
          <p:cNvPr id="16" name="Shape 12"/>
          <p:cNvSpPr/>
          <p:nvPr/>
        </p:nvSpPr>
        <p:spPr>
          <a:xfrm>
            <a:off x="4617720" y="3739896"/>
            <a:ext cx="201168" cy="201168"/>
          </a:xfrm>
          <a:prstGeom prst="ellipse">
            <a:avLst/>
          </a:prstGeom>
          <a:solidFill>
            <a:srgbClr val="E89A45"/>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Geräusche, Gerüche, die erinnern, werden gemieden.</a:t>
            </a:r>
            <a:endParaRPr lang="en-US" sz="1600" dirty="0"/>
          </a:p>
        </p:txBody>
      </p:sp>
      <p:sp>
        <p:nvSpPr>
          <p:cNvPr id="18" name="Shape 14"/>
          <p:cNvSpPr/>
          <p:nvPr/>
        </p:nvSpPr>
        <p:spPr>
          <a:xfrm>
            <a:off x="4617720" y="4599432"/>
            <a:ext cx="201168" cy="201168"/>
          </a:xfrm>
          <a:prstGeom prst="ellipse">
            <a:avLst/>
          </a:prstGeom>
          <a:solidFill>
            <a:srgbClr val="E89A45"/>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Trigger: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Ein Detail genügt – und der Körper ist wieder ‚dort‘.</a:t>
            </a:r>
            <a:endParaRPr lang="en-US" sz="1600" dirty="0"/>
          </a:p>
        </p:txBody>
      </p:sp>
      <p:sp>
        <p:nvSpPr>
          <p:cNvPr id="20" name="Shape 16"/>
          <p:cNvSpPr/>
          <p:nvPr/>
        </p:nvSpPr>
        <p:spPr>
          <a:xfrm>
            <a:off x="4617720" y="5458968"/>
            <a:ext cx="201168" cy="201168"/>
          </a:xfrm>
          <a:prstGeom prst="ellipse">
            <a:avLst/>
          </a:prstGeom>
          <a:solidFill>
            <a:srgbClr val="E89A45"/>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Betäubung: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Gefühllosigkeit, Entfremdung, „nicht richtig da sein“.</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ipolar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Bipolare Störung</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Gezeiten</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Nicht die kleinen Wellen des Alltags – sondern Ebbe und Flut, die den ganzen Strand verändern.</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Zwischen Hoch und Tief</a:t>
            </a:r>
            <a:endParaRPr lang="en-US" sz="2500" dirty="0"/>
          </a:p>
        </p:txBody>
      </p:sp>
      <p:sp>
        <p:nvSpPr>
          <p:cNvPr id="12" name="Shape 8"/>
          <p:cNvSpPr/>
          <p:nvPr/>
        </p:nvSpPr>
        <p:spPr>
          <a:xfrm>
            <a:off x="4617720" y="2020824"/>
            <a:ext cx="201168" cy="201168"/>
          </a:xfrm>
          <a:prstGeom prst="ellipse">
            <a:avLst/>
          </a:prstGeom>
          <a:solidFill>
            <a:srgbClr val="2E9284"/>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Depressive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Wie bei der Depression – Leere, Antriebslosigkeit.</a:t>
            </a:r>
            <a:endParaRPr lang="en-US" sz="1600" dirty="0"/>
          </a:p>
        </p:txBody>
      </p:sp>
      <p:sp>
        <p:nvSpPr>
          <p:cNvPr id="14" name="Shape 10"/>
          <p:cNvSpPr/>
          <p:nvPr/>
        </p:nvSpPr>
        <p:spPr>
          <a:xfrm>
            <a:off x="4617720" y="2880360"/>
            <a:ext cx="201168" cy="201168"/>
          </a:xfrm>
          <a:prstGeom prst="ellipse">
            <a:avLst/>
          </a:prstGeom>
          <a:solidFill>
            <a:srgbClr val="2E9284"/>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Manische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Übersteigerte Energie, wenig Schlafbedarf, Größengefühl.</a:t>
            </a:r>
            <a:endParaRPr lang="en-US" sz="1600" dirty="0"/>
          </a:p>
        </p:txBody>
      </p:sp>
      <p:sp>
        <p:nvSpPr>
          <p:cNvPr id="16" name="Shape 12"/>
          <p:cNvSpPr/>
          <p:nvPr/>
        </p:nvSpPr>
        <p:spPr>
          <a:xfrm>
            <a:off x="4617720" y="3739896"/>
            <a:ext cx="201168" cy="201168"/>
          </a:xfrm>
          <a:prstGeom prst="ellipse">
            <a:avLst/>
          </a:prstGeom>
          <a:solidFill>
            <a:srgbClr val="2E9284"/>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Riskantes Handeln: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In der Manie oft Geld-, Risiko- oder Konfliktverhalten.</a:t>
            </a:r>
            <a:endParaRPr lang="en-US" sz="1600" dirty="0"/>
          </a:p>
        </p:txBody>
      </p:sp>
      <p:sp>
        <p:nvSpPr>
          <p:cNvPr id="18" name="Shape 14"/>
          <p:cNvSpPr/>
          <p:nvPr/>
        </p:nvSpPr>
        <p:spPr>
          <a:xfrm>
            <a:off x="4617720" y="4599432"/>
            <a:ext cx="201168" cy="201168"/>
          </a:xfrm>
          <a:prstGeom prst="ellipse">
            <a:avLst/>
          </a:prstGeom>
          <a:solidFill>
            <a:srgbClr val="2E9284"/>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Wechsel: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Echte Phasen – nicht ‚Stimmungsschwankungen‘ im Alltag.</a:t>
            </a:r>
            <a:endParaRPr lang="en-US" sz="1600" dirty="0"/>
          </a:p>
        </p:txBody>
      </p:sp>
      <p:sp>
        <p:nvSpPr>
          <p:cNvPr id="20" name="Shape 16"/>
          <p:cNvSpPr/>
          <p:nvPr/>
        </p:nvSpPr>
        <p:spPr>
          <a:xfrm>
            <a:off x="4617720" y="5458968"/>
            <a:ext cx="201168" cy="201168"/>
          </a:xfrm>
          <a:prstGeom prst="ellipse">
            <a:avLst/>
          </a:prstGeom>
          <a:solidFill>
            <a:srgbClr val="2E9284"/>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Gut behandelbar: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Mit Therapie &amp; Medikamenten meist gut stabilisierbar.</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3  ·  DAS HERZSTÜCK</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Wie fühlt sich das an?</a:t>
            </a:r>
            <a:endParaRPr lang="en-US" sz="4800" dirty="0"/>
          </a:p>
        </p:txBody>
      </p:sp>
      <p:sp>
        <p:nvSpPr>
          <p:cNvPr id="5" name="Text 2"/>
          <p:cNvSpPr/>
          <p:nvPr/>
        </p:nvSpPr>
        <p:spPr>
          <a:xfrm>
            <a:off x="566928" y="3703320"/>
            <a:ext cx="10241280" cy="91440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Jetzt verlassen wir das Lehrbuch. Wir versuchen zu fühlen, was man von außen nicht sieht – mit Bildern, die jeder kennt.</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1 · DEPRESSION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Der unsichtbare Rucksack</a:t>
            </a:r>
            <a:endParaRPr lang="en-US" sz="3400" dirty="0"/>
          </a:p>
        </p:txBody>
      </p:sp>
      <p:sp>
        <p:nvSpPr>
          <p:cNvPr id="4" name="Shape 2"/>
          <p:cNvSpPr/>
          <p:nvPr/>
        </p:nvSpPr>
        <p:spPr>
          <a:xfrm>
            <a:off x="8138160" y="1737360"/>
            <a:ext cx="3474720" cy="3977640"/>
          </a:xfrm>
          <a:prstGeom prst="roundRect">
            <a:avLst>
              <a:gd name="adj" fmla="val 2895"/>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418320" y="2194560"/>
            <a:ext cx="914400" cy="91440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9656064" y="2432304"/>
            <a:ext cx="438912" cy="438912"/>
          </a:xfrm>
          <a:prstGeom prst="rect">
            <a:avLst/>
          </a:prstGeom>
        </p:spPr>
      </p:pic>
      <p:sp>
        <p:nvSpPr>
          <p:cNvPr id="7" name="Text 4"/>
          <p:cNvSpPr/>
          <p:nvPr/>
        </p:nvSpPr>
        <p:spPr>
          <a:xfrm>
            <a:off x="8138160" y="3310128"/>
            <a:ext cx="3474720" cy="640080"/>
          </a:xfrm>
          <a:prstGeom prst="rect">
            <a:avLst/>
          </a:prstGeom>
          <a:noFill/>
          <a:ln/>
        </p:spPr>
        <p:txBody>
          <a:bodyPr wrap="square"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+15 kg</a:t>
            </a:r>
            <a:endParaRPr lang="en-US" sz="4200" dirty="0"/>
          </a:p>
        </p:txBody>
      </p:sp>
      <p:sp>
        <p:nvSpPr>
          <p:cNvPr id="8" name="Text 5"/>
          <p:cNvSpPr/>
          <p:nvPr/>
        </p:nvSpPr>
        <p:spPr>
          <a:xfrm>
            <a:off x="8138160" y="4023360"/>
            <a:ext cx="3474720" cy="365760"/>
          </a:xfrm>
          <a:prstGeom prst="rect">
            <a:avLst/>
          </a:prstGeom>
          <a:noFill/>
          <a:ln/>
        </p:spPr>
        <p:txBody>
          <a:bodyPr wrap="square" rtlCol="0" anchor="ctr"/>
          <a:lstStyle/>
          <a:p>
            <a:pPr algn="ctr" indent="0" marL="0">
              <a:buNone/>
            </a:pPr>
            <a:r>
              <a:rPr lang="en-US" sz="1500" i="1" dirty="0">
                <a:solidFill>
                  <a:srgbClr val="EAF6EF"/>
                </a:solidFill>
                <a:latin typeface="Calibri" pitchFamily="34" charset="0"/>
                <a:ea typeface="Calibri" pitchFamily="34" charset="-122"/>
                <a:cs typeface="Calibri" pitchFamily="34" charset="-120"/>
              </a:rPr>
              <a:t>auf alles, was du tust</a:t>
            </a:r>
            <a:endParaRPr lang="en-US" sz="1500" dirty="0"/>
          </a:p>
        </p:txBody>
      </p:sp>
      <p:sp>
        <p:nvSpPr>
          <p:cNvPr id="9" name="Text 6"/>
          <p:cNvSpPr/>
          <p:nvPr/>
        </p:nvSpPr>
        <p:spPr>
          <a:xfrm>
            <a:off x="8321040" y="4590288"/>
            <a:ext cx="3108960" cy="914400"/>
          </a:xfrm>
          <a:prstGeom prst="rect">
            <a:avLst/>
          </a:prstGeom>
          <a:noFill/>
          <a:ln/>
        </p:spPr>
        <p:txBody>
          <a:bodyPr wrap="square" rtlCol="0" anchor="ctr"/>
          <a:lstStyle/>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Aufstehen · Duschen · Antworten</a:t>
            </a:r>
            <a:endParaRPr lang="en-US" sz="1400" dirty="0"/>
          </a:p>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 Lächeln · Weitermachen</a:t>
            </a:r>
            <a:endParaRPr lang="en-US" sz="1400" dirty="0"/>
          </a:p>
        </p:txBody>
      </p:sp>
      <p:sp>
        <p:nvSpPr>
          <p:cNvPr id="10" name="Text 7"/>
          <p:cNvSpPr/>
          <p:nvPr/>
        </p:nvSpPr>
        <p:spPr>
          <a:xfrm>
            <a:off x="566928" y="1783080"/>
            <a:ext cx="7223760" cy="3931920"/>
          </a:xfrm>
          <a:prstGeom prst="rect">
            <a:avLst/>
          </a:prstGeom>
          <a:noFill/>
          <a:ln/>
        </p:spPr>
        <p:txBody>
          <a:bodyPr wrap="square" rtlCol="0" anchor="t"/>
          <a:lstStyle/>
          <a:p>
            <a:pPr indent="0" marL="0">
              <a:lnSpc>
                <a:spcPts val="2500"/>
              </a:lnSpc>
              <a:buNone/>
            </a:pPr>
            <a:r>
              <a:rPr lang="en-US" sz="1800" dirty="0">
                <a:solidFill>
                  <a:srgbClr val="23423C"/>
                </a:solidFill>
              </a:rPr>
              <a:t>Stellen Sie sich vor, Sie tragen einen Rucksack, der jeden Tag schwerer wird – und niemand sieht ihn.
</a:t>
            </a:r>
            <a:endParaRPr lang="en-US" sz="1800" dirty="0"/>
          </a:p>
          <a:p>
            <a:pPr indent="0" marL="0">
              <a:lnSpc>
                <a:spcPts val="2500"/>
              </a:lnSpc>
              <a:buNone/>
            </a:pPr>
            <a:r>
              <a:rPr lang="en-US" sz="1800" dirty="0">
                <a:solidFill>
                  <a:srgbClr val="23423C"/>
                </a:solidFill>
              </a:rPr>
              <a:t>Jede kleinste Aufgabe kostet plötzlich Kraft, als hätten alle anderen leichtes Gepäck und Sie schleppen Steine.
</a:t>
            </a:r>
            <a:endParaRPr lang="en-US" sz="1800" dirty="0"/>
          </a:p>
          <a:p>
            <a:pPr indent="0" marL="0">
              <a:lnSpc>
                <a:spcPts val="2500"/>
              </a:lnSpc>
              <a:buNone/>
            </a:pPr>
            <a:r>
              <a:rPr lang="en-US" sz="1800" i="1" dirty="0">
                <a:solidFill>
                  <a:srgbClr val="2C7A6B"/>
                </a:solidFill>
              </a:rPr>
              <a:t>Wenn eine depressive Person morgens aufsteht und zur Arbeit geht, hat sie oft schon einen Marathon hinter sich, von dem keiner weiß.</a:t>
            </a:r>
            <a:endParaRPr lang="en-US" sz="1800" dirty="0"/>
          </a:p>
        </p:txBody>
      </p:sp>
      <p:sp>
        <p:nvSpPr>
          <p:cNvPr id="12" name="Text 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2 · DAS UNSICHTBARE</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Was man sieht – und was darunter liegt</a:t>
            </a:r>
            <a:endParaRPr lang="en-US" sz="2900" dirty="0"/>
          </a:p>
        </p:txBody>
      </p:sp>
      <p:sp>
        <p:nvSpPr>
          <p:cNvPr id="5" name="Shape 2"/>
          <p:cNvSpPr/>
          <p:nvPr/>
        </p:nvSpPr>
        <p:spPr>
          <a:xfrm>
            <a:off x="0" y="2788920"/>
            <a:ext cx="12191695" cy="27432"/>
          </a:xfrm>
          <a:prstGeom prst="rect">
            <a:avLst/>
          </a:prstGeom>
          <a:solidFill>
            <a:srgbClr val="FFFFFF"/>
          </a:solidFill>
          <a:ln/>
        </p:spPr>
      </p:sp>
      <p:sp>
        <p:nvSpPr>
          <p:cNvPr id="6" name="Text 3"/>
          <p:cNvSpPr/>
          <p:nvPr/>
        </p:nvSpPr>
        <p:spPr>
          <a:xfrm>
            <a:off x="7680960" y="2377440"/>
            <a:ext cx="4023360" cy="320040"/>
          </a:xfrm>
          <a:prstGeom prst="rect">
            <a:avLst/>
          </a:prstGeom>
          <a:noFill/>
          <a:ln/>
        </p:spPr>
        <p:txBody>
          <a:bodyPr wrap="square" rtlCol="0" anchor="ctr"/>
          <a:lstStyle/>
          <a:p>
            <a:pPr algn="r" indent="0" marL="0">
              <a:buNone/>
            </a:pPr>
            <a:r>
              <a:rPr lang="en-US" sz="1150" i="1" dirty="0">
                <a:solidFill>
                  <a:srgbClr val="EAF6EF"/>
                </a:solidFill>
                <a:latin typeface="Calibri" pitchFamily="34" charset="0"/>
                <a:ea typeface="Calibri" pitchFamily="34" charset="-122"/>
                <a:cs typeface="Calibri" pitchFamily="34" charset="-120"/>
              </a:rPr>
              <a:t>Wasserlinie – was andere sehen</a:t>
            </a:r>
            <a:endParaRPr lang="en-US" sz="1150" dirty="0"/>
          </a:p>
        </p:txBody>
      </p:sp>
      <p:sp>
        <p:nvSpPr>
          <p:cNvPr id="7" name="Shape 4"/>
          <p:cNvSpPr/>
          <p:nvPr/>
        </p:nvSpPr>
        <p:spPr>
          <a:xfrm flipV="1">
            <a:off x="4480560" y="1600200"/>
            <a:ext cx="3200400" cy="1188720"/>
          </a:xfrm>
          <a:prstGeom prst="triangle">
            <a:avLst/>
          </a:prstGeom>
          <a:solidFill>
            <a:srgbClr val="FFFFFF"/>
          </a:solidFill>
          <a:ln/>
        </p:spPr>
      </p:sp>
      <p:sp>
        <p:nvSpPr>
          <p:cNvPr id="8" name="Text 5"/>
          <p:cNvSpPr/>
          <p:nvPr/>
        </p:nvSpPr>
        <p:spPr>
          <a:xfrm>
            <a:off x="4480560" y="1874520"/>
            <a:ext cx="3200400" cy="457200"/>
          </a:xfrm>
          <a:prstGeom prst="rect">
            <a:avLst/>
          </a:prstGeom>
          <a:noFill/>
          <a:ln/>
        </p:spPr>
        <p:txBody>
          <a:bodyPr wrap="square" rtlCol="0" anchor="ctr"/>
          <a:lstStyle/>
          <a:p>
            <a:pPr algn="ctr" indent="0" marL="0">
              <a:buNone/>
            </a:pPr>
            <a:r>
              <a:rPr lang="en-US" sz="1600" b="1" dirty="0">
                <a:solidFill>
                  <a:srgbClr val="2C7A6B"/>
                </a:solidFill>
                <a:latin typeface="Cambria" pitchFamily="34" charset="0"/>
                <a:ea typeface="Cambria" pitchFamily="34" charset="-122"/>
                <a:cs typeface="Cambria" pitchFamily="34" charset="-120"/>
              </a:rPr>
              <a:t>„Mir geht’s gut.“</a:t>
            </a:r>
            <a:endParaRPr lang="en-US" sz="1600" dirty="0"/>
          </a:p>
        </p:txBody>
      </p:sp>
      <p:sp>
        <p:nvSpPr>
          <p:cNvPr id="9" name="Shape 6"/>
          <p:cNvSpPr/>
          <p:nvPr/>
        </p:nvSpPr>
        <p:spPr>
          <a:xfrm>
            <a:off x="2377440" y="2834640"/>
            <a:ext cx="7406640" cy="3063240"/>
          </a:xfrm>
          <a:prstGeom prst="triangle">
            <a:avLst/>
          </a:prstGeom>
          <a:solidFill>
            <a:srgbClr val="24685C"/>
          </a:solidFill>
          <a:ln w="12700">
            <a:solidFill>
              <a:srgbClr val="FFFFFF"/>
            </a:solidFill>
            <a:prstDash val="solid"/>
          </a:ln>
        </p:spPr>
      </p:sp>
      <p:sp>
        <p:nvSpPr>
          <p:cNvPr id="10" name="Text 7"/>
          <p:cNvSpPr/>
          <p:nvPr/>
        </p:nvSpPr>
        <p:spPr>
          <a:xfrm>
            <a:off x="3291840" y="3108960"/>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Erschöpfung</a:t>
            </a:r>
            <a:endParaRPr lang="en-US" sz="1550" dirty="0"/>
          </a:p>
        </p:txBody>
      </p:sp>
      <p:sp>
        <p:nvSpPr>
          <p:cNvPr id="11" name="Text 8"/>
          <p:cNvSpPr/>
          <p:nvPr/>
        </p:nvSpPr>
        <p:spPr>
          <a:xfrm>
            <a:off x="6400800" y="3108960"/>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Scham &amp; Schuld</a:t>
            </a:r>
            <a:endParaRPr lang="en-US" sz="1550" dirty="0"/>
          </a:p>
        </p:txBody>
      </p:sp>
      <p:sp>
        <p:nvSpPr>
          <p:cNvPr id="12" name="Text 9"/>
          <p:cNvSpPr/>
          <p:nvPr/>
        </p:nvSpPr>
        <p:spPr>
          <a:xfrm>
            <a:off x="3291840" y="3675888"/>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Angst</a:t>
            </a:r>
            <a:endParaRPr lang="en-US" sz="1550" dirty="0"/>
          </a:p>
        </p:txBody>
      </p:sp>
      <p:sp>
        <p:nvSpPr>
          <p:cNvPr id="13" name="Text 10"/>
          <p:cNvSpPr/>
          <p:nvPr/>
        </p:nvSpPr>
        <p:spPr>
          <a:xfrm>
            <a:off x="6400800" y="3675888"/>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innere Leere</a:t>
            </a:r>
            <a:endParaRPr lang="en-US" sz="1550" dirty="0"/>
          </a:p>
        </p:txBody>
      </p:sp>
      <p:sp>
        <p:nvSpPr>
          <p:cNvPr id="14" name="Text 11"/>
          <p:cNvSpPr/>
          <p:nvPr/>
        </p:nvSpPr>
        <p:spPr>
          <a:xfrm>
            <a:off x="3291840" y="4242816"/>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Selbstzweifel</a:t>
            </a:r>
            <a:endParaRPr lang="en-US" sz="1550" dirty="0"/>
          </a:p>
        </p:txBody>
      </p:sp>
      <p:sp>
        <p:nvSpPr>
          <p:cNvPr id="15" name="Text 12"/>
          <p:cNvSpPr/>
          <p:nvPr/>
        </p:nvSpPr>
        <p:spPr>
          <a:xfrm>
            <a:off x="6400800" y="4242816"/>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Einsamkeit</a:t>
            </a:r>
            <a:endParaRPr lang="en-US" sz="1550" dirty="0"/>
          </a:p>
        </p:txBody>
      </p:sp>
      <p:sp>
        <p:nvSpPr>
          <p:cNvPr id="16" name="Text 13"/>
          <p:cNvSpPr/>
          <p:nvPr/>
        </p:nvSpPr>
        <p:spPr>
          <a:xfrm>
            <a:off x="3291840" y="4809744"/>
            <a:ext cx="3108960" cy="411480"/>
          </a:xfrm>
          <a:prstGeom prst="rect">
            <a:avLst/>
          </a:prstGeom>
          <a:noFill/>
          <a:ln/>
        </p:spPr>
        <p:txBody>
          <a:bodyPr wrap="square" rtlCol="0" anchor="ctr"/>
          <a:lstStyle/>
          <a:p>
            <a:pPr indent="0" marL="0">
              <a:buNone/>
            </a:pPr>
            <a:r>
              <a:rPr lang="en-US" sz="1550" dirty="0">
                <a:solidFill>
                  <a:srgbClr val="F2FAF5"/>
                </a:solidFill>
                <a:latin typeface="Calibri" pitchFamily="34" charset="0"/>
                <a:ea typeface="Calibri" pitchFamily="34" charset="-122"/>
                <a:cs typeface="Calibri" pitchFamily="34" charset="-120"/>
              </a:rPr>
              <a:t>•  „Ich funktioniere nur noch“</a:t>
            </a:r>
            <a:endParaRPr lang="en-US" sz="1550" dirty="0"/>
          </a:p>
        </p:txBody>
      </p:sp>
      <p:sp>
        <p:nvSpPr>
          <p:cNvPr id="18"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9"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3 · DIE MASKE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man es oft nicht sieht</a:t>
            </a:r>
            <a:endParaRPr lang="en-US" sz="3400" dirty="0"/>
          </a:p>
        </p:txBody>
      </p:sp>
      <p:sp>
        <p:nvSpPr>
          <p:cNvPr id="4" name="Shape 2"/>
          <p:cNvSpPr/>
          <p:nvPr/>
        </p:nvSpPr>
        <p:spPr>
          <a:xfrm>
            <a:off x="566928" y="1783080"/>
            <a:ext cx="539496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2715768" y="2148840"/>
            <a:ext cx="1097280" cy="109728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3001061" y="2434133"/>
            <a:ext cx="526694" cy="526694"/>
          </a:xfrm>
          <a:prstGeom prst="rect">
            <a:avLst/>
          </a:prstGeom>
        </p:spPr>
      </p:pic>
      <p:sp>
        <p:nvSpPr>
          <p:cNvPr id="7" name="Text 4"/>
          <p:cNvSpPr/>
          <p:nvPr/>
        </p:nvSpPr>
        <p:spPr>
          <a:xfrm>
            <a:off x="566928" y="3410712"/>
            <a:ext cx="5394960" cy="457200"/>
          </a:xfrm>
          <a:prstGeom prst="rect">
            <a:avLst/>
          </a:prstGeom>
          <a:noFill/>
          <a:ln/>
        </p:spPr>
        <p:txBody>
          <a:bodyPr wrap="square" rtlCol="0" anchor="ctr"/>
          <a:lstStyle/>
          <a:p>
            <a:pPr algn="ctr" indent="0" marL="0">
              <a:buNone/>
            </a:pPr>
            <a:r>
              <a:rPr lang="en-US" sz="2100" b="1" dirty="0">
                <a:solidFill>
                  <a:srgbClr val="2C7A6B"/>
                </a:solidFill>
                <a:latin typeface="Cambria" pitchFamily="34" charset="0"/>
                <a:ea typeface="Cambria" pitchFamily="34" charset="-122"/>
                <a:cs typeface="Cambria" pitchFamily="34" charset="-120"/>
              </a:rPr>
              <a:t>Nach außen</a:t>
            </a:r>
            <a:endParaRPr lang="en-US" sz="2100" dirty="0"/>
          </a:p>
        </p:txBody>
      </p:sp>
      <p:sp>
        <p:nvSpPr>
          <p:cNvPr id="8" name="Text 5"/>
          <p:cNvSpPr/>
          <p:nvPr/>
        </p:nvSpPr>
        <p:spPr>
          <a:xfrm>
            <a:off x="841248" y="3977640"/>
            <a:ext cx="4846320" cy="1463040"/>
          </a:xfrm>
          <a:prstGeom prst="rect">
            <a:avLst/>
          </a:prstGeom>
          <a:noFill/>
          <a:ln/>
        </p:spPr>
        <p:txBody>
          <a:bodyPr wrap="square" rtlCol="0" anchor="ctr"/>
          <a:lstStyle/>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„Alles bestens.“  ·  pünktlich  ·  lächelt</a:t>
            </a:r>
            <a:endParaRPr lang="en-US" sz="1600" dirty="0"/>
          </a:p>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 funktioniert  ·  witzelt  ·  hilft anderen</a:t>
            </a:r>
            <a:endParaRPr lang="en-US" sz="1600" dirty="0"/>
          </a:p>
        </p:txBody>
      </p:sp>
      <p:sp>
        <p:nvSpPr>
          <p:cNvPr id="9" name="Shape 6"/>
          <p:cNvSpPr/>
          <p:nvPr/>
        </p:nvSpPr>
        <p:spPr>
          <a:xfrm>
            <a:off x="6263640" y="1783080"/>
            <a:ext cx="5394960"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412480" y="2148840"/>
            <a:ext cx="1097280" cy="1097280"/>
          </a:xfrm>
          <a:prstGeom prst="ellipse">
            <a:avLst/>
          </a:prstGeom>
          <a:solidFill>
            <a:srgbClr val="E89A45"/>
          </a:solidFill>
          <a:ln/>
        </p:spPr>
      </p:sp>
      <p:pic>
        <p:nvPicPr>
          <p:cNvPr id="11" name="Image 1" descr="preencoded.png">    </p:cNvPr>
          <p:cNvPicPr>
            <a:picLocks noChangeAspect="1"/>
          </p:cNvPicPr>
          <p:nvPr/>
        </p:nvPicPr>
        <p:blipFill>
          <a:blip r:embed="rId2"/>
          <a:stretch>
            <a:fillRect/>
          </a:stretch>
        </p:blipFill>
        <p:spPr>
          <a:xfrm>
            <a:off x="8697773" y="2434133"/>
            <a:ext cx="526694" cy="526694"/>
          </a:xfrm>
          <a:prstGeom prst="rect">
            <a:avLst/>
          </a:prstGeom>
        </p:spPr>
      </p:pic>
      <p:sp>
        <p:nvSpPr>
          <p:cNvPr id="12" name="Text 8"/>
          <p:cNvSpPr/>
          <p:nvPr/>
        </p:nvSpPr>
        <p:spPr>
          <a:xfrm>
            <a:off x="6263640" y="3410712"/>
            <a:ext cx="5394960" cy="45720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Nach innen</a:t>
            </a:r>
            <a:endParaRPr lang="en-US" sz="2100" dirty="0"/>
          </a:p>
        </p:txBody>
      </p:sp>
      <p:sp>
        <p:nvSpPr>
          <p:cNvPr id="13" name="Text 9"/>
          <p:cNvSpPr/>
          <p:nvPr/>
        </p:nvSpPr>
        <p:spPr>
          <a:xfrm>
            <a:off x="6537960" y="3977640"/>
            <a:ext cx="4846320" cy="1463040"/>
          </a:xfrm>
          <a:prstGeom prst="rect">
            <a:avLst/>
          </a:prstGeom>
          <a:noFill/>
          <a:ln/>
        </p:spPr>
        <p:txBody>
          <a:bodyPr wrap="square" rtlCol="0" anchor="ctr"/>
          <a:lstStyle/>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erschöpft  ·  leer  ·  voller Angst</a:t>
            </a:r>
            <a:endParaRPr lang="en-US" sz="1600" dirty="0"/>
          </a:p>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 „nur bis nach Hause durchhalten“</a:t>
            </a:r>
            <a:endParaRPr lang="en-US" sz="1600" dirty="0"/>
          </a:p>
        </p:txBody>
      </p:sp>
      <p:sp>
        <p:nvSpPr>
          <p:cNvPr id="14" name="Text 10"/>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Viele Betroffene sind Meister im Verbergen – aus Angst vor Mitleid, Nachteilen und Vorurteilen. Das Funktionieren kostet die letzte Kraft.</a:t>
            </a:r>
            <a:endParaRPr lang="en-US" sz="1450" dirty="0"/>
          </a:p>
        </p:txBody>
      </p:sp>
      <p:sp>
        <p:nvSpPr>
          <p:cNvPr id="16" name="Text 1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7" name="Text 1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4 · DER DENKFEHLER</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„positiv denken“ nicht reicht</a:t>
            </a:r>
            <a:endParaRPr lang="en-US" sz="3400" dirty="0"/>
          </a:p>
        </p:txBody>
      </p:sp>
      <p:sp>
        <p:nvSpPr>
          <p:cNvPr id="4" name="Shape 2"/>
          <p:cNvSpPr/>
          <p:nvPr/>
        </p:nvSpPr>
        <p:spPr>
          <a:xfrm>
            <a:off x="566928" y="1828800"/>
            <a:ext cx="11057839" cy="1920240"/>
          </a:xfrm>
          <a:prstGeom prst="roundRect">
            <a:avLst>
              <a:gd name="adj" fmla="val 523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78408" y="2240280"/>
            <a:ext cx="1051560" cy="105156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1251814" y="2513686"/>
            <a:ext cx="504749" cy="504749"/>
          </a:xfrm>
          <a:prstGeom prst="rect">
            <a:avLst/>
          </a:prstGeom>
        </p:spPr>
      </p:pic>
      <p:sp>
        <p:nvSpPr>
          <p:cNvPr id="7" name="Text 4"/>
          <p:cNvSpPr/>
          <p:nvPr/>
        </p:nvSpPr>
        <p:spPr>
          <a:xfrm>
            <a:off x="2350008" y="2148840"/>
            <a:ext cx="8778240" cy="1280160"/>
          </a:xfrm>
          <a:prstGeom prst="rect">
            <a:avLst/>
          </a:prstGeom>
          <a:noFill/>
          <a:ln/>
        </p:spPr>
        <p:txBody>
          <a:bodyPr wrap="square" rtlCol="0" anchor="ctr"/>
          <a:lstStyle/>
          <a:p>
            <a:pPr indent="0" marL="0">
              <a:lnSpc>
                <a:spcPts val="2800"/>
              </a:lnSpc>
              <a:buNone/>
            </a:pPr>
            <a:r>
              <a:rPr lang="en-US" sz="2300" b="1" dirty="0">
                <a:solidFill>
                  <a:srgbClr val="FFFFFF"/>
                </a:solidFill>
              </a:rPr>
              <a:t>„Denk doch einfach positiv.“
</a:t>
            </a:r>
            <a:endParaRPr lang="en-US" sz="2300" dirty="0"/>
          </a:p>
          <a:p>
            <a:pPr indent="0" marL="0">
              <a:lnSpc>
                <a:spcPts val="2800"/>
              </a:lnSpc>
              <a:buNone/>
            </a:pPr>
            <a:r>
              <a:rPr lang="en-US" sz="1800" i="1" dirty="0">
                <a:solidFill>
                  <a:srgbClr val="EAF6EF"/>
                </a:solidFill>
              </a:rPr>
              <a:t>…ist bei einer Depression so hilfreich wie „Lauf halt einfach“ bei einem gebrochenen Bein.</a:t>
            </a:r>
            <a:endParaRPr lang="en-US" sz="2300" dirty="0"/>
          </a:p>
        </p:txBody>
      </p:sp>
      <p:sp>
        <p:nvSpPr>
          <p:cNvPr id="8" name="Shape 5"/>
          <p:cNvSpPr/>
          <p:nvPr/>
        </p:nvSpPr>
        <p:spPr>
          <a:xfrm>
            <a:off x="566928"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59536" y="4270248"/>
            <a:ext cx="658368" cy="658368"/>
          </a:xfrm>
          <a:prstGeom prst="ellipse">
            <a:avLst/>
          </a:prstGeom>
          <a:solidFill>
            <a:srgbClr val="2E9284"/>
          </a:solidFill>
          <a:ln/>
        </p:spPr>
      </p:sp>
      <p:pic>
        <p:nvPicPr>
          <p:cNvPr id="10" name="Image 1" descr="preencoded.png">    </p:cNvPr>
          <p:cNvPicPr>
            <a:picLocks noChangeAspect="1"/>
          </p:cNvPicPr>
          <p:nvPr/>
        </p:nvPicPr>
        <p:blipFill>
          <a:blip r:embed="rId2"/>
          <a:stretch>
            <a:fillRect/>
          </a:stretch>
        </p:blipFill>
        <p:spPr>
          <a:xfrm>
            <a:off x="1030712" y="4441424"/>
            <a:ext cx="316017" cy="316017"/>
          </a:xfrm>
          <a:prstGeom prst="rect">
            <a:avLst/>
          </a:prstGeom>
        </p:spPr>
      </p:pic>
      <p:sp>
        <p:nvSpPr>
          <p:cNvPr id="11" name="Text 7"/>
          <p:cNvSpPr/>
          <p:nvPr/>
        </p:nvSpPr>
        <p:spPr>
          <a:xfrm>
            <a:off x="1645920"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Es ist eine Erkrankung</a:t>
            </a:r>
            <a:endParaRPr lang="en-US" sz="1600" dirty="0"/>
          </a:p>
        </p:txBody>
      </p:sp>
      <p:sp>
        <p:nvSpPr>
          <p:cNvPr id="12" name="Text 8"/>
          <p:cNvSpPr/>
          <p:nvPr/>
        </p:nvSpPr>
        <p:spPr>
          <a:xfrm>
            <a:off x="859536"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Depression verändert Hirnstoffwechsel und Antrieb – das lässt sich nicht ‚wegdenken‘.</a:t>
            </a:r>
            <a:endParaRPr lang="en-US" sz="1350" dirty="0"/>
          </a:p>
        </p:txBody>
      </p:sp>
      <p:sp>
        <p:nvSpPr>
          <p:cNvPr id="13" name="Shape 9"/>
          <p:cNvSpPr/>
          <p:nvPr/>
        </p:nvSpPr>
        <p:spPr>
          <a:xfrm>
            <a:off x="4343400"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4" name="Shape 10"/>
          <p:cNvSpPr/>
          <p:nvPr/>
        </p:nvSpPr>
        <p:spPr>
          <a:xfrm>
            <a:off x="4636008" y="4270248"/>
            <a:ext cx="658368" cy="658368"/>
          </a:xfrm>
          <a:prstGeom prst="ellipse">
            <a:avLst/>
          </a:prstGeom>
          <a:solidFill>
            <a:srgbClr val="2E9284"/>
          </a:solidFill>
          <a:ln/>
        </p:spPr>
      </p:sp>
      <p:pic>
        <p:nvPicPr>
          <p:cNvPr id="15" name="Image 2" descr="preencoded.png">    </p:cNvPr>
          <p:cNvPicPr>
            <a:picLocks noChangeAspect="1"/>
          </p:cNvPicPr>
          <p:nvPr/>
        </p:nvPicPr>
        <p:blipFill>
          <a:blip r:embed="rId3"/>
          <a:stretch>
            <a:fillRect/>
          </a:stretch>
        </p:blipFill>
        <p:spPr>
          <a:xfrm>
            <a:off x="4807184" y="4441424"/>
            <a:ext cx="316017" cy="316017"/>
          </a:xfrm>
          <a:prstGeom prst="rect">
            <a:avLst/>
          </a:prstGeom>
        </p:spPr>
      </p:pic>
      <p:sp>
        <p:nvSpPr>
          <p:cNvPr id="16" name="Text 11"/>
          <p:cNvSpPr/>
          <p:nvPr/>
        </p:nvSpPr>
        <p:spPr>
          <a:xfrm>
            <a:off x="5422392"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Der Wille ist nicht das Problem</a:t>
            </a:r>
            <a:endParaRPr lang="en-US" sz="1600" dirty="0"/>
          </a:p>
        </p:txBody>
      </p:sp>
      <p:sp>
        <p:nvSpPr>
          <p:cNvPr id="17" name="Text 12"/>
          <p:cNvSpPr/>
          <p:nvPr/>
        </p:nvSpPr>
        <p:spPr>
          <a:xfrm>
            <a:off x="4636008"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Betroffene wollen oft verzweifelt – sie können nicht. Willenskraft heilt keine Krankheit.</a:t>
            </a:r>
            <a:endParaRPr lang="en-US" sz="1350" dirty="0"/>
          </a:p>
        </p:txBody>
      </p:sp>
      <p:sp>
        <p:nvSpPr>
          <p:cNvPr id="18" name="Shape 13"/>
          <p:cNvSpPr/>
          <p:nvPr/>
        </p:nvSpPr>
        <p:spPr>
          <a:xfrm>
            <a:off x="8119872"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4"/>
          <p:cNvSpPr/>
          <p:nvPr/>
        </p:nvSpPr>
        <p:spPr>
          <a:xfrm>
            <a:off x="8412480" y="4270248"/>
            <a:ext cx="658368" cy="658368"/>
          </a:xfrm>
          <a:prstGeom prst="ellipse">
            <a:avLst/>
          </a:prstGeom>
          <a:solidFill>
            <a:srgbClr val="2E9284"/>
          </a:solidFill>
          <a:ln/>
        </p:spPr>
      </p:sp>
      <p:pic>
        <p:nvPicPr>
          <p:cNvPr id="20" name="Image 3" descr="preencoded.png">    </p:cNvPr>
          <p:cNvPicPr>
            <a:picLocks noChangeAspect="1"/>
          </p:cNvPicPr>
          <p:nvPr/>
        </p:nvPicPr>
        <p:blipFill>
          <a:blip r:embed="rId4"/>
          <a:stretch>
            <a:fillRect/>
          </a:stretch>
        </p:blipFill>
        <p:spPr>
          <a:xfrm>
            <a:off x="8583656" y="4441424"/>
            <a:ext cx="316017" cy="316017"/>
          </a:xfrm>
          <a:prstGeom prst="rect">
            <a:avLst/>
          </a:prstGeom>
        </p:spPr>
      </p:pic>
      <p:sp>
        <p:nvSpPr>
          <p:cNvPr id="21" name="Text 15"/>
          <p:cNvSpPr/>
          <p:nvPr/>
        </p:nvSpPr>
        <p:spPr>
          <a:xfrm>
            <a:off x="9198864"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Appelle verstärken Scham</a:t>
            </a:r>
            <a:endParaRPr lang="en-US" sz="1600" dirty="0"/>
          </a:p>
        </p:txBody>
      </p:sp>
      <p:sp>
        <p:nvSpPr>
          <p:cNvPr id="22" name="Text 16"/>
          <p:cNvSpPr/>
          <p:nvPr/>
        </p:nvSpPr>
        <p:spPr>
          <a:xfrm>
            <a:off x="8412480"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‚Reiß dich zusammen‘ sagt: ‚Du bist selbst schuld.‘ Das drückt tiefer, statt zu helfen.</a:t>
            </a:r>
            <a:endParaRPr lang="en-US" sz="135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5 · DER FAIRE VERGLEICH</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ein Beinbruch – nur unsichtbar</a:t>
            </a:r>
            <a:endParaRPr lang="en-US" sz="3400" dirty="0"/>
          </a:p>
        </p:txBody>
      </p:sp>
      <p:sp>
        <p:nvSpPr>
          <p:cNvPr id="4" name="Shape 2"/>
          <p:cNvSpPr/>
          <p:nvPr/>
        </p:nvSpPr>
        <p:spPr>
          <a:xfrm>
            <a:off x="566928" y="1783080"/>
            <a:ext cx="5391760" cy="585216"/>
          </a:xfrm>
          <a:prstGeom prst="roundRect">
            <a:avLst>
              <a:gd name="adj" fmla="val 10938"/>
            </a:avLst>
          </a:prstGeom>
          <a:solidFill>
            <a:srgbClr val="2E9284"/>
          </a:solidFill>
          <a:ln/>
        </p:spPr>
      </p:sp>
      <p:sp>
        <p:nvSpPr>
          <p:cNvPr id="5" name="Shape 3"/>
          <p:cNvSpPr/>
          <p:nvPr/>
        </p:nvSpPr>
        <p:spPr>
          <a:xfrm>
            <a:off x="6233008" y="1783080"/>
            <a:ext cx="5391760" cy="585216"/>
          </a:xfrm>
          <a:prstGeom prst="roundRect">
            <a:avLst>
              <a:gd name="adj" fmla="val 10938"/>
            </a:avLst>
          </a:prstGeom>
          <a:solidFill>
            <a:srgbClr val="2C7A6B"/>
          </a:solidFill>
          <a:ln/>
        </p:spPr>
      </p:sp>
      <p:sp>
        <p:nvSpPr>
          <p:cNvPr id="6" name="Text 4"/>
          <p:cNvSpPr/>
          <p:nvPr/>
        </p:nvSpPr>
        <p:spPr>
          <a:xfrm>
            <a:off x="56692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Körperlich</a:t>
            </a:r>
            <a:endParaRPr lang="en-US" sz="1800" dirty="0"/>
          </a:p>
        </p:txBody>
      </p:sp>
      <p:sp>
        <p:nvSpPr>
          <p:cNvPr id="7" name="Text 5"/>
          <p:cNvSpPr/>
          <p:nvPr/>
        </p:nvSpPr>
        <p:spPr>
          <a:xfrm>
            <a:off x="623300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Psychisch</a:t>
            </a:r>
            <a:endParaRPr lang="en-US" sz="1800" dirty="0"/>
          </a:p>
        </p:txBody>
      </p:sp>
      <p:sp>
        <p:nvSpPr>
          <p:cNvPr id="8" name="Shape 6"/>
          <p:cNvSpPr/>
          <p:nvPr/>
        </p:nvSpPr>
        <p:spPr>
          <a:xfrm>
            <a:off x="566928" y="2487168"/>
            <a:ext cx="5391760" cy="676656"/>
          </a:xfrm>
          <a:prstGeom prst="rect">
            <a:avLst/>
          </a:prstGeom>
          <a:solidFill>
            <a:srgbClr val="FFFFFF"/>
          </a:solidFill>
          <a:ln w="6350">
            <a:solidFill>
              <a:srgbClr val="D9E9E1"/>
            </a:solidFill>
            <a:prstDash val="solid"/>
          </a:ln>
        </p:spPr>
      </p:sp>
      <p:sp>
        <p:nvSpPr>
          <p:cNvPr id="9" name="Shape 7"/>
          <p:cNvSpPr/>
          <p:nvPr/>
        </p:nvSpPr>
        <p:spPr>
          <a:xfrm>
            <a:off x="6233008" y="2487168"/>
            <a:ext cx="5391760" cy="676656"/>
          </a:xfrm>
          <a:prstGeom prst="rect">
            <a:avLst/>
          </a:prstGeom>
          <a:solidFill>
            <a:srgbClr val="FFFFFF"/>
          </a:solidFill>
          <a:ln w="6350">
            <a:solidFill>
              <a:srgbClr val="D9E9E1"/>
            </a:solidFill>
            <a:prstDash val="solid"/>
          </a:ln>
        </p:spPr>
      </p:sp>
      <p:sp>
        <p:nvSpPr>
          <p:cNvPr id="10" name="Text 8"/>
          <p:cNvSpPr/>
          <p:nvPr/>
        </p:nvSpPr>
        <p:spPr>
          <a:xfrm>
            <a:off x="841248" y="2487168"/>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Man sieht den Gips</a:t>
            </a:r>
            <a:endParaRPr lang="en-US" sz="1550" dirty="0"/>
          </a:p>
        </p:txBody>
      </p:sp>
      <p:sp>
        <p:nvSpPr>
          <p:cNvPr id="11" name="Text 9"/>
          <p:cNvSpPr/>
          <p:nvPr/>
        </p:nvSpPr>
        <p:spPr>
          <a:xfrm>
            <a:off x="6507328" y="2487168"/>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Man sieht nichts</a:t>
            </a:r>
            <a:endParaRPr lang="en-US" sz="1550" dirty="0"/>
          </a:p>
        </p:txBody>
      </p:sp>
      <p:sp>
        <p:nvSpPr>
          <p:cNvPr id="12" name="Shape 10"/>
          <p:cNvSpPr/>
          <p:nvPr/>
        </p:nvSpPr>
        <p:spPr>
          <a:xfrm>
            <a:off x="566928" y="3163824"/>
            <a:ext cx="5391760" cy="676656"/>
          </a:xfrm>
          <a:prstGeom prst="rect">
            <a:avLst/>
          </a:prstGeom>
          <a:solidFill>
            <a:srgbClr val="E6F2EC"/>
          </a:solidFill>
          <a:ln w="6350">
            <a:solidFill>
              <a:srgbClr val="D9E9E1"/>
            </a:solidFill>
            <a:prstDash val="solid"/>
          </a:ln>
        </p:spPr>
      </p:sp>
      <p:sp>
        <p:nvSpPr>
          <p:cNvPr id="13" name="Shape 11"/>
          <p:cNvSpPr/>
          <p:nvPr/>
        </p:nvSpPr>
        <p:spPr>
          <a:xfrm>
            <a:off x="6233008" y="3163824"/>
            <a:ext cx="5391760" cy="676656"/>
          </a:xfrm>
          <a:prstGeom prst="rect">
            <a:avLst/>
          </a:prstGeom>
          <a:solidFill>
            <a:srgbClr val="E6F2EC"/>
          </a:solidFill>
          <a:ln w="6350">
            <a:solidFill>
              <a:srgbClr val="D9E9E1"/>
            </a:solidFill>
            <a:prstDash val="solid"/>
          </a:ln>
        </p:spPr>
      </p:sp>
      <p:sp>
        <p:nvSpPr>
          <p:cNvPr id="14" name="Text 12"/>
          <p:cNvSpPr/>
          <p:nvPr/>
        </p:nvSpPr>
        <p:spPr>
          <a:xfrm>
            <a:off x="841248" y="3163824"/>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„Gute Besserung!“</a:t>
            </a:r>
            <a:endParaRPr lang="en-US" sz="1550" dirty="0"/>
          </a:p>
        </p:txBody>
      </p:sp>
      <p:sp>
        <p:nvSpPr>
          <p:cNvPr id="15" name="Text 13"/>
          <p:cNvSpPr/>
          <p:nvPr/>
        </p:nvSpPr>
        <p:spPr>
          <a:xfrm>
            <a:off x="6507328" y="3163824"/>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„Stell dich nicht so an.“</a:t>
            </a:r>
            <a:endParaRPr lang="en-US" sz="1550" dirty="0"/>
          </a:p>
        </p:txBody>
      </p:sp>
      <p:sp>
        <p:nvSpPr>
          <p:cNvPr id="16" name="Shape 14"/>
          <p:cNvSpPr/>
          <p:nvPr/>
        </p:nvSpPr>
        <p:spPr>
          <a:xfrm>
            <a:off x="566928" y="3840480"/>
            <a:ext cx="5391760" cy="676656"/>
          </a:xfrm>
          <a:prstGeom prst="rect">
            <a:avLst/>
          </a:prstGeom>
          <a:solidFill>
            <a:srgbClr val="FFFFFF"/>
          </a:solidFill>
          <a:ln w="6350">
            <a:solidFill>
              <a:srgbClr val="D9E9E1"/>
            </a:solidFill>
            <a:prstDash val="solid"/>
          </a:ln>
        </p:spPr>
      </p:sp>
      <p:sp>
        <p:nvSpPr>
          <p:cNvPr id="17" name="Shape 15"/>
          <p:cNvSpPr/>
          <p:nvPr/>
        </p:nvSpPr>
        <p:spPr>
          <a:xfrm>
            <a:off x="6233008" y="3840480"/>
            <a:ext cx="5391760" cy="676656"/>
          </a:xfrm>
          <a:prstGeom prst="rect">
            <a:avLst/>
          </a:prstGeom>
          <a:solidFill>
            <a:srgbClr val="FFFFFF"/>
          </a:solidFill>
          <a:ln w="6350">
            <a:solidFill>
              <a:srgbClr val="D9E9E1"/>
            </a:solidFill>
            <a:prstDash val="solid"/>
          </a:ln>
        </p:spPr>
      </p:sp>
      <p:sp>
        <p:nvSpPr>
          <p:cNvPr id="18" name="Text 16"/>
          <p:cNvSpPr/>
          <p:nvPr/>
        </p:nvSpPr>
        <p:spPr>
          <a:xfrm>
            <a:off x="841248" y="3840480"/>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Klare Behandlung, Reha</a:t>
            </a:r>
            <a:endParaRPr lang="en-US" sz="1550" dirty="0"/>
          </a:p>
        </p:txBody>
      </p:sp>
      <p:sp>
        <p:nvSpPr>
          <p:cNvPr id="19" name="Text 17"/>
          <p:cNvSpPr/>
          <p:nvPr/>
        </p:nvSpPr>
        <p:spPr>
          <a:xfrm>
            <a:off x="6507328" y="3840480"/>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Behandlung – aber oft mit Scham</a:t>
            </a:r>
            <a:endParaRPr lang="en-US" sz="1550" dirty="0"/>
          </a:p>
        </p:txBody>
      </p:sp>
      <p:sp>
        <p:nvSpPr>
          <p:cNvPr id="20" name="Shape 18"/>
          <p:cNvSpPr/>
          <p:nvPr/>
        </p:nvSpPr>
        <p:spPr>
          <a:xfrm>
            <a:off x="566928" y="4517136"/>
            <a:ext cx="5391760" cy="676656"/>
          </a:xfrm>
          <a:prstGeom prst="rect">
            <a:avLst/>
          </a:prstGeom>
          <a:solidFill>
            <a:srgbClr val="E6F2EC"/>
          </a:solidFill>
          <a:ln w="6350">
            <a:solidFill>
              <a:srgbClr val="D9E9E1"/>
            </a:solidFill>
            <a:prstDash val="solid"/>
          </a:ln>
        </p:spPr>
      </p:sp>
      <p:sp>
        <p:nvSpPr>
          <p:cNvPr id="21" name="Shape 19"/>
          <p:cNvSpPr/>
          <p:nvPr/>
        </p:nvSpPr>
        <p:spPr>
          <a:xfrm>
            <a:off x="6233008" y="4517136"/>
            <a:ext cx="5391760" cy="676656"/>
          </a:xfrm>
          <a:prstGeom prst="rect">
            <a:avLst/>
          </a:prstGeom>
          <a:solidFill>
            <a:srgbClr val="E6F2EC"/>
          </a:solidFill>
          <a:ln w="6350">
            <a:solidFill>
              <a:srgbClr val="D9E9E1"/>
            </a:solidFill>
            <a:prstDash val="solid"/>
          </a:ln>
        </p:spPr>
      </p:sp>
      <p:sp>
        <p:nvSpPr>
          <p:cNvPr id="22" name="Text 20"/>
          <p:cNvSpPr/>
          <p:nvPr/>
        </p:nvSpPr>
        <p:spPr>
          <a:xfrm>
            <a:off x="841248" y="4517136"/>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Niemand zweifelt daran</a:t>
            </a:r>
            <a:endParaRPr lang="en-US" sz="1550" dirty="0"/>
          </a:p>
        </p:txBody>
      </p:sp>
      <p:sp>
        <p:nvSpPr>
          <p:cNvPr id="23" name="Text 21"/>
          <p:cNvSpPr/>
          <p:nvPr/>
        </p:nvSpPr>
        <p:spPr>
          <a:xfrm>
            <a:off x="6507328" y="4517136"/>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„Ist das nicht Einbildung?“</a:t>
            </a:r>
            <a:endParaRPr lang="en-US" sz="1550" dirty="0"/>
          </a:p>
        </p:txBody>
      </p:sp>
      <p:sp>
        <p:nvSpPr>
          <p:cNvPr id="24" name="Shape 22"/>
          <p:cNvSpPr/>
          <p:nvPr/>
        </p:nvSpPr>
        <p:spPr>
          <a:xfrm>
            <a:off x="566928" y="5193792"/>
            <a:ext cx="5391760" cy="676656"/>
          </a:xfrm>
          <a:prstGeom prst="rect">
            <a:avLst/>
          </a:prstGeom>
          <a:solidFill>
            <a:srgbClr val="FFFFFF"/>
          </a:solidFill>
          <a:ln w="6350">
            <a:solidFill>
              <a:srgbClr val="D9E9E1"/>
            </a:solidFill>
            <a:prstDash val="solid"/>
          </a:ln>
        </p:spPr>
      </p:sp>
      <p:sp>
        <p:nvSpPr>
          <p:cNvPr id="25" name="Shape 23"/>
          <p:cNvSpPr/>
          <p:nvPr/>
        </p:nvSpPr>
        <p:spPr>
          <a:xfrm>
            <a:off x="6233008" y="5193792"/>
            <a:ext cx="5391760" cy="676656"/>
          </a:xfrm>
          <a:prstGeom prst="rect">
            <a:avLst/>
          </a:prstGeom>
          <a:solidFill>
            <a:srgbClr val="FFFFFF"/>
          </a:solidFill>
          <a:ln w="6350">
            <a:solidFill>
              <a:srgbClr val="D9E9E1"/>
            </a:solidFill>
            <a:prstDash val="solid"/>
          </a:ln>
        </p:spPr>
      </p:sp>
      <p:sp>
        <p:nvSpPr>
          <p:cNvPr id="26" name="Text 24"/>
          <p:cNvSpPr/>
          <p:nvPr/>
        </p:nvSpPr>
        <p:spPr>
          <a:xfrm>
            <a:off x="841248" y="5193792"/>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Heilung erwartet</a:t>
            </a:r>
            <a:endParaRPr lang="en-US" sz="1550" dirty="0"/>
          </a:p>
        </p:txBody>
      </p:sp>
      <p:sp>
        <p:nvSpPr>
          <p:cNvPr id="27" name="Text 25"/>
          <p:cNvSpPr/>
          <p:nvPr/>
        </p:nvSpPr>
        <p:spPr>
          <a:xfrm>
            <a:off x="6507328" y="5193792"/>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Heilung ebenso möglich</a:t>
            </a:r>
            <a:endParaRPr lang="en-US" sz="15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6 · ANGST &amp; PANIK VON INNEN</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Der Körper im Vollalarm – ohne Feuer</a:t>
            </a:r>
            <a:endParaRPr lang="en-US" sz="2900" dirty="0"/>
          </a:p>
        </p:txBody>
      </p:sp>
      <p:sp>
        <p:nvSpPr>
          <p:cNvPr id="5" name="Shape 2"/>
          <p:cNvSpPr/>
          <p:nvPr/>
        </p:nvSpPr>
        <p:spPr>
          <a:xfrm>
            <a:off x="566928" y="1828800"/>
            <a:ext cx="5394960" cy="1572768"/>
          </a:xfrm>
          <a:prstGeom prst="roundRect">
            <a:avLst>
              <a:gd name="adj" fmla="val 5814"/>
            </a:avLst>
          </a:prstGeom>
          <a:solidFill>
            <a:srgbClr val="FFFFFF"/>
          </a:solidFill>
          <a:ln/>
        </p:spPr>
      </p:sp>
      <p:sp>
        <p:nvSpPr>
          <p:cNvPr id="6" name="Shape 3"/>
          <p:cNvSpPr/>
          <p:nvPr/>
        </p:nvSpPr>
        <p:spPr>
          <a:xfrm>
            <a:off x="886968" y="2249424"/>
            <a:ext cx="731520" cy="731520"/>
          </a:xfrm>
          <a:prstGeom prst="ellipse">
            <a:avLst/>
          </a:prstGeom>
          <a:solidFill>
            <a:srgbClr val="E89A45"/>
          </a:solidFill>
          <a:ln/>
        </p:spPr>
      </p:sp>
      <p:pic>
        <p:nvPicPr>
          <p:cNvPr id="7"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8" name="Text 4"/>
          <p:cNvSpPr/>
          <p:nvPr/>
        </p:nvSpPr>
        <p:spPr>
          <a:xfrm>
            <a:off x="1801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Herz rast</a:t>
            </a:r>
            <a:endParaRPr lang="en-US" sz="1800" dirty="0"/>
          </a:p>
        </p:txBody>
      </p:sp>
      <p:sp>
        <p:nvSpPr>
          <p:cNvPr id="9" name="Text 5"/>
          <p:cNvSpPr/>
          <p:nvPr/>
        </p:nvSpPr>
        <p:spPr>
          <a:xfrm>
            <a:off x="1801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als müsstest du sofort um dein Leben rennen</a:t>
            </a:r>
            <a:endParaRPr lang="en-US" sz="1350" dirty="0"/>
          </a:p>
        </p:txBody>
      </p:sp>
      <p:sp>
        <p:nvSpPr>
          <p:cNvPr id="10" name="Shape 6"/>
          <p:cNvSpPr/>
          <p:nvPr/>
        </p:nvSpPr>
        <p:spPr>
          <a:xfrm>
            <a:off x="6281928" y="1828800"/>
            <a:ext cx="5394960" cy="1572768"/>
          </a:xfrm>
          <a:prstGeom prst="roundRect">
            <a:avLst>
              <a:gd name="adj" fmla="val 5814"/>
            </a:avLst>
          </a:prstGeom>
          <a:solidFill>
            <a:srgbClr val="FFFFFF"/>
          </a:solidFill>
          <a:ln/>
        </p:spPr>
      </p:sp>
      <p:sp>
        <p:nvSpPr>
          <p:cNvPr id="11" name="Shape 7"/>
          <p:cNvSpPr/>
          <p:nvPr/>
        </p:nvSpPr>
        <p:spPr>
          <a:xfrm>
            <a:off x="6601968" y="2249424"/>
            <a:ext cx="731520" cy="731520"/>
          </a:xfrm>
          <a:prstGeom prst="ellipse">
            <a:avLst/>
          </a:prstGeom>
          <a:solidFill>
            <a:srgbClr val="E89A45"/>
          </a:solidFill>
          <a:ln/>
        </p:spPr>
      </p:sp>
      <p:pic>
        <p:nvPicPr>
          <p:cNvPr id="12"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3" name="Text 8"/>
          <p:cNvSpPr/>
          <p:nvPr/>
        </p:nvSpPr>
        <p:spPr>
          <a:xfrm>
            <a:off x="7516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Atem wird eng</a:t>
            </a:r>
            <a:endParaRPr lang="en-US" sz="1800" dirty="0"/>
          </a:p>
        </p:txBody>
      </p:sp>
      <p:sp>
        <p:nvSpPr>
          <p:cNvPr id="14" name="Text 9"/>
          <p:cNvSpPr/>
          <p:nvPr/>
        </p:nvSpPr>
        <p:spPr>
          <a:xfrm>
            <a:off x="7516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Schwindel, Kribbeln, Enge in der Brust</a:t>
            </a:r>
            <a:endParaRPr lang="en-US" sz="1350" dirty="0"/>
          </a:p>
        </p:txBody>
      </p:sp>
      <p:sp>
        <p:nvSpPr>
          <p:cNvPr id="15" name="Shape 10"/>
          <p:cNvSpPr/>
          <p:nvPr/>
        </p:nvSpPr>
        <p:spPr>
          <a:xfrm>
            <a:off x="566928" y="3675888"/>
            <a:ext cx="5394960" cy="1572768"/>
          </a:xfrm>
          <a:prstGeom prst="roundRect">
            <a:avLst>
              <a:gd name="adj" fmla="val 5814"/>
            </a:avLst>
          </a:prstGeom>
          <a:solidFill>
            <a:srgbClr val="FFFFFF"/>
          </a:solidFill>
          <a:ln/>
        </p:spPr>
      </p:sp>
      <p:sp>
        <p:nvSpPr>
          <p:cNvPr id="16" name="Shape 11"/>
          <p:cNvSpPr/>
          <p:nvPr/>
        </p:nvSpPr>
        <p:spPr>
          <a:xfrm>
            <a:off x="886968" y="4096512"/>
            <a:ext cx="731520" cy="731520"/>
          </a:xfrm>
          <a:prstGeom prst="ellipse">
            <a:avLst/>
          </a:prstGeom>
          <a:solidFill>
            <a:srgbClr val="E89A45"/>
          </a:solidFill>
          <a:ln/>
        </p:spPr>
      </p:sp>
      <p:pic>
        <p:nvPicPr>
          <p:cNvPr id="17"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18" name="Text 12"/>
          <p:cNvSpPr/>
          <p:nvPr/>
        </p:nvSpPr>
        <p:spPr>
          <a:xfrm>
            <a:off x="1801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„Ich sterbe gleich“</a:t>
            </a:r>
            <a:endParaRPr lang="en-US" sz="1800" dirty="0"/>
          </a:p>
        </p:txBody>
      </p:sp>
      <p:sp>
        <p:nvSpPr>
          <p:cNvPr id="19" name="Text 13"/>
          <p:cNvSpPr/>
          <p:nvPr/>
        </p:nvSpPr>
        <p:spPr>
          <a:xfrm>
            <a:off x="1801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der Verstand ist überzeugt: das ist der Ernstfall</a:t>
            </a:r>
            <a:endParaRPr lang="en-US" sz="1350" dirty="0"/>
          </a:p>
        </p:txBody>
      </p:sp>
      <p:sp>
        <p:nvSpPr>
          <p:cNvPr id="20" name="Shape 14"/>
          <p:cNvSpPr/>
          <p:nvPr/>
        </p:nvSpPr>
        <p:spPr>
          <a:xfrm>
            <a:off x="6281928" y="3675888"/>
            <a:ext cx="5394960" cy="1572768"/>
          </a:xfrm>
          <a:prstGeom prst="roundRect">
            <a:avLst>
              <a:gd name="adj" fmla="val 5814"/>
            </a:avLst>
          </a:prstGeom>
          <a:solidFill>
            <a:srgbClr val="FFFFFF"/>
          </a:solidFill>
          <a:ln/>
        </p:spPr>
      </p:sp>
      <p:sp>
        <p:nvSpPr>
          <p:cNvPr id="21" name="Shape 15"/>
          <p:cNvSpPr/>
          <p:nvPr/>
        </p:nvSpPr>
        <p:spPr>
          <a:xfrm>
            <a:off x="6601968" y="4096512"/>
            <a:ext cx="731520" cy="731520"/>
          </a:xfrm>
          <a:prstGeom prst="ellipse">
            <a:avLst/>
          </a:prstGeom>
          <a:solidFill>
            <a:srgbClr val="E89A45"/>
          </a:solidFill>
          <a:ln/>
        </p:spPr>
      </p:sp>
      <p:pic>
        <p:nvPicPr>
          <p:cNvPr id="22"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3" name="Text 16"/>
          <p:cNvSpPr/>
          <p:nvPr/>
        </p:nvSpPr>
        <p:spPr>
          <a:xfrm>
            <a:off x="7516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Nach Minuten vorbei</a:t>
            </a:r>
            <a:endParaRPr lang="en-US" sz="1800" dirty="0"/>
          </a:p>
        </p:txBody>
      </p:sp>
      <p:sp>
        <p:nvSpPr>
          <p:cNvPr id="24" name="Text 17"/>
          <p:cNvSpPr/>
          <p:nvPr/>
        </p:nvSpPr>
        <p:spPr>
          <a:xfrm>
            <a:off x="7516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und doch bleibt die Angst vor der nächsten Welle</a:t>
            </a:r>
            <a:endParaRPr lang="en-US" sz="1350" dirty="0"/>
          </a:p>
        </p:txBody>
      </p:sp>
      <p:sp>
        <p:nvSpPr>
          <p:cNvPr id="25" name="Text 18"/>
          <p:cNvSpPr/>
          <p:nvPr/>
        </p:nvSpPr>
        <p:spPr>
          <a:xfrm>
            <a:off x="566928" y="5989320"/>
            <a:ext cx="11057839" cy="411480"/>
          </a:xfrm>
          <a:prstGeom prst="rect">
            <a:avLst/>
          </a:prstGeom>
          <a:noFill/>
          <a:ln/>
        </p:spPr>
        <p:txBody>
          <a:bodyPr wrap="square" rtlCol="0" anchor="ctr"/>
          <a:lstStyle/>
          <a:p>
            <a:pPr algn="ctr" indent="0" marL="0">
              <a:buNone/>
            </a:pPr>
            <a:r>
              <a:rPr lang="en-US" sz="1450" i="1" dirty="0">
                <a:solidFill>
                  <a:srgbClr val="F2FAF5"/>
                </a:solidFill>
                <a:latin typeface="Calibri" pitchFamily="34" charset="0"/>
                <a:ea typeface="Calibri" pitchFamily="34" charset="-122"/>
                <a:cs typeface="Calibri" pitchFamily="34" charset="-120"/>
              </a:rPr>
              <a:t>Das Entscheidende: Die Gefahr ist nicht real – die Angst schon. Man kann sie sich nicht ‚ausreden‘.</a:t>
            </a:r>
            <a:endParaRPr lang="en-US" sz="1450" dirty="0"/>
          </a:p>
        </p:txBody>
      </p:sp>
      <p:sp>
        <p:nvSpPr>
          <p:cNvPr id="27"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8"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AUS DEM ECHTEN LEBEN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sich das im Alltag zeigt</a:t>
            </a:r>
            <a:endParaRPr lang="en-US" sz="3400" dirty="0"/>
          </a:p>
        </p:txBody>
      </p:sp>
      <p:sp>
        <p:nvSpPr>
          <p:cNvPr id="4" name="Shape 2"/>
          <p:cNvSpPr/>
          <p:nvPr/>
        </p:nvSpPr>
        <p:spPr>
          <a:xfrm>
            <a:off x="566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31520" cy="73152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28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Die Absage in letzter Minute</a:t>
            </a:r>
            <a:endParaRPr lang="en-US" sz="1700" dirty="0"/>
          </a:p>
        </p:txBody>
      </p:sp>
      <p:sp>
        <p:nvSpPr>
          <p:cNvPr id="8" name="Text 5"/>
          <p:cNvSpPr/>
          <p:nvPr/>
        </p:nvSpPr>
        <p:spPr>
          <a:xfrm>
            <a:off x="1828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Nicht Desinteresse – die Kraft für Menschen hat heute einfach nicht gereicht.</a:t>
            </a:r>
            <a:endParaRPr lang="en-US" sz="1350" dirty="0"/>
          </a:p>
        </p:txBody>
      </p:sp>
      <p:sp>
        <p:nvSpPr>
          <p:cNvPr id="9" name="Shape 6"/>
          <p:cNvSpPr/>
          <p:nvPr/>
        </p:nvSpPr>
        <p:spPr>
          <a:xfrm>
            <a:off x="6281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31520" cy="73152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43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Gereiztheit „aus dem Nichts“</a:t>
            </a:r>
            <a:endParaRPr lang="en-US" sz="1700" dirty="0"/>
          </a:p>
        </p:txBody>
      </p:sp>
      <p:sp>
        <p:nvSpPr>
          <p:cNvPr id="13" name="Text 9"/>
          <p:cNvSpPr/>
          <p:nvPr/>
        </p:nvSpPr>
        <p:spPr>
          <a:xfrm>
            <a:off x="7543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die innere Batterie leer ist, wird jede Kleinigkeit zu viel.</a:t>
            </a:r>
            <a:endParaRPr lang="en-US" sz="1350" dirty="0"/>
          </a:p>
        </p:txBody>
      </p:sp>
      <p:sp>
        <p:nvSpPr>
          <p:cNvPr id="14" name="Shape 10"/>
          <p:cNvSpPr/>
          <p:nvPr/>
        </p:nvSpPr>
        <p:spPr>
          <a:xfrm>
            <a:off x="566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142232"/>
            <a:ext cx="731520" cy="73152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77163" y="4332427"/>
            <a:ext cx="351130" cy="351130"/>
          </a:xfrm>
          <a:prstGeom prst="rect">
            <a:avLst/>
          </a:prstGeom>
        </p:spPr>
      </p:pic>
      <p:sp>
        <p:nvSpPr>
          <p:cNvPr id="17" name="Text 12"/>
          <p:cNvSpPr/>
          <p:nvPr/>
        </p:nvSpPr>
        <p:spPr>
          <a:xfrm>
            <a:off x="1828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Morgens wie durch Watte</a:t>
            </a:r>
            <a:endParaRPr lang="en-US" sz="1700" dirty="0"/>
          </a:p>
        </p:txBody>
      </p:sp>
      <p:sp>
        <p:nvSpPr>
          <p:cNvPr id="18" name="Text 13"/>
          <p:cNvSpPr/>
          <p:nvPr/>
        </p:nvSpPr>
        <p:spPr>
          <a:xfrm>
            <a:off x="1828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Der Tag beginnt schon erschöpft – noch bevor irgendetwas passiert ist.</a:t>
            </a:r>
            <a:endParaRPr lang="en-US" sz="1350" dirty="0"/>
          </a:p>
        </p:txBody>
      </p:sp>
      <p:sp>
        <p:nvSpPr>
          <p:cNvPr id="19" name="Shape 14"/>
          <p:cNvSpPr/>
          <p:nvPr/>
        </p:nvSpPr>
        <p:spPr>
          <a:xfrm>
            <a:off x="6281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142232"/>
            <a:ext cx="731520" cy="73152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792163" y="4332427"/>
            <a:ext cx="351130" cy="351130"/>
          </a:xfrm>
          <a:prstGeom prst="rect">
            <a:avLst/>
          </a:prstGeom>
        </p:spPr>
      </p:pic>
      <p:sp>
        <p:nvSpPr>
          <p:cNvPr id="22" name="Text 16"/>
          <p:cNvSpPr/>
          <p:nvPr/>
        </p:nvSpPr>
        <p:spPr>
          <a:xfrm>
            <a:off x="7543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Der gemiedene Supermarkt</a:t>
            </a:r>
            <a:endParaRPr lang="en-US" sz="1700" dirty="0"/>
          </a:p>
        </p:txBody>
      </p:sp>
      <p:sp>
        <p:nvSpPr>
          <p:cNvPr id="23" name="Text 17"/>
          <p:cNvSpPr/>
          <p:nvPr/>
        </p:nvSpPr>
        <p:spPr>
          <a:xfrm>
            <a:off x="7543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Bei Angst wird die Welt still kleiner: erst dieser Ort, dann jener.</a:t>
            </a:r>
            <a:endParaRPr lang="en-US" sz="1350" dirty="0"/>
          </a:p>
        </p:txBody>
      </p:sp>
      <p:sp>
        <p:nvSpPr>
          <p:cNvPr id="24" name="Text 18"/>
          <p:cNvSpPr/>
          <p:nvPr/>
        </p:nvSpPr>
        <p:spPr>
          <a:xfrm>
            <a:off x="566928" y="5943600"/>
            <a:ext cx="11057839" cy="411480"/>
          </a:xfrm>
          <a:prstGeom prst="rect">
            <a:avLst/>
          </a:prstGeom>
          <a:noFill/>
          <a:ln/>
        </p:spPr>
        <p:txBody>
          <a:bodyPr wrap="square" rtlCol="0" anchor="ctr"/>
          <a:lstStyle/>
          <a:p>
            <a:pPr indent="0" marL="0">
              <a:buNone/>
            </a:pPr>
            <a:r>
              <a:rPr lang="en-US" sz="1450" i="1" dirty="0">
                <a:solidFill>
                  <a:srgbClr val="2E9284"/>
                </a:solidFill>
                <a:latin typeface="Calibri" pitchFamily="34" charset="0"/>
                <a:ea typeface="Calibri" pitchFamily="34" charset="-122"/>
                <a:cs typeface="Calibri" pitchFamily="34" charset="-120"/>
              </a:rPr>
              <a:t>Mein Beispiel: ________________________________________________</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1371600" y="109728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5" name="Text 1"/>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PERSPEKTIVWECHSEL</a:t>
            </a:r>
            <a:endParaRPr lang="en-US" sz="1250" dirty="0"/>
          </a:p>
        </p:txBody>
      </p:sp>
      <p:sp>
        <p:nvSpPr>
          <p:cNvPr id="6" name="Text 2"/>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Ein Tag mit Depression</a:t>
            </a:r>
            <a:endParaRPr lang="en-US" sz="2700" dirty="0"/>
          </a:p>
        </p:txBody>
      </p:sp>
      <p:sp>
        <p:nvSpPr>
          <p:cNvPr id="7" name="Shape 3"/>
          <p:cNvSpPr/>
          <p:nvPr/>
        </p:nvSpPr>
        <p:spPr>
          <a:xfrm>
            <a:off x="548640" y="5212080"/>
            <a:ext cx="2468880" cy="530352"/>
          </a:xfrm>
          <a:prstGeom prst="roundRect">
            <a:avLst>
              <a:gd name="adj" fmla="val 17241"/>
            </a:avLst>
          </a:prstGeom>
          <a:solidFill>
            <a:srgbClr val="E89A45"/>
          </a:solidFill>
          <a:ln/>
        </p:spPr>
      </p:sp>
      <p:sp>
        <p:nvSpPr>
          <p:cNvPr id="8" name="Text 4"/>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15 Min.</a:t>
            </a:r>
            <a:endParaRPr lang="en-US" sz="1500" dirty="0"/>
          </a:p>
        </p:txBody>
      </p:sp>
      <p:sp>
        <p:nvSpPr>
          <p:cNvPr id="9" name="Text 5"/>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0" name="Shape 6"/>
          <p:cNvSpPr/>
          <p:nvPr/>
        </p:nvSpPr>
        <p:spPr>
          <a:xfrm>
            <a:off x="4526280" y="1042416"/>
            <a:ext cx="420624" cy="420624"/>
          </a:xfrm>
          <a:prstGeom prst="ellipse">
            <a:avLst/>
          </a:prstGeom>
          <a:solidFill>
            <a:srgbClr val="E89A45"/>
          </a:solidFill>
          <a:ln/>
        </p:spPr>
      </p:sp>
      <p:sp>
        <p:nvSpPr>
          <p:cNvPr id="11" name="Text 7"/>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8"/>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Jede/r bekommt das Blatt „Ein Tag mit Depression“ (Kopiervorlage).</a:t>
            </a:r>
            <a:endParaRPr lang="en-US" sz="1550" dirty="0"/>
          </a:p>
        </p:txBody>
      </p:sp>
      <p:sp>
        <p:nvSpPr>
          <p:cNvPr id="13" name="Shape 9"/>
          <p:cNvSpPr/>
          <p:nvPr/>
        </p:nvSpPr>
        <p:spPr>
          <a:xfrm>
            <a:off x="4526280" y="1719072"/>
            <a:ext cx="420624" cy="420624"/>
          </a:xfrm>
          <a:prstGeom prst="ellipse">
            <a:avLst/>
          </a:prstGeom>
          <a:solidFill>
            <a:srgbClr val="E89A45"/>
          </a:solidFill>
          <a:ln/>
        </p:spPr>
      </p:sp>
      <p:sp>
        <p:nvSpPr>
          <p:cNvPr id="14" name="Text 10"/>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1"/>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Lesen Sie den Tagesablauf still – jede Aufgabe kostet ‚+15 kg‘.</a:t>
            </a:r>
            <a:endParaRPr lang="en-US" sz="1550" dirty="0"/>
          </a:p>
        </p:txBody>
      </p:sp>
      <p:sp>
        <p:nvSpPr>
          <p:cNvPr id="16" name="Shape 12"/>
          <p:cNvSpPr/>
          <p:nvPr/>
        </p:nvSpPr>
        <p:spPr>
          <a:xfrm>
            <a:off x="4526280" y="2395728"/>
            <a:ext cx="420624" cy="420624"/>
          </a:xfrm>
          <a:prstGeom prst="ellipse">
            <a:avLst/>
          </a:prstGeom>
          <a:solidFill>
            <a:srgbClr val="E89A45"/>
          </a:solidFill>
          <a:ln/>
        </p:spPr>
      </p:sp>
      <p:sp>
        <p:nvSpPr>
          <p:cNvPr id="17" name="Text 13"/>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4"/>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Markieren Sie: Was hätten Sie heute so nicht geschafft?</a:t>
            </a:r>
            <a:endParaRPr lang="en-US" sz="1550" dirty="0"/>
          </a:p>
        </p:txBody>
      </p:sp>
      <p:sp>
        <p:nvSpPr>
          <p:cNvPr id="19" name="Shape 15"/>
          <p:cNvSpPr/>
          <p:nvPr/>
        </p:nvSpPr>
        <p:spPr>
          <a:xfrm>
            <a:off x="4526280" y="3072384"/>
            <a:ext cx="420624" cy="420624"/>
          </a:xfrm>
          <a:prstGeom prst="ellipse">
            <a:avLst/>
          </a:prstGeom>
          <a:solidFill>
            <a:srgbClr val="E89A45"/>
          </a:solidFill>
          <a:ln/>
        </p:spPr>
      </p:sp>
      <p:sp>
        <p:nvSpPr>
          <p:cNvPr id="20" name="Text 16"/>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7"/>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Kurzer Austausch zu zweit, dann Blitzlicht im Plenum.</a:t>
            </a:r>
            <a:endParaRPr lang="en-US" sz="1550" dirty="0"/>
          </a:p>
        </p:txBody>
      </p:sp>
      <p:sp>
        <p:nvSpPr>
          <p:cNvPr id="22" name="Shape 18"/>
          <p:cNvSpPr/>
          <p:nvPr/>
        </p:nvSpPr>
        <p:spPr>
          <a:xfrm>
            <a:off x="4480560" y="3840480"/>
            <a:ext cx="7178040" cy="2103120"/>
          </a:xfrm>
          <a:prstGeom prst="roundRect">
            <a:avLst>
              <a:gd name="adj" fmla="val 4348"/>
            </a:avLst>
          </a:prstGeom>
          <a:solidFill>
            <a:srgbClr val="24685C"/>
          </a:solidFill>
          <a:ln/>
        </p:spPr>
      </p:sp>
      <p:sp>
        <p:nvSpPr>
          <p:cNvPr id="23" name="Text 19"/>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Reflexion</a:t>
            </a:r>
            <a:endParaRPr lang="en-US" sz="1600" dirty="0"/>
          </a:p>
        </p:txBody>
      </p:sp>
      <p:sp>
        <p:nvSpPr>
          <p:cNvPr id="24" name="Text 20"/>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verändert, als jede Kleinigkeit schwer wurde?</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Wo hätten Sie sich Verständnis gewünscht?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heißt das für Ihren Blick auf ‚unzuverlässige‘ Menschen?</a:t>
            </a:r>
            <a:endParaRPr lang="en-US" sz="1450" dirty="0"/>
          </a:p>
        </p:txBody>
      </p:sp>
      <p:sp>
        <p:nvSpPr>
          <p:cNvPr id="26"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410048" y="173736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5766664" y="2093976"/>
            <a:ext cx="658368" cy="658368"/>
          </a:xfrm>
          <a:prstGeom prst="rect">
            <a:avLst/>
          </a:prstGeom>
        </p:spPr>
      </p:pic>
      <p:sp>
        <p:nvSpPr>
          <p:cNvPr id="5" name="Text 1"/>
          <p:cNvSpPr/>
          <p:nvPr/>
        </p:nvSpPr>
        <p:spPr>
          <a:xfrm>
            <a:off x="0" y="3200400"/>
            <a:ext cx="12191695" cy="1005840"/>
          </a:xfrm>
          <a:prstGeom prst="rect">
            <a:avLst/>
          </a:prstGeom>
          <a:noFill/>
          <a:ln/>
        </p:spPr>
        <p:txBody>
          <a:bodyPr wrap="square" rtlCol="0" anchor="ctr"/>
          <a:lstStyle/>
          <a:p>
            <a:pPr algn="ctr" indent="0" marL="0">
              <a:buNone/>
            </a:pPr>
            <a:r>
              <a:rPr lang="en-US" sz="5800" b="1" dirty="0">
                <a:solidFill>
                  <a:srgbClr val="FFFFFF"/>
                </a:solidFill>
                <a:latin typeface="Cambria" pitchFamily="34" charset="0"/>
                <a:ea typeface="Cambria" pitchFamily="34" charset="-122"/>
                <a:cs typeface="Cambria" pitchFamily="34" charset="-120"/>
              </a:rPr>
              <a:t>Pause</a:t>
            </a:r>
            <a:endParaRPr lang="en-US" sz="5800" dirty="0"/>
          </a:p>
        </p:txBody>
      </p:sp>
      <p:sp>
        <p:nvSpPr>
          <p:cNvPr id="6" name="Text 2"/>
          <p:cNvSpPr/>
          <p:nvPr/>
        </p:nvSpPr>
        <p:spPr>
          <a:xfrm>
            <a:off x="0" y="4315968"/>
            <a:ext cx="12191695" cy="457200"/>
          </a:xfrm>
          <a:prstGeom prst="rect">
            <a:avLst/>
          </a:prstGeom>
          <a:noFill/>
          <a:ln/>
        </p:spPr>
        <p:txBody>
          <a:bodyPr wrap="square" rtlCol="0" anchor="ctr"/>
          <a:lstStyle/>
          <a:p>
            <a:pPr algn="ctr" indent="0" marL="0">
              <a:buNone/>
            </a:pPr>
            <a:r>
              <a:rPr lang="en-US" sz="1900" i="1" dirty="0">
                <a:solidFill>
                  <a:srgbClr val="F2FAF5"/>
                </a:solidFill>
                <a:latin typeface="Calibri" pitchFamily="34" charset="0"/>
                <a:ea typeface="Calibri" pitchFamily="34" charset="-122"/>
                <a:cs typeface="Calibri" pitchFamily="34" charset="-120"/>
              </a:rPr>
              <a:t>15 Minuten · Durchatmen · Ankommen</a:t>
            </a:r>
            <a:endParaRPr lang="en-US" sz="1900" dirty="0"/>
          </a:p>
        </p:txBody>
      </p:sp>
      <p:sp>
        <p:nvSpPr>
          <p:cNvPr id="7" name="Text 3"/>
          <p:cNvSpPr/>
          <p:nvPr/>
        </p:nvSpPr>
        <p:spPr>
          <a:xfrm>
            <a:off x="0" y="5029200"/>
            <a:ext cx="12191695" cy="365760"/>
          </a:xfrm>
          <a:prstGeom prst="rect">
            <a:avLst/>
          </a:prstGeom>
          <a:noFill/>
          <a:ln/>
        </p:spPr>
        <p:txBody>
          <a:bodyPr wrap="square" rtlCol="0" anchor="ctr"/>
          <a:lstStyle/>
          <a:p>
            <a:pPr algn="ctr" indent="0" marL="0">
              <a:buNone/>
            </a:pPr>
            <a:r>
              <a:rPr lang="en-US" sz="1500" dirty="0">
                <a:solidFill>
                  <a:srgbClr val="EAF6EF"/>
                </a:solidFill>
                <a:latin typeface="Calibri" pitchFamily="34" charset="0"/>
                <a:ea typeface="Calibri" pitchFamily="34" charset="-122"/>
                <a:cs typeface="Calibri" pitchFamily="34" charset="-120"/>
              </a:rPr>
              <a:t>Nach der Pause: Wie wir Betroffene wirklich begleiten.</a:t>
            </a:r>
            <a:endParaRPr lang="en-US" sz="15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4  ·  BEGLEITEN</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Was hilft wirklich?</a:t>
            </a:r>
            <a:endParaRPr lang="en-US" sz="4800" dirty="0"/>
          </a:p>
        </p:txBody>
      </p:sp>
      <p:sp>
        <p:nvSpPr>
          <p:cNvPr id="5" name="Text 2"/>
          <p:cNvSpPr/>
          <p:nvPr/>
        </p:nvSpPr>
        <p:spPr>
          <a:xfrm>
            <a:off x="566928" y="3703320"/>
            <a:ext cx="10058400" cy="73152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Man muss kein Therapeut sein, um zu helfen. Oft genügt ein Mensch, der bleibt.</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HILFT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Dinge, die wirklich guttun</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76656" cy="676656"/>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5467" y="2224187"/>
            <a:ext cx="324795" cy="324795"/>
          </a:xfrm>
          <a:prstGeom prst="rect">
            <a:avLst/>
          </a:prstGeom>
        </p:spPr>
      </p:pic>
      <p:sp>
        <p:nvSpPr>
          <p:cNvPr id="7" name="Text 4"/>
          <p:cNvSpPr/>
          <p:nvPr/>
        </p:nvSpPr>
        <p:spPr>
          <a:xfrm>
            <a:off x="1664208"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Zuhören ohne zu lösen</a:t>
            </a:r>
            <a:endParaRPr lang="en-US" sz="1600" dirty="0"/>
          </a:p>
        </p:txBody>
      </p:sp>
      <p:sp>
        <p:nvSpPr>
          <p:cNvPr id="8" name="Text 5"/>
          <p:cNvSpPr/>
          <p:nvPr/>
        </p:nvSpPr>
        <p:spPr>
          <a:xfrm>
            <a:off x="859536"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 sein und aushalten schlägt jeden gut gemeinten Ratschlag.</a:t>
            </a:r>
            <a:endParaRPr lang="en-US" sz="130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76656" cy="676656"/>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7931" y="2224187"/>
            <a:ext cx="324795" cy="324795"/>
          </a:xfrm>
          <a:prstGeom prst="rect">
            <a:avLst/>
          </a:prstGeom>
        </p:spPr>
      </p:pic>
      <p:sp>
        <p:nvSpPr>
          <p:cNvPr id="12" name="Text 8"/>
          <p:cNvSpPr/>
          <p:nvPr/>
        </p:nvSpPr>
        <p:spPr>
          <a:xfrm>
            <a:off x="5376672"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Ernst nehmen</a:t>
            </a:r>
            <a:endParaRPr lang="en-US" sz="1600" dirty="0"/>
          </a:p>
        </p:txBody>
      </p:sp>
      <p:sp>
        <p:nvSpPr>
          <p:cNvPr id="13" name="Text 9"/>
          <p:cNvSpPr/>
          <p:nvPr/>
        </p:nvSpPr>
        <p:spPr>
          <a:xfrm>
            <a:off x="4572000"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„Das klingt wirklich schwer.“ – Gefühle bestätigen, nicht kleinreden.</a:t>
            </a:r>
            <a:endParaRPr lang="en-US" sz="130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76656" cy="676656"/>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60395" y="2224187"/>
            <a:ext cx="324795" cy="324795"/>
          </a:xfrm>
          <a:prstGeom prst="rect">
            <a:avLst/>
          </a:prstGeom>
        </p:spPr>
      </p:pic>
      <p:sp>
        <p:nvSpPr>
          <p:cNvPr id="17" name="Text 12"/>
          <p:cNvSpPr/>
          <p:nvPr/>
        </p:nvSpPr>
        <p:spPr>
          <a:xfrm>
            <a:off x="9089136"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Konkret fragen</a:t>
            </a:r>
            <a:endParaRPr lang="en-US" sz="1600" dirty="0"/>
          </a:p>
        </p:txBody>
      </p:sp>
      <p:sp>
        <p:nvSpPr>
          <p:cNvPr id="18" name="Text 13"/>
          <p:cNvSpPr/>
          <p:nvPr/>
        </p:nvSpPr>
        <p:spPr>
          <a:xfrm>
            <a:off x="8284464"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„Was würde dir heute helfen?“ statt „Meld dich, wenn was ist.“</a:t>
            </a:r>
            <a:endParaRPr lang="en-US" sz="1300" dirty="0"/>
          </a:p>
        </p:txBody>
      </p:sp>
      <p:sp>
        <p:nvSpPr>
          <p:cNvPr id="19" name="Shape 14"/>
          <p:cNvSpPr/>
          <p:nvPr/>
        </p:nvSpPr>
        <p:spPr>
          <a:xfrm>
            <a:off x="2423160"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2715768" y="4087368"/>
            <a:ext cx="676656" cy="676656"/>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2891699" y="4263299"/>
            <a:ext cx="324795" cy="324795"/>
          </a:xfrm>
          <a:prstGeom prst="rect">
            <a:avLst/>
          </a:prstGeom>
        </p:spPr>
      </p:pic>
      <p:sp>
        <p:nvSpPr>
          <p:cNvPr id="22" name="Text 16"/>
          <p:cNvSpPr/>
          <p:nvPr/>
        </p:nvSpPr>
        <p:spPr>
          <a:xfrm>
            <a:off x="3520440"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Dableiben</a:t>
            </a:r>
            <a:endParaRPr lang="en-US" sz="1600" dirty="0"/>
          </a:p>
        </p:txBody>
      </p:sp>
      <p:sp>
        <p:nvSpPr>
          <p:cNvPr id="23" name="Text 17"/>
          <p:cNvSpPr/>
          <p:nvPr/>
        </p:nvSpPr>
        <p:spPr>
          <a:xfrm>
            <a:off x="2715768"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Nicht nur einmal fragen. Verlässlich in Kontakt bleiben.</a:t>
            </a:r>
            <a:endParaRPr lang="en-US" sz="1300" dirty="0"/>
          </a:p>
        </p:txBody>
      </p:sp>
      <p:sp>
        <p:nvSpPr>
          <p:cNvPr id="24" name="Shape 18"/>
          <p:cNvSpPr/>
          <p:nvPr/>
        </p:nvSpPr>
        <p:spPr>
          <a:xfrm>
            <a:off x="6135624"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6428232" y="4087368"/>
            <a:ext cx="676656" cy="676656"/>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6604163" y="4263299"/>
            <a:ext cx="324795" cy="324795"/>
          </a:xfrm>
          <a:prstGeom prst="rect">
            <a:avLst/>
          </a:prstGeom>
        </p:spPr>
      </p:pic>
      <p:sp>
        <p:nvSpPr>
          <p:cNvPr id="27" name="Text 20"/>
          <p:cNvSpPr/>
          <p:nvPr/>
        </p:nvSpPr>
        <p:spPr>
          <a:xfrm>
            <a:off x="7232904"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 Hilfe ermutigen</a:t>
            </a:r>
            <a:endParaRPr lang="en-US" sz="1600" dirty="0"/>
          </a:p>
        </p:txBody>
      </p:sp>
      <p:sp>
        <p:nvSpPr>
          <p:cNvPr id="28" name="Text 21"/>
          <p:cNvSpPr/>
          <p:nvPr/>
        </p:nvSpPr>
        <p:spPr>
          <a:xfrm>
            <a:off x="6428232"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Sanft Richtung Arzt oder Therapie begleiten – notfalls mitgehen.</a:t>
            </a:r>
            <a:endParaRPr lang="en-US" sz="130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SCHADET – AUCH GUT GEMEINT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Besser vermeiden</a:t>
            </a:r>
            <a:endParaRPr lang="en-US" sz="3400" dirty="0"/>
          </a:p>
        </p:txBody>
      </p:sp>
      <p:sp>
        <p:nvSpPr>
          <p:cNvPr id="4" name="Shape 2"/>
          <p:cNvSpPr/>
          <p:nvPr/>
        </p:nvSpPr>
        <p:spPr>
          <a:xfrm>
            <a:off x="566928" y="178308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1947672"/>
            <a:ext cx="475488" cy="475488"/>
          </a:xfrm>
          <a:prstGeom prst="ellipse">
            <a:avLst/>
          </a:prstGeom>
          <a:solidFill>
            <a:srgbClr val="BC722A"/>
          </a:solidFill>
          <a:ln/>
        </p:spPr>
      </p:sp>
      <p:pic>
        <p:nvPicPr>
          <p:cNvPr id="6" name="Image 0" descr="preencoded.png">    </p:cNvPr>
          <p:cNvPicPr>
            <a:picLocks noChangeAspect="1"/>
          </p:cNvPicPr>
          <p:nvPr/>
        </p:nvPicPr>
        <p:blipFill>
          <a:blip r:embed="rId1"/>
          <a:stretch>
            <a:fillRect/>
          </a:stretch>
        </p:blipFill>
        <p:spPr>
          <a:xfrm>
            <a:off x="964875" y="2071299"/>
            <a:ext cx="228234" cy="228234"/>
          </a:xfrm>
          <a:prstGeom prst="rect">
            <a:avLst/>
          </a:prstGeom>
        </p:spPr>
      </p:pic>
      <p:sp>
        <p:nvSpPr>
          <p:cNvPr id="7" name="Text 4"/>
          <p:cNvSpPr/>
          <p:nvPr/>
        </p:nvSpPr>
        <p:spPr>
          <a:xfrm>
            <a:off x="1572768" y="178308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„Reiß dich zusammen.“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Macht Druck und Scham – als wäre es Willensschwäche.</a:t>
            </a:r>
            <a:endParaRPr lang="en-US" sz="1650" dirty="0"/>
          </a:p>
        </p:txBody>
      </p:sp>
      <p:sp>
        <p:nvSpPr>
          <p:cNvPr id="8" name="Shape 5"/>
          <p:cNvSpPr/>
          <p:nvPr/>
        </p:nvSpPr>
        <p:spPr>
          <a:xfrm>
            <a:off x="566928" y="260604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41248" y="2770632"/>
            <a:ext cx="475488" cy="475488"/>
          </a:xfrm>
          <a:prstGeom prst="ellipse">
            <a:avLst/>
          </a:prstGeom>
          <a:solidFill>
            <a:srgbClr val="BC722A"/>
          </a:solidFill>
          <a:ln/>
        </p:spPr>
      </p:sp>
      <p:pic>
        <p:nvPicPr>
          <p:cNvPr id="10" name="Image 1" descr="preencoded.png">    </p:cNvPr>
          <p:cNvPicPr>
            <a:picLocks noChangeAspect="1"/>
          </p:cNvPicPr>
          <p:nvPr/>
        </p:nvPicPr>
        <p:blipFill>
          <a:blip r:embed="rId2"/>
          <a:stretch>
            <a:fillRect/>
          </a:stretch>
        </p:blipFill>
        <p:spPr>
          <a:xfrm>
            <a:off x="964875" y="2894259"/>
            <a:ext cx="228234" cy="228234"/>
          </a:xfrm>
          <a:prstGeom prst="rect">
            <a:avLst/>
          </a:prstGeom>
        </p:spPr>
      </p:pic>
      <p:sp>
        <p:nvSpPr>
          <p:cNvPr id="11" name="Text 7"/>
          <p:cNvSpPr/>
          <p:nvPr/>
        </p:nvSpPr>
        <p:spPr>
          <a:xfrm>
            <a:off x="1572768" y="260604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„Anderen geht’s schlechter.“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Vergleiche entwerten das eigene Leid und lassen verstummen.</a:t>
            </a:r>
            <a:endParaRPr lang="en-US" sz="1650" dirty="0"/>
          </a:p>
        </p:txBody>
      </p:sp>
      <p:sp>
        <p:nvSpPr>
          <p:cNvPr id="12" name="Shape 8"/>
          <p:cNvSpPr/>
          <p:nvPr/>
        </p:nvSpPr>
        <p:spPr>
          <a:xfrm>
            <a:off x="566928" y="342900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3" name="Shape 9"/>
          <p:cNvSpPr/>
          <p:nvPr/>
        </p:nvSpPr>
        <p:spPr>
          <a:xfrm>
            <a:off x="841248" y="3593592"/>
            <a:ext cx="475488" cy="475488"/>
          </a:xfrm>
          <a:prstGeom prst="ellipse">
            <a:avLst/>
          </a:prstGeom>
          <a:solidFill>
            <a:srgbClr val="BC722A"/>
          </a:solidFill>
          <a:ln/>
        </p:spPr>
      </p:sp>
      <p:pic>
        <p:nvPicPr>
          <p:cNvPr id="14" name="Image 2" descr="preencoded.png">    </p:cNvPr>
          <p:cNvPicPr>
            <a:picLocks noChangeAspect="1"/>
          </p:cNvPicPr>
          <p:nvPr/>
        </p:nvPicPr>
        <p:blipFill>
          <a:blip r:embed="rId3"/>
          <a:stretch>
            <a:fillRect/>
          </a:stretch>
        </p:blipFill>
        <p:spPr>
          <a:xfrm>
            <a:off x="964875" y="3717219"/>
            <a:ext cx="228234" cy="228234"/>
          </a:xfrm>
          <a:prstGeom prst="rect">
            <a:avLst/>
          </a:prstGeom>
        </p:spPr>
      </p:pic>
      <p:sp>
        <p:nvSpPr>
          <p:cNvPr id="15" name="Text 10"/>
          <p:cNvSpPr/>
          <p:nvPr/>
        </p:nvSpPr>
        <p:spPr>
          <a:xfrm>
            <a:off x="1572768" y="342900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„Du siehst doch gut aus!“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Bestätigt: ‚Du übertreibst.‘ Unsichtbar heißt nicht ungefährlich.</a:t>
            </a:r>
            <a:endParaRPr lang="en-US" sz="1650" dirty="0"/>
          </a:p>
        </p:txBody>
      </p:sp>
      <p:sp>
        <p:nvSpPr>
          <p:cNvPr id="16" name="Shape 11"/>
          <p:cNvSpPr/>
          <p:nvPr/>
        </p:nvSpPr>
        <p:spPr>
          <a:xfrm>
            <a:off x="566928" y="425196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2"/>
          <p:cNvSpPr/>
          <p:nvPr/>
        </p:nvSpPr>
        <p:spPr>
          <a:xfrm>
            <a:off x="841248" y="4416552"/>
            <a:ext cx="475488" cy="475488"/>
          </a:xfrm>
          <a:prstGeom prst="ellipse">
            <a:avLst/>
          </a:prstGeom>
          <a:solidFill>
            <a:srgbClr val="BC722A"/>
          </a:solidFill>
          <a:ln/>
        </p:spPr>
      </p:sp>
      <p:pic>
        <p:nvPicPr>
          <p:cNvPr id="18" name="Image 3" descr="preencoded.png">    </p:cNvPr>
          <p:cNvPicPr>
            <a:picLocks noChangeAspect="1"/>
          </p:cNvPicPr>
          <p:nvPr/>
        </p:nvPicPr>
        <p:blipFill>
          <a:blip r:embed="rId4"/>
          <a:stretch>
            <a:fillRect/>
          </a:stretch>
        </p:blipFill>
        <p:spPr>
          <a:xfrm>
            <a:off x="964875" y="4540179"/>
            <a:ext cx="228234" cy="228234"/>
          </a:xfrm>
          <a:prstGeom prst="rect">
            <a:avLst/>
          </a:prstGeom>
        </p:spPr>
      </p:pic>
      <p:sp>
        <p:nvSpPr>
          <p:cNvPr id="19" name="Text 13"/>
          <p:cNvSpPr/>
          <p:nvPr/>
        </p:nvSpPr>
        <p:spPr>
          <a:xfrm>
            <a:off x="1572768" y="425196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Ungefragte Ratschläge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 mal Sport oder Urlaub“ überfordert und klingt nach Abwertung.</a:t>
            </a:r>
            <a:endParaRPr lang="en-US" sz="1650" dirty="0"/>
          </a:p>
        </p:txBody>
      </p:sp>
      <p:sp>
        <p:nvSpPr>
          <p:cNvPr id="20" name="Shape 14"/>
          <p:cNvSpPr/>
          <p:nvPr/>
        </p:nvSpPr>
        <p:spPr>
          <a:xfrm>
            <a:off x="566928" y="507492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1" name="Shape 15"/>
          <p:cNvSpPr/>
          <p:nvPr/>
        </p:nvSpPr>
        <p:spPr>
          <a:xfrm>
            <a:off x="841248" y="5239512"/>
            <a:ext cx="475488" cy="475488"/>
          </a:xfrm>
          <a:prstGeom prst="ellipse">
            <a:avLst/>
          </a:prstGeom>
          <a:solidFill>
            <a:srgbClr val="BC722A"/>
          </a:solidFill>
          <a:ln/>
        </p:spPr>
      </p:sp>
      <p:pic>
        <p:nvPicPr>
          <p:cNvPr id="22" name="Image 4" descr="preencoded.png">    </p:cNvPr>
          <p:cNvPicPr>
            <a:picLocks noChangeAspect="1"/>
          </p:cNvPicPr>
          <p:nvPr/>
        </p:nvPicPr>
        <p:blipFill>
          <a:blip r:embed="rId5"/>
          <a:stretch>
            <a:fillRect/>
          </a:stretch>
        </p:blipFill>
        <p:spPr>
          <a:xfrm>
            <a:off x="964875" y="5363139"/>
            <a:ext cx="228234" cy="228234"/>
          </a:xfrm>
          <a:prstGeom prst="rect">
            <a:avLst/>
          </a:prstGeom>
        </p:spPr>
      </p:pic>
      <p:sp>
        <p:nvSpPr>
          <p:cNvPr id="23" name="Text 16"/>
          <p:cNvSpPr/>
          <p:nvPr/>
        </p:nvSpPr>
        <p:spPr>
          <a:xfrm>
            <a:off x="1572768" y="507492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Verschwinden aus Unsicherheit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Rückzug fühlt sich für Betroffene wie Ablehnung an.</a:t>
            </a:r>
            <a:endParaRPr lang="en-US" sz="1650" dirty="0"/>
          </a:p>
        </p:txBody>
      </p:sp>
      <p:sp>
        <p:nvSpPr>
          <p:cNvPr id="25"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WORTE, DIE TÜREN ÖFFNEN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Sag lieber … statt …</a:t>
            </a:r>
            <a:endParaRPr lang="en-US" sz="3400" dirty="0"/>
          </a:p>
        </p:txBody>
      </p:sp>
      <p:sp>
        <p:nvSpPr>
          <p:cNvPr id="4" name="Shape 2"/>
          <p:cNvSpPr/>
          <p:nvPr/>
        </p:nvSpPr>
        <p:spPr>
          <a:xfrm>
            <a:off x="566928" y="1783080"/>
            <a:ext cx="5391760" cy="566928"/>
          </a:xfrm>
          <a:prstGeom prst="roundRect">
            <a:avLst>
              <a:gd name="adj" fmla="val 11290"/>
            </a:avLst>
          </a:prstGeom>
          <a:solidFill>
            <a:srgbClr val="BC722A"/>
          </a:solidFill>
          <a:ln/>
        </p:spPr>
      </p:sp>
      <p:sp>
        <p:nvSpPr>
          <p:cNvPr id="5" name="Shape 3"/>
          <p:cNvSpPr/>
          <p:nvPr/>
        </p:nvSpPr>
        <p:spPr>
          <a:xfrm>
            <a:off x="6233008" y="1783080"/>
            <a:ext cx="5391760" cy="566928"/>
          </a:xfrm>
          <a:prstGeom prst="roundRect">
            <a:avLst>
              <a:gd name="adj" fmla="val 11290"/>
            </a:avLst>
          </a:prstGeom>
          <a:solidFill>
            <a:srgbClr val="2E9284"/>
          </a:solidFill>
          <a:ln/>
        </p:spPr>
      </p:sp>
      <p:sp>
        <p:nvSpPr>
          <p:cNvPr id="6" name="Text 4"/>
          <p:cNvSpPr/>
          <p:nvPr/>
        </p:nvSpPr>
        <p:spPr>
          <a:xfrm>
            <a:off x="56692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Statt …</a:t>
            </a:r>
            <a:endParaRPr lang="en-US" sz="1700" dirty="0"/>
          </a:p>
        </p:txBody>
      </p:sp>
      <p:sp>
        <p:nvSpPr>
          <p:cNvPr id="7" name="Text 5"/>
          <p:cNvSpPr/>
          <p:nvPr/>
        </p:nvSpPr>
        <p:spPr>
          <a:xfrm>
            <a:off x="623300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Sag lieber …</a:t>
            </a:r>
            <a:endParaRPr lang="en-US" sz="1700" dirty="0"/>
          </a:p>
        </p:txBody>
      </p:sp>
      <p:sp>
        <p:nvSpPr>
          <p:cNvPr id="8" name="Shape 6"/>
          <p:cNvSpPr/>
          <p:nvPr/>
        </p:nvSpPr>
        <p:spPr>
          <a:xfrm>
            <a:off x="566928" y="2459736"/>
            <a:ext cx="5391760" cy="786384"/>
          </a:xfrm>
          <a:prstGeom prst="rect">
            <a:avLst/>
          </a:prstGeom>
          <a:solidFill>
            <a:srgbClr val="FFFFFF"/>
          </a:solidFill>
          <a:ln w="6350">
            <a:solidFill>
              <a:srgbClr val="D9E9E1"/>
            </a:solidFill>
            <a:prstDash val="solid"/>
          </a:ln>
        </p:spPr>
      </p:sp>
      <p:sp>
        <p:nvSpPr>
          <p:cNvPr id="9" name="Shape 7"/>
          <p:cNvSpPr/>
          <p:nvPr/>
        </p:nvSpPr>
        <p:spPr>
          <a:xfrm>
            <a:off x="6233008" y="2459736"/>
            <a:ext cx="5391760" cy="786384"/>
          </a:xfrm>
          <a:prstGeom prst="rect">
            <a:avLst/>
          </a:prstGeom>
          <a:solidFill>
            <a:srgbClr val="FFFFFF"/>
          </a:solidFill>
          <a:ln w="6350">
            <a:solidFill>
              <a:srgbClr val="D9E9E1"/>
            </a:solidFill>
            <a:prstDash val="solid"/>
          </a:ln>
        </p:spPr>
      </p:sp>
      <p:sp>
        <p:nvSpPr>
          <p:cNvPr id="10" name="Text 8"/>
          <p:cNvSpPr/>
          <p:nvPr/>
        </p:nvSpPr>
        <p:spPr>
          <a:xfrm>
            <a:off x="841248" y="2459736"/>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„Das wird schon wieder.“</a:t>
            </a:r>
            <a:endParaRPr lang="en-US" sz="1600" dirty="0"/>
          </a:p>
        </p:txBody>
      </p:sp>
      <p:sp>
        <p:nvSpPr>
          <p:cNvPr id="11" name="Text 9"/>
          <p:cNvSpPr/>
          <p:nvPr/>
        </p:nvSpPr>
        <p:spPr>
          <a:xfrm>
            <a:off x="6507328" y="2459736"/>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„Ich bin da – auch wenn’s dauert.“</a:t>
            </a:r>
            <a:endParaRPr lang="en-US" sz="1600" dirty="0"/>
          </a:p>
        </p:txBody>
      </p:sp>
      <p:sp>
        <p:nvSpPr>
          <p:cNvPr id="12" name="Shape 10"/>
          <p:cNvSpPr/>
          <p:nvPr/>
        </p:nvSpPr>
        <p:spPr>
          <a:xfrm>
            <a:off x="566928" y="3246120"/>
            <a:ext cx="5391760" cy="786384"/>
          </a:xfrm>
          <a:prstGeom prst="rect">
            <a:avLst/>
          </a:prstGeom>
          <a:solidFill>
            <a:srgbClr val="E6F2EC"/>
          </a:solidFill>
          <a:ln w="6350">
            <a:solidFill>
              <a:srgbClr val="D9E9E1"/>
            </a:solidFill>
            <a:prstDash val="solid"/>
          </a:ln>
        </p:spPr>
      </p:sp>
      <p:sp>
        <p:nvSpPr>
          <p:cNvPr id="13" name="Shape 11"/>
          <p:cNvSpPr/>
          <p:nvPr/>
        </p:nvSpPr>
        <p:spPr>
          <a:xfrm>
            <a:off x="6233008" y="3246120"/>
            <a:ext cx="5391760" cy="786384"/>
          </a:xfrm>
          <a:prstGeom prst="rect">
            <a:avLst/>
          </a:prstGeom>
          <a:solidFill>
            <a:srgbClr val="E6F2EC"/>
          </a:solidFill>
          <a:ln w="6350">
            <a:solidFill>
              <a:srgbClr val="D9E9E1"/>
            </a:solidFill>
            <a:prstDash val="solid"/>
          </a:ln>
        </p:spPr>
      </p:sp>
      <p:sp>
        <p:nvSpPr>
          <p:cNvPr id="14" name="Text 12"/>
          <p:cNvSpPr/>
          <p:nvPr/>
        </p:nvSpPr>
        <p:spPr>
          <a:xfrm>
            <a:off x="841248" y="3246120"/>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„Denk positiv!“</a:t>
            </a:r>
            <a:endParaRPr lang="en-US" sz="1600" dirty="0"/>
          </a:p>
        </p:txBody>
      </p:sp>
      <p:sp>
        <p:nvSpPr>
          <p:cNvPr id="15" name="Text 13"/>
          <p:cNvSpPr/>
          <p:nvPr/>
        </p:nvSpPr>
        <p:spPr>
          <a:xfrm>
            <a:off x="6507328" y="3246120"/>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„Du musst das nicht allein tragen.“</a:t>
            </a:r>
            <a:endParaRPr lang="en-US" sz="1600" dirty="0"/>
          </a:p>
        </p:txBody>
      </p:sp>
      <p:sp>
        <p:nvSpPr>
          <p:cNvPr id="16" name="Shape 14"/>
          <p:cNvSpPr/>
          <p:nvPr/>
        </p:nvSpPr>
        <p:spPr>
          <a:xfrm>
            <a:off x="566928" y="4032504"/>
            <a:ext cx="5391760" cy="786384"/>
          </a:xfrm>
          <a:prstGeom prst="rect">
            <a:avLst/>
          </a:prstGeom>
          <a:solidFill>
            <a:srgbClr val="FFFFFF"/>
          </a:solidFill>
          <a:ln w="6350">
            <a:solidFill>
              <a:srgbClr val="D9E9E1"/>
            </a:solidFill>
            <a:prstDash val="solid"/>
          </a:ln>
        </p:spPr>
      </p:sp>
      <p:sp>
        <p:nvSpPr>
          <p:cNvPr id="17" name="Shape 15"/>
          <p:cNvSpPr/>
          <p:nvPr/>
        </p:nvSpPr>
        <p:spPr>
          <a:xfrm>
            <a:off x="6233008" y="4032504"/>
            <a:ext cx="5391760" cy="786384"/>
          </a:xfrm>
          <a:prstGeom prst="rect">
            <a:avLst/>
          </a:prstGeom>
          <a:solidFill>
            <a:srgbClr val="FFFFFF"/>
          </a:solidFill>
          <a:ln w="6350">
            <a:solidFill>
              <a:srgbClr val="D9E9E1"/>
            </a:solidFill>
            <a:prstDash val="solid"/>
          </a:ln>
        </p:spPr>
      </p:sp>
      <p:sp>
        <p:nvSpPr>
          <p:cNvPr id="18" name="Text 16"/>
          <p:cNvSpPr/>
          <p:nvPr/>
        </p:nvSpPr>
        <p:spPr>
          <a:xfrm>
            <a:off x="841248" y="4032504"/>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„Was hast du denn?“</a:t>
            </a:r>
            <a:endParaRPr lang="en-US" sz="1600" dirty="0"/>
          </a:p>
        </p:txBody>
      </p:sp>
      <p:sp>
        <p:nvSpPr>
          <p:cNvPr id="19" name="Text 17"/>
          <p:cNvSpPr/>
          <p:nvPr/>
        </p:nvSpPr>
        <p:spPr>
          <a:xfrm>
            <a:off x="6507328" y="4032504"/>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„Magst du erzählen, wie es dir geht?“</a:t>
            </a:r>
            <a:endParaRPr lang="en-US" sz="1600" dirty="0"/>
          </a:p>
        </p:txBody>
      </p:sp>
      <p:sp>
        <p:nvSpPr>
          <p:cNvPr id="20" name="Shape 18"/>
          <p:cNvSpPr/>
          <p:nvPr/>
        </p:nvSpPr>
        <p:spPr>
          <a:xfrm>
            <a:off x="566928" y="4818888"/>
            <a:ext cx="5391760" cy="786384"/>
          </a:xfrm>
          <a:prstGeom prst="rect">
            <a:avLst/>
          </a:prstGeom>
          <a:solidFill>
            <a:srgbClr val="E6F2EC"/>
          </a:solidFill>
          <a:ln w="6350">
            <a:solidFill>
              <a:srgbClr val="D9E9E1"/>
            </a:solidFill>
            <a:prstDash val="solid"/>
          </a:ln>
        </p:spPr>
      </p:sp>
      <p:sp>
        <p:nvSpPr>
          <p:cNvPr id="21" name="Shape 19"/>
          <p:cNvSpPr/>
          <p:nvPr/>
        </p:nvSpPr>
        <p:spPr>
          <a:xfrm>
            <a:off x="6233008" y="4818888"/>
            <a:ext cx="5391760" cy="786384"/>
          </a:xfrm>
          <a:prstGeom prst="rect">
            <a:avLst/>
          </a:prstGeom>
          <a:solidFill>
            <a:srgbClr val="E6F2EC"/>
          </a:solidFill>
          <a:ln w="6350">
            <a:solidFill>
              <a:srgbClr val="D9E9E1"/>
            </a:solidFill>
            <a:prstDash val="solid"/>
          </a:ln>
        </p:spPr>
      </p:sp>
      <p:sp>
        <p:nvSpPr>
          <p:cNvPr id="22" name="Text 20"/>
          <p:cNvSpPr/>
          <p:nvPr/>
        </p:nvSpPr>
        <p:spPr>
          <a:xfrm>
            <a:off x="841248" y="4818888"/>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„Reiß dich zusammen.“</a:t>
            </a:r>
            <a:endParaRPr lang="en-US" sz="1600" dirty="0"/>
          </a:p>
        </p:txBody>
      </p:sp>
      <p:sp>
        <p:nvSpPr>
          <p:cNvPr id="23" name="Text 21"/>
          <p:cNvSpPr/>
          <p:nvPr/>
        </p:nvSpPr>
        <p:spPr>
          <a:xfrm>
            <a:off x="6507328" y="4818888"/>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„Was würde dir gerade helfen?“</a:t>
            </a:r>
            <a:endParaRPr lang="en-US" sz="1600" dirty="0"/>
          </a:p>
        </p:txBody>
      </p:sp>
      <p:sp>
        <p:nvSpPr>
          <p:cNvPr id="25"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DIE WICHTIGSTE FÄHIGKEIT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Aktiv zuhören – so geht’s</a:t>
            </a:r>
            <a:endParaRPr lang="en-US" sz="3400" dirty="0"/>
          </a:p>
        </p:txBody>
      </p:sp>
      <p:sp>
        <p:nvSpPr>
          <p:cNvPr id="4" name="Shape 2"/>
          <p:cNvSpPr/>
          <p:nvPr/>
        </p:nvSpPr>
        <p:spPr>
          <a:xfrm>
            <a:off x="566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442362"/>
            <a:ext cx="373075" cy="373075"/>
          </a:xfrm>
          <a:prstGeom prst="rect">
            <a:avLst/>
          </a:prstGeom>
        </p:spPr>
      </p:pic>
      <p:sp>
        <p:nvSpPr>
          <p:cNvPr id="7" name="Text 4"/>
          <p:cNvSpPr/>
          <p:nvPr/>
        </p:nvSpPr>
        <p:spPr>
          <a:xfrm>
            <a:off x="1892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Zuwenden</a:t>
            </a:r>
            <a:endParaRPr lang="en-US" sz="1800" dirty="0"/>
          </a:p>
        </p:txBody>
      </p:sp>
      <p:sp>
        <p:nvSpPr>
          <p:cNvPr id="8" name="Text 5"/>
          <p:cNvSpPr/>
          <p:nvPr/>
        </p:nvSpPr>
        <p:spPr>
          <a:xfrm>
            <a:off x="1892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Blickkontakt, Handy weg, Zeit schenken. Präsenz spürbar machen.</a:t>
            </a:r>
            <a:endParaRPr lang="en-US" sz="1350" dirty="0"/>
          </a:p>
        </p:txBody>
      </p:sp>
      <p:sp>
        <p:nvSpPr>
          <p:cNvPr id="9" name="Shape 6"/>
          <p:cNvSpPr/>
          <p:nvPr/>
        </p:nvSpPr>
        <p:spPr>
          <a:xfrm>
            <a:off x="6281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442362"/>
            <a:ext cx="373075" cy="373075"/>
          </a:xfrm>
          <a:prstGeom prst="rect">
            <a:avLst/>
          </a:prstGeom>
        </p:spPr>
      </p:pic>
      <p:sp>
        <p:nvSpPr>
          <p:cNvPr id="12" name="Text 8"/>
          <p:cNvSpPr/>
          <p:nvPr/>
        </p:nvSpPr>
        <p:spPr>
          <a:xfrm>
            <a:off x="7607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Spiegeln</a:t>
            </a:r>
            <a:endParaRPr lang="en-US" sz="1800" dirty="0"/>
          </a:p>
        </p:txBody>
      </p:sp>
      <p:sp>
        <p:nvSpPr>
          <p:cNvPr id="13" name="Text 9"/>
          <p:cNvSpPr/>
          <p:nvPr/>
        </p:nvSpPr>
        <p:spPr>
          <a:xfrm>
            <a:off x="7607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ich dich richtig verstehe, fühlst du dich …“ Kurz zusammenfassen.</a:t>
            </a:r>
            <a:endParaRPr lang="en-US" sz="1350" dirty="0"/>
          </a:p>
        </p:txBody>
      </p:sp>
      <p:sp>
        <p:nvSpPr>
          <p:cNvPr id="14" name="Shape 10"/>
          <p:cNvSpPr/>
          <p:nvPr/>
        </p:nvSpPr>
        <p:spPr>
          <a:xfrm>
            <a:off x="566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Pausen aushalten</a:t>
            </a:r>
            <a:endParaRPr lang="en-US" sz="1800" dirty="0"/>
          </a:p>
        </p:txBody>
      </p:sp>
      <p:sp>
        <p:nvSpPr>
          <p:cNvPr id="18" name="Text 13"/>
          <p:cNvSpPr/>
          <p:nvPr/>
        </p:nvSpPr>
        <p:spPr>
          <a:xfrm>
            <a:off x="1892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Schweigen zulassen. Nicht sofort füllen – Raum geben.</a:t>
            </a:r>
            <a:endParaRPr lang="en-US" sz="1350" dirty="0"/>
          </a:p>
        </p:txBody>
      </p:sp>
      <p:sp>
        <p:nvSpPr>
          <p:cNvPr id="19" name="Shape 14"/>
          <p:cNvSpPr/>
          <p:nvPr/>
        </p:nvSpPr>
        <p:spPr>
          <a:xfrm>
            <a:off x="6281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Nicht bewerten</a:t>
            </a:r>
            <a:endParaRPr lang="en-US" sz="1800" dirty="0"/>
          </a:p>
        </p:txBody>
      </p:sp>
      <p:sp>
        <p:nvSpPr>
          <p:cNvPr id="23" name="Text 17"/>
          <p:cNvSpPr/>
          <p:nvPr/>
        </p:nvSpPr>
        <p:spPr>
          <a:xfrm>
            <a:off x="7607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 „aber“, kein Ratschlag. Erst verstehen, nicht lösen.</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Faustregel: 80 % zuhören, 20 % reden. Wer sich verstanden fühlt, ist schon ein Stück weniger allein.</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MODUL 4 · SELBSTSCHUTZ</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Helfen, ohne selbst unterzugehen</a:t>
            </a:r>
            <a:endParaRPr lang="en-US" sz="2900" dirty="0"/>
          </a:p>
        </p:txBody>
      </p:sp>
      <p:sp>
        <p:nvSpPr>
          <p:cNvPr id="5" name="Shape 2"/>
          <p:cNvSpPr/>
          <p:nvPr/>
        </p:nvSpPr>
        <p:spPr>
          <a:xfrm>
            <a:off x="566928" y="1828800"/>
            <a:ext cx="5394960" cy="1572768"/>
          </a:xfrm>
          <a:prstGeom prst="roundRect">
            <a:avLst>
              <a:gd name="adj" fmla="val 5814"/>
            </a:avLst>
          </a:prstGeom>
          <a:solidFill>
            <a:srgbClr val="FFFFFF"/>
          </a:solidFill>
          <a:ln/>
        </p:spPr>
      </p:sp>
      <p:sp>
        <p:nvSpPr>
          <p:cNvPr id="6" name="Shape 3"/>
          <p:cNvSpPr/>
          <p:nvPr/>
        </p:nvSpPr>
        <p:spPr>
          <a:xfrm>
            <a:off x="886968" y="2249424"/>
            <a:ext cx="731520" cy="731520"/>
          </a:xfrm>
          <a:prstGeom prst="ellipse">
            <a:avLst/>
          </a:prstGeom>
          <a:solidFill>
            <a:srgbClr val="6FBE9C"/>
          </a:solidFill>
          <a:ln/>
        </p:spPr>
      </p:sp>
      <p:pic>
        <p:nvPicPr>
          <p:cNvPr id="7"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8" name="Text 4"/>
          <p:cNvSpPr/>
          <p:nvPr/>
        </p:nvSpPr>
        <p:spPr>
          <a:xfrm>
            <a:off x="1801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Sie sind nicht die Therapie</a:t>
            </a:r>
            <a:endParaRPr lang="en-US" sz="1700" dirty="0"/>
          </a:p>
        </p:txBody>
      </p:sp>
      <p:sp>
        <p:nvSpPr>
          <p:cNvPr id="9" name="Text 5"/>
          <p:cNvSpPr/>
          <p:nvPr/>
        </p:nvSpPr>
        <p:spPr>
          <a:xfrm>
            <a:off x="1801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Sie sind Brücke zur Hilfe – nicht die Behandlung selbst.</a:t>
            </a:r>
            <a:endParaRPr lang="en-US" sz="1350" dirty="0"/>
          </a:p>
        </p:txBody>
      </p:sp>
      <p:sp>
        <p:nvSpPr>
          <p:cNvPr id="10" name="Shape 6"/>
          <p:cNvSpPr/>
          <p:nvPr/>
        </p:nvSpPr>
        <p:spPr>
          <a:xfrm>
            <a:off x="6281928" y="1828800"/>
            <a:ext cx="5394960" cy="1572768"/>
          </a:xfrm>
          <a:prstGeom prst="roundRect">
            <a:avLst>
              <a:gd name="adj" fmla="val 5814"/>
            </a:avLst>
          </a:prstGeom>
          <a:solidFill>
            <a:srgbClr val="FFFFFF"/>
          </a:solidFill>
          <a:ln/>
        </p:spPr>
      </p:sp>
      <p:sp>
        <p:nvSpPr>
          <p:cNvPr id="11" name="Shape 7"/>
          <p:cNvSpPr/>
          <p:nvPr/>
        </p:nvSpPr>
        <p:spPr>
          <a:xfrm>
            <a:off x="6601968" y="2249424"/>
            <a:ext cx="731520" cy="731520"/>
          </a:xfrm>
          <a:prstGeom prst="ellipse">
            <a:avLst/>
          </a:prstGeom>
          <a:solidFill>
            <a:srgbClr val="6FBE9C"/>
          </a:solidFill>
          <a:ln/>
        </p:spPr>
      </p:sp>
      <p:pic>
        <p:nvPicPr>
          <p:cNvPr id="12"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3" name="Text 8"/>
          <p:cNvSpPr/>
          <p:nvPr/>
        </p:nvSpPr>
        <p:spPr>
          <a:xfrm>
            <a:off x="7516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Grenzen sind erlaubt</a:t>
            </a:r>
            <a:endParaRPr lang="en-US" sz="1700" dirty="0"/>
          </a:p>
        </p:txBody>
      </p:sp>
      <p:sp>
        <p:nvSpPr>
          <p:cNvPr id="14" name="Text 9"/>
          <p:cNvSpPr/>
          <p:nvPr/>
        </p:nvSpPr>
        <p:spPr>
          <a:xfrm>
            <a:off x="7516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„Ich kann heute nicht, morgen wieder.“ Das ist kein Verrat.</a:t>
            </a:r>
            <a:endParaRPr lang="en-US" sz="1350" dirty="0"/>
          </a:p>
        </p:txBody>
      </p:sp>
      <p:sp>
        <p:nvSpPr>
          <p:cNvPr id="15" name="Shape 10"/>
          <p:cNvSpPr/>
          <p:nvPr/>
        </p:nvSpPr>
        <p:spPr>
          <a:xfrm>
            <a:off x="566928" y="3675888"/>
            <a:ext cx="5394960" cy="1572768"/>
          </a:xfrm>
          <a:prstGeom prst="roundRect">
            <a:avLst>
              <a:gd name="adj" fmla="val 5814"/>
            </a:avLst>
          </a:prstGeom>
          <a:solidFill>
            <a:srgbClr val="FFFFFF"/>
          </a:solidFill>
          <a:ln/>
        </p:spPr>
      </p:sp>
      <p:sp>
        <p:nvSpPr>
          <p:cNvPr id="16" name="Shape 11"/>
          <p:cNvSpPr/>
          <p:nvPr/>
        </p:nvSpPr>
        <p:spPr>
          <a:xfrm>
            <a:off x="886968" y="4096512"/>
            <a:ext cx="731520" cy="731520"/>
          </a:xfrm>
          <a:prstGeom prst="ellipse">
            <a:avLst/>
          </a:prstGeom>
          <a:solidFill>
            <a:srgbClr val="6FBE9C"/>
          </a:solidFill>
          <a:ln/>
        </p:spPr>
      </p:sp>
      <p:pic>
        <p:nvPicPr>
          <p:cNvPr id="17"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18" name="Text 12"/>
          <p:cNvSpPr/>
          <p:nvPr/>
        </p:nvSpPr>
        <p:spPr>
          <a:xfrm>
            <a:off x="1801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Auf sich selbst achten</a:t>
            </a:r>
            <a:endParaRPr lang="en-US" sz="1700" dirty="0"/>
          </a:p>
        </p:txBody>
      </p:sp>
      <p:sp>
        <p:nvSpPr>
          <p:cNvPr id="19" name="Text 13"/>
          <p:cNvSpPr/>
          <p:nvPr/>
        </p:nvSpPr>
        <p:spPr>
          <a:xfrm>
            <a:off x="1801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Nur ein aufgeladener Akku kann anderen Strom geben.</a:t>
            </a:r>
            <a:endParaRPr lang="en-US" sz="1350" dirty="0"/>
          </a:p>
        </p:txBody>
      </p:sp>
      <p:sp>
        <p:nvSpPr>
          <p:cNvPr id="20" name="Shape 14"/>
          <p:cNvSpPr/>
          <p:nvPr/>
        </p:nvSpPr>
        <p:spPr>
          <a:xfrm>
            <a:off x="6281928" y="3675888"/>
            <a:ext cx="5394960" cy="1572768"/>
          </a:xfrm>
          <a:prstGeom prst="roundRect">
            <a:avLst>
              <a:gd name="adj" fmla="val 5814"/>
            </a:avLst>
          </a:prstGeom>
          <a:solidFill>
            <a:srgbClr val="FFFFFF"/>
          </a:solidFill>
          <a:ln/>
        </p:spPr>
      </p:sp>
      <p:sp>
        <p:nvSpPr>
          <p:cNvPr id="21" name="Shape 15"/>
          <p:cNvSpPr/>
          <p:nvPr/>
        </p:nvSpPr>
        <p:spPr>
          <a:xfrm>
            <a:off x="6601968" y="4096512"/>
            <a:ext cx="731520" cy="731520"/>
          </a:xfrm>
          <a:prstGeom prst="ellipse">
            <a:avLst/>
          </a:prstGeom>
          <a:solidFill>
            <a:srgbClr val="E89A45"/>
          </a:solidFill>
          <a:ln/>
        </p:spPr>
      </p:sp>
      <p:pic>
        <p:nvPicPr>
          <p:cNvPr id="22"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3" name="Text 16"/>
          <p:cNvSpPr/>
          <p:nvPr/>
        </p:nvSpPr>
        <p:spPr>
          <a:xfrm>
            <a:off x="7516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Notfall erkennen</a:t>
            </a:r>
            <a:endParaRPr lang="en-US" sz="1700" dirty="0"/>
          </a:p>
        </p:txBody>
      </p:sp>
      <p:sp>
        <p:nvSpPr>
          <p:cNvPr id="24" name="Text 17"/>
          <p:cNvSpPr/>
          <p:nvPr/>
        </p:nvSpPr>
        <p:spPr>
          <a:xfrm>
            <a:off x="7516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Bei Suizidgedanken: direkt ansprechen und Profis holen (144 / 142).</a:t>
            </a:r>
            <a:endParaRPr lang="en-US" sz="1350" dirty="0"/>
          </a:p>
        </p:txBody>
      </p:sp>
      <p:sp>
        <p:nvSpPr>
          <p:cNvPr id="25" name="Text 18"/>
          <p:cNvSpPr/>
          <p:nvPr/>
        </p:nvSpPr>
        <p:spPr>
          <a:xfrm>
            <a:off x="566928" y="5989320"/>
            <a:ext cx="11057839" cy="411480"/>
          </a:xfrm>
          <a:prstGeom prst="rect">
            <a:avLst/>
          </a:prstGeom>
          <a:noFill/>
          <a:ln/>
        </p:spPr>
        <p:txBody>
          <a:bodyPr wrap="square" rtlCol="0" anchor="ctr"/>
          <a:lstStyle/>
          <a:p>
            <a:pPr algn="ctr" indent="0" marL="0">
              <a:buNone/>
            </a:pPr>
            <a:r>
              <a:rPr lang="en-US" sz="1400" b="1" dirty="0">
                <a:solidFill>
                  <a:srgbClr val="FFE7C9"/>
                </a:solidFill>
                <a:latin typeface="Calibri" pitchFamily="34" charset="0"/>
                <a:ea typeface="Calibri" pitchFamily="34" charset="-122"/>
                <a:cs typeface="Calibri" pitchFamily="34" charset="-120"/>
              </a:rPr>
              <a:t>Bei akuter Gefahr zählt kein Zartgefühl: Rettung 144 · Telefonseelsorge 142 (kostenlos, anonym, rund um die Uhr).</a:t>
            </a:r>
            <a:endParaRPr lang="en-US" sz="1400" dirty="0"/>
          </a:p>
        </p:txBody>
      </p:sp>
      <p:sp>
        <p:nvSpPr>
          <p:cNvPr id="27"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8"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1371600" y="109728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5" name="Text 1"/>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ROLLENSPIEL</a:t>
            </a:r>
            <a:endParaRPr lang="en-US" sz="1250" dirty="0"/>
          </a:p>
        </p:txBody>
      </p:sp>
      <p:sp>
        <p:nvSpPr>
          <p:cNvPr id="6" name="Text 2"/>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Das schwierige Gespräch</a:t>
            </a:r>
            <a:endParaRPr lang="en-US" sz="2700" dirty="0"/>
          </a:p>
        </p:txBody>
      </p:sp>
      <p:sp>
        <p:nvSpPr>
          <p:cNvPr id="7" name="Shape 3"/>
          <p:cNvSpPr/>
          <p:nvPr/>
        </p:nvSpPr>
        <p:spPr>
          <a:xfrm>
            <a:off x="548640" y="5212080"/>
            <a:ext cx="2468880" cy="530352"/>
          </a:xfrm>
          <a:prstGeom prst="roundRect">
            <a:avLst>
              <a:gd name="adj" fmla="val 17241"/>
            </a:avLst>
          </a:prstGeom>
          <a:solidFill>
            <a:srgbClr val="E89A45"/>
          </a:solidFill>
          <a:ln/>
        </p:spPr>
      </p:sp>
      <p:sp>
        <p:nvSpPr>
          <p:cNvPr id="8" name="Text 4"/>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20 Min.</a:t>
            </a:r>
            <a:endParaRPr lang="en-US" sz="1500" dirty="0"/>
          </a:p>
        </p:txBody>
      </p:sp>
      <p:sp>
        <p:nvSpPr>
          <p:cNvPr id="9" name="Text 5"/>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0" name="Shape 6"/>
          <p:cNvSpPr/>
          <p:nvPr/>
        </p:nvSpPr>
        <p:spPr>
          <a:xfrm>
            <a:off x="4526280" y="1042416"/>
            <a:ext cx="420624" cy="420624"/>
          </a:xfrm>
          <a:prstGeom prst="ellipse">
            <a:avLst/>
          </a:prstGeom>
          <a:solidFill>
            <a:srgbClr val="E89A45"/>
          </a:solidFill>
          <a:ln/>
        </p:spPr>
      </p:sp>
      <p:sp>
        <p:nvSpPr>
          <p:cNvPr id="11" name="Text 7"/>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8"/>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Dreiergruppen: A ist betroffen, B ist Gegenüber, C beobachtet.</a:t>
            </a:r>
            <a:endParaRPr lang="en-US" sz="1550" dirty="0"/>
          </a:p>
        </p:txBody>
      </p:sp>
      <p:sp>
        <p:nvSpPr>
          <p:cNvPr id="13" name="Shape 9"/>
          <p:cNvSpPr/>
          <p:nvPr/>
        </p:nvSpPr>
        <p:spPr>
          <a:xfrm>
            <a:off x="4526280" y="1719072"/>
            <a:ext cx="420624" cy="420624"/>
          </a:xfrm>
          <a:prstGeom prst="ellipse">
            <a:avLst/>
          </a:prstGeom>
          <a:solidFill>
            <a:srgbClr val="E89A45"/>
          </a:solidFill>
          <a:ln/>
        </p:spPr>
      </p:sp>
      <p:sp>
        <p:nvSpPr>
          <p:cNvPr id="14" name="Text 10"/>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1"/>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Situationskarte ziehen (Kopiervorlage) und 5 Min. spielen.</a:t>
            </a:r>
            <a:endParaRPr lang="en-US" sz="1550" dirty="0"/>
          </a:p>
        </p:txBody>
      </p:sp>
      <p:sp>
        <p:nvSpPr>
          <p:cNvPr id="16" name="Shape 12"/>
          <p:cNvSpPr/>
          <p:nvPr/>
        </p:nvSpPr>
        <p:spPr>
          <a:xfrm>
            <a:off x="4526280" y="2395728"/>
            <a:ext cx="420624" cy="420624"/>
          </a:xfrm>
          <a:prstGeom prst="ellipse">
            <a:avLst/>
          </a:prstGeom>
          <a:solidFill>
            <a:srgbClr val="E89A45"/>
          </a:solidFill>
          <a:ln/>
        </p:spPr>
      </p:sp>
      <p:sp>
        <p:nvSpPr>
          <p:cNvPr id="17" name="Text 13"/>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4"/>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C achtet mit dem Beobachtungsbogen auf Sprache &amp; Zuhören.</a:t>
            </a:r>
            <a:endParaRPr lang="en-US" sz="1550" dirty="0"/>
          </a:p>
        </p:txBody>
      </p:sp>
      <p:sp>
        <p:nvSpPr>
          <p:cNvPr id="19" name="Shape 15"/>
          <p:cNvSpPr/>
          <p:nvPr/>
        </p:nvSpPr>
        <p:spPr>
          <a:xfrm>
            <a:off x="4526280" y="3072384"/>
            <a:ext cx="420624" cy="420624"/>
          </a:xfrm>
          <a:prstGeom prst="ellipse">
            <a:avLst/>
          </a:prstGeom>
          <a:solidFill>
            <a:srgbClr val="E89A45"/>
          </a:solidFill>
          <a:ln/>
        </p:spPr>
      </p:sp>
      <p:sp>
        <p:nvSpPr>
          <p:cNvPr id="20" name="Text 16"/>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7"/>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Rollen tauschen, dann gemeinsame Auswertung.</a:t>
            </a:r>
            <a:endParaRPr lang="en-US" sz="1550" dirty="0"/>
          </a:p>
        </p:txBody>
      </p:sp>
      <p:sp>
        <p:nvSpPr>
          <p:cNvPr id="22" name="Shape 18"/>
          <p:cNvSpPr/>
          <p:nvPr/>
        </p:nvSpPr>
        <p:spPr>
          <a:xfrm>
            <a:off x="4480560" y="3840480"/>
            <a:ext cx="7178040" cy="2103120"/>
          </a:xfrm>
          <a:prstGeom prst="roundRect">
            <a:avLst>
              <a:gd name="adj" fmla="val 4348"/>
            </a:avLst>
          </a:prstGeom>
          <a:solidFill>
            <a:srgbClr val="24685C"/>
          </a:solidFill>
          <a:ln/>
        </p:spPr>
      </p:sp>
      <p:sp>
        <p:nvSpPr>
          <p:cNvPr id="23" name="Text 19"/>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Auswertung</a:t>
            </a:r>
            <a:endParaRPr lang="en-US" sz="1600" dirty="0"/>
          </a:p>
        </p:txBody>
      </p:sp>
      <p:sp>
        <p:nvSpPr>
          <p:cNvPr id="24" name="Text 20"/>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für ‚A‘ gut angefühlt – was nicht?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Welcher Satz hat geöffnet, welcher verschlossen?</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nehme ich für ein echtes Gespräch mit?</a:t>
            </a:r>
            <a:endParaRPr lang="en-US" sz="1450" dirty="0"/>
          </a:p>
        </p:txBody>
      </p:sp>
      <p:sp>
        <p:nvSpPr>
          <p:cNvPr id="26"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5  ·  AUFKLÄREN</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Mythos oder Wahrheit?</a:t>
            </a:r>
            <a:endParaRPr lang="en-US" sz="4800" dirty="0"/>
          </a:p>
        </p:txBody>
      </p:sp>
      <p:sp>
        <p:nvSpPr>
          <p:cNvPr id="5" name="Text 2"/>
          <p:cNvSpPr/>
          <p:nvPr/>
        </p:nvSpPr>
        <p:spPr>
          <a:xfrm>
            <a:off x="566928" y="3703320"/>
            <a:ext cx="10241280" cy="82296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Vier Sätze, die viele glauben. Wir prüfen sie gemeinsam – Daumen hoch für Wahrheit, Daumen runter für Mythos.</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5 · AUFGELÖST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Vier Mythen – und was stimmt</a:t>
            </a:r>
            <a:endParaRPr lang="en-US" sz="3400" dirty="0"/>
          </a:p>
        </p:txBody>
      </p:sp>
      <p:sp>
        <p:nvSpPr>
          <p:cNvPr id="4" name="Shape 2"/>
          <p:cNvSpPr/>
          <p:nvPr/>
        </p:nvSpPr>
        <p:spPr>
          <a:xfrm>
            <a:off x="566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4590288" y="1993392"/>
            <a:ext cx="1097280" cy="402336"/>
          </a:xfrm>
          <a:prstGeom prst="roundRect">
            <a:avLst>
              <a:gd name="adj" fmla="val 50000"/>
            </a:avLst>
          </a:prstGeom>
          <a:solidFill>
            <a:srgbClr val="BC722A"/>
          </a:solidFill>
          <a:ln/>
        </p:spPr>
      </p:sp>
      <p:sp>
        <p:nvSpPr>
          <p:cNvPr id="6" name="Text 4"/>
          <p:cNvSpPr/>
          <p:nvPr/>
        </p:nvSpPr>
        <p:spPr>
          <a:xfrm>
            <a:off x="4590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7" name="Text 5"/>
          <p:cNvSpPr/>
          <p:nvPr/>
        </p:nvSpPr>
        <p:spPr>
          <a:xfrm>
            <a:off x="886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„Depression ist Faulheit.“</a:t>
            </a:r>
            <a:endParaRPr lang="en-US" sz="1650" dirty="0"/>
          </a:p>
        </p:txBody>
      </p:sp>
      <p:sp>
        <p:nvSpPr>
          <p:cNvPr id="8" name="Shape 6"/>
          <p:cNvSpPr/>
          <p:nvPr/>
        </p:nvSpPr>
        <p:spPr>
          <a:xfrm>
            <a:off x="886968" y="2779776"/>
            <a:ext cx="4754880" cy="0"/>
          </a:xfrm>
          <a:prstGeom prst="line">
            <a:avLst/>
          </a:prstGeom>
          <a:noFill/>
          <a:ln w="12700">
            <a:solidFill>
              <a:srgbClr val="D9E9E1"/>
            </a:solidFill>
            <a:prstDash val="solid"/>
          </a:ln>
        </p:spPr>
      </p:sp>
      <p:sp>
        <p:nvSpPr>
          <p:cNvPr id="9" name="Text 7"/>
          <p:cNvSpPr/>
          <p:nvPr/>
        </p:nvSpPr>
        <p:spPr>
          <a:xfrm>
            <a:off x="886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Depression lähmt den Antrieb – Betroffene kämpfen härter als jeder ‚Faule‘.</a:t>
            </a:r>
            <a:endParaRPr lang="en-US" sz="1350" dirty="0"/>
          </a:p>
        </p:txBody>
      </p:sp>
      <p:sp>
        <p:nvSpPr>
          <p:cNvPr id="10" name="Shape 8"/>
          <p:cNvSpPr/>
          <p:nvPr/>
        </p:nvSpPr>
        <p:spPr>
          <a:xfrm>
            <a:off x="6281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1" name="Shape 9"/>
          <p:cNvSpPr/>
          <p:nvPr/>
        </p:nvSpPr>
        <p:spPr>
          <a:xfrm>
            <a:off x="10305288" y="1993392"/>
            <a:ext cx="1097280" cy="402336"/>
          </a:xfrm>
          <a:prstGeom prst="roundRect">
            <a:avLst>
              <a:gd name="adj" fmla="val 50000"/>
            </a:avLst>
          </a:prstGeom>
          <a:solidFill>
            <a:srgbClr val="BC722A"/>
          </a:solidFill>
          <a:ln/>
        </p:spPr>
      </p:sp>
      <p:sp>
        <p:nvSpPr>
          <p:cNvPr id="12" name="Text 10"/>
          <p:cNvSpPr/>
          <p:nvPr/>
        </p:nvSpPr>
        <p:spPr>
          <a:xfrm>
            <a:off x="10305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3" name="Text 11"/>
          <p:cNvSpPr/>
          <p:nvPr/>
        </p:nvSpPr>
        <p:spPr>
          <a:xfrm>
            <a:off x="6601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„Man muss sich nur zusammenreißen.“</a:t>
            </a:r>
            <a:endParaRPr lang="en-US" sz="1650" dirty="0"/>
          </a:p>
        </p:txBody>
      </p:sp>
      <p:sp>
        <p:nvSpPr>
          <p:cNvPr id="14" name="Shape 12"/>
          <p:cNvSpPr/>
          <p:nvPr/>
        </p:nvSpPr>
        <p:spPr>
          <a:xfrm>
            <a:off x="6601968" y="2779776"/>
            <a:ext cx="4754880" cy="0"/>
          </a:xfrm>
          <a:prstGeom prst="line">
            <a:avLst/>
          </a:prstGeom>
          <a:noFill/>
          <a:ln w="12700">
            <a:solidFill>
              <a:srgbClr val="D9E9E1"/>
            </a:solidFill>
            <a:prstDash val="solid"/>
          </a:ln>
        </p:spPr>
      </p:sp>
      <p:sp>
        <p:nvSpPr>
          <p:cNvPr id="15" name="Text 13"/>
          <p:cNvSpPr/>
          <p:nvPr/>
        </p:nvSpPr>
        <p:spPr>
          <a:xfrm>
            <a:off x="6601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Willenskraft heilt keine Erkrankung – so wenig wie bei einem Beinbruch.</a:t>
            </a:r>
            <a:endParaRPr lang="en-US" sz="1350" dirty="0"/>
          </a:p>
        </p:txBody>
      </p:sp>
      <p:sp>
        <p:nvSpPr>
          <p:cNvPr id="16" name="Shape 14"/>
          <p:cNvSpPr/>
          <p:nvPr/>
        </p:nvSpPr>
        <p:spPr>
          <a:xfrm>
            <a:off x="566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5"/>
          <p:cNvSpPr/>
          <p:nvPr/>
        </p:nvSpPr>
        <p:spPr>
          <a:xfrm>
            <a:off x="4590288" y="4096512"/>
            <a:ext cx="1097280" cy="402336"/>
          </a:xfrm>
          <a:prstGeom prst="roundRect">
            <a:avLst>
              <a:gd name="adj" fmla="val 50000"/>
            </a:avLst>
          </a:prstGeom>
          <a:solidFill>
            <a:srgbClr val="BC722A"/>
          </a:solidFill>
          <a:ln/>
        </p:spPr>
      </p:sp>
      <p:sp>
        <p:nvSpPr>
          <p:cNvPr id="18" name="Text 16"/>
          <p:cNvSpPr/>
          <p:nvPr/>
        </p:nvSpPr>
        <p:spPr>
          <a:xfrm>
            <a:off x="4590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9" name="Text 17"/>
          <p:cNvSpPr/>
          <p:nvPr/>
        </p:nvSpPr>
        <p:spPr>
          <a:xfrm>
            <a:off x="886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„Psychische Erkrankungen sieht man.“</a:t>
            </a:r>
            <a:endParaRPr lang="en-US" sz="1650" dirty="0"/>
          </a:p>
        </p:txBody>
      </p:sp>
      <p:sp>
        <p:nvSpPr>
          <p:cNvPr id="20" name="Shape 18"/>
          <p:cNvSpPr/>
          <p:nvPr/>
        </p:nvSpPr>
        <p:spPr>
          <a:xfrm>
            <a:off x="886968" y="4882896"/>
            <a:ext cx="4754880" cy="0"/>
          </a:xfrm>
          <a:prstGeom prst="line">
            <a:avLst/>
          </a:prstGeom>
          <a:noFill/>
          <a:ln w="12700">
            <a:solidFill>
              <a:srgbClr val="D9E9E1"/>
            </a:solidFill>
            <a:prstDash val="solid"/>
          </a:ln>
        </p:spPr>
      </p:sp>
      <p:sp>
        <p:nvSpPr>
          <p:cNvPr id="21" name="Text 19"/>
          <p:cNvSpPr/>
          <p:nvPr/>
        </p:nvSpPr>
        <p:spPr>
          <a:xfrm>
            <a:off x="886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Das Gegenteil stimmt: Man sieht sie meist NICHT – der rote Faden des Tages.</a:t>
            </a:r>
            <a:endParaRPr lang="en-US" sz="1350" dirty="0"/>
          </a:p>
        </p:txBody>
      </p:sp>
      <p:sp>
        <p:nvSpPr>
          <p:cNvPr id="22" name="Shape 20"/>
          <p:cNvSpPr/>
          <p:nvPr/>
        </p:nvSpPr>
        <p:spPr>
          <a:xfrm>
            <a:off x="6281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3" name="Shape 21"/>
          <p:cNvSpPr/>
          <p:nvPr/>
        </p:nvSpPr>
        <p:spPr>
          <a:xfrm>
            <a:off x="10305288" y="4096512"/>
            <a:ext cx="1097280" cy="402336"/>
          </a:xfrm>
          <a:prstGeom prst="roundRect">
            <a:avLst>
              <a:gd name="adj" fmla="val 50000"/>
            </a:avLst>
          </a:prstGeom>
          <a:solidFill>
            <a:srgbClr val="BC722A"/>
          </a:solidFill>
          <a:ln/>
        </p:spPr>
      </p:sp>
      <p:sp>
        <p:nvSpPr>
          <p:cNvPr id="24" name="Text 22"/>
          <p:cNvSpPr/>
          <p:nvPr/>
        </p:nvSpPr>
        <p:spPr>
          <a:xfrm>
            <a:off x="10305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25" name="Text 23"/>
          <p:cNvSpPr/>
          <p:nvPr/>
        </p:nvSpPr>
        <p:spPr>
          <a:xfrm>
            <a:off x="6601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„Wer Hilfe sucht, ist schwach.“</a:t>
            </a:r>
            <a:endParaRPr lang="en-US" sz="1650" dirty="0"/>
          </a:p>
        </p:txBody>
      </p:sp>
      <p:sp>
        <p:nvSpPr>
          <p:cNvPr id="26" name="Shape 24"/>
          <p:cNvSpPr/>
          <p:nvPr/>
        </p:nvSpPr>
        <p:spPr>
          <a:xfrm>
            <a:off x="6601968" y="4882896"/>
            <a:ext cx="4754880" cy="0"/>
          </a:xfrm>
          <a:prstGeom prst="line">
            <a:avLst/>
          </a:prstGeom>
          <a:noFill/>
          <a:ln w="12700">
            <a:solidFill>
              <a:srgbClr val="D9E9E1"/>
            </a:solidFill>
            <a:prstDash val="solid"/>
          </a:ln>
        </p:spPr>
      </p:sp>
      <p:sp>
        <p:nvSpPr>
          <p:cNvPr id="27" name="Text 25"/>
          <p:cNvSpPr/>
          <p:nvPr/>
        </p:nvSpPr>
        <p:spPr>
          <a:xfrm>
            <a:off x="6601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Hilfe zu holen ist ein Akt von Mut und Stärke – nicht von Schwäche.</a:t>
            </a:r>
            <a:endParaRPr lang="en-US" sz="13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ES GIBT WEGE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wirklich hilft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Psychotherapie</a:t>
            </a:r>
            <a:endParaRPr lang="en-US" sz="1800" dirty="0"/>
          </a:p>
        </p:txBody>
      </p:sp>
      <p:sp>
        <p:nvSpPr>
          <p:cNvPr id="8" name="Text 5"/>
          <p:cNvSpPr/>
          <p:nvPr/>
        </p:nvSpPr>
        <p:spPr>
          <a:xfrm>
            <a:off x="1892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Reden, verstehen, neue Muster lernen. Wirksam – wie eine Reha für die Seele.</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Medikamente</a:t>
            </a:r>
            <a:endParaRPr lang="en-US" sz="1800" dirty="0"/>
          </a:p>
        </p:txBody>
      </p:sp>
      <p:sp>
        <p:nvSpPr>
          <p:cNvPr id="13" name="Text 9"/>
          <p:cNvSpPr/>
          <p:nvPr/>
        </p:nvSpPr>
        <p:spPr>
          <a:xfrm>
            <a:off x="7607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Können den Boden stabilisieren, damit Therapie greift. Kein Suchtmittel, keine Schwäche.</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Selbsthilfe &amp; Gemeinschaft</a:t>
            </a:r>
            <a:endParaRPr lang="en-US" sz="1800" dirty="0"/>
          </a:p>
        </p:txBody>
      </p:sp>
      <p:sp>
        <p:nvSpPr>
          <p:cNvPr id="18" name="Text 13"/>
          <p:cNvSpPr/>
          <p:nvPr/>
        </p:nvSpPr>
        <p:spPr>
          <a:xfrm>
            <a:off x="1892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Menschen mit ähnlicher Erfahrung. ‚Ich bin nicht allein‘ heilt mit.</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Alltag &amp; Struktur</a:t>
            </a:r>
            <a:endParaRPr lang="en-US" sz="1800" dirty="0"/>
          </a:p>
        </p:txBody>
      </p:sp>
      <p:sp>
        <p:nvSpPr>
          <p:cNvPr id="23" name="Text 17"/>
          <p:cNvSpPr/>
          <p:nvPr/>
        </p:nvSpPr>
        <p:spPr>
          <a:xfrm>
            <a:off x="7607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Bewegung, Schlaf, Tagesstruktur, Kontakte – Bausteine, kein Ersatz.</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Meist wirkt die Kombination am besten. Der erste Schritt ist der schwerste – und der wichtigste.</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DIE PROFIS SIND AUF IHRER SEITE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Fachleute sind Verbündete – kein Feind</a:t>
            </a:r>
            <a:endParaRPr lang="en-US" sz="3400" dirty="0"/>
          </a:p>
        </p:txBody>
      </p:sp>
      <p:sp>
        <p:nvSpPr>
          <p:cNvPr id="4" name="Shape 2"/>
          <p:cNvSpPr/>
          <p:nvPr/>
        </p:nvSpPr>
        <p:spPr>
          <a:xfrm>
            <a:off x="566928"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116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213762"/>
            <a:ext cx="373075" cy="373075"/>
          </a:xfrm>
          <a:prstGeom prst="rect">
            <a:avLst/>
          </a:prstGeom>
        </p:spPr>
      </p:pic>
      <p:sp>
        <p:nvSpPr>
          <p:cNvPr id="7" name="Text 4"/>
          <p:cNvSpPr/>
          <p:nvPr/>
        </p:nvSpPr>
        <p:spPr>
          <a:xfrm>
            <a:off x="1773936"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Psycho­therapeut:innen</a:t>
            </a:r>
            <a:endParaRPr lang="en-US" sz="1600" dirty="0"/>
          </a:p>
        </p:txBody>
      </p:sp>
      <p:sp>
        <p:nvSpPr>
          <p:cNvPr id="8" name="Text 5"/>
          <p:cNvSpPr/>
          <p:nvPr/>
        </p:nvSpPr>
        <p:spPr>
          <a:xfrm>
            <a:off x="886968"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Begleiten mit Gesprächen und Methoden aus der Krise. Reden ist Behandlung – kein ‚Sich-Ausweinen‘.</a:t>
            </a:r>
            <a:endParaRPr lang="en-US" sz="1350" dirty="0"/>
          </a:p>
        </p:txBody>
      </p:sp>
      <p:sp>
        <p:nvSpPr>
          <p:cNvPr id="9" name="Shape 6"/>
          <p:cNvSpPr/>
          <p:nvPr/>
        </p:nvSpPr>
        <p:spPr>
          <a:xfrm>
            <a:off x="4343400"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663440" y="20116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4865522" y="2213762"/>
            <a:ext cx="373075" cy="373075"/>
          </a:xfrm>
          <a:prstGeom prst="rect">
            <a:avLst/>
          </a:prstGeom>
        </p:spPr>
      </p:pic>
      <p:sp>
        <p:nvSpPr>
          <p:cNvPr id="12" name="Text 8"/>
          <p:cNvSpPr/>
          <p:nvPr/>
        </p:nvSpPr>
        <p:spPr>
          <a:xfrm>
            <a:off x="5550408"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Psychiater:innen</a:t>
            </a:r>
            <a:endParaRPr lang="en-US" sz="1600" dirty="0"/>
          </a:p>
        </p:txBody>
      </p:sp>
      <p:sp>
        <p:nvSpPr>
          <p:cNvPr id="13" name="Text 9"/>
          <p:cNvSpPr/>
          <p:nvPr/>
        </p:nvSpPr>
        <p:spPr>
          <a:xfrm>
            <a:off x="4663440"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Ärzt:innen für die Seele. Sie klären ab, behandeln und können – wo nötig – Medikamente sinnvoll einsetzen.</a:t>
            </a:r>
            <a:endParaRPr lang="en-US" sz="1350" dirty="0"/>
          </a:p>
        </p:txBody>
      </p:sp>
      <p:sp>
        <p:nvSpPr>
          <p:cNvPr id="14" name="Shape 10"/>
          <p:cNvSpPr/>
          <p:nvPr/>
        </p:nvSpPr>
        <p:spPr>
          <a:xfrm>
            <a:off x="8119872"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439912" y="201168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8641994" y="2213762"/>
            <a:ext cx="373075" cy="373075"/>
          </a:xfrm>
          <a:prstGeom prst="rect">
            <a:avLst/>
          </a:prstGeom>
        </p:spPr>
      </p:pic>
      <p:sp>
        <p:nvSpPr>
          <p:cNvPr id="17" name="Text 12"/>
          <p:cNvSpPr/>
          <p:nvPr/>
        </p:nvSpPr>
        <p:spPr>
          <a:xfrm>
            <a:off x="9326880"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Psycholog:innen</a:t>
            </a:r>
            <a:endParaRPr lang="en-US" sz="1600" dirty="0"/>
          </a:p>
        </p:txBody>
      </p:sp>
      <p:sp>
        <p:nvSpPr>
          <p:cNvPr id="18" name="Text 13"/>
          <p:cNvSpPr/>
          <p:nvPr/>
        </p:nvSpPr>
        <p:spPr>
          <a:xfrm>
            <a:off x="8439912"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Verstehen, testen, beraten. Sie helfen einzuordnen, was los ist, und den passenden Weg zu finden.</a:t>
            </a:r>
            <a:endParaRPr lang="en-US" sz="1350" dirty="0"/>
          </a:p>
        </p:txBody>
      </p:sp>
      <p:sp>
        <p:nvSpPr>
          <p:cNvPr id="19" name="Shape 14"/>
          <p:cNvSpPr/>
          <p:nvPr/>
        </p:nvSpPr>
        <p:spPr>
          <a:xfrm>
            <a:off x="566928" y="4343400"/>
            <a:ext cx="11057839" cy="1417320"/>
          </a:xfrm>
          <a:prstGeom prst="roundRect">
            <a:avLst>
              <a:gd name="adj" fmla="val 7742"/>
            </a:avLst>
          </a:prstGeom>
          <a:solidFill>
            <a:srgbClr val="2C7A6B"/>
          </a:solidFill>
          <a:ln/>
        </p:spPr>
      </p:sp>
      <p:sp>
        <p:nvSpPr>
          <p:cNvPr id="20" name="Shape 15"/>
          <p:cNvSpPr/>
          <p:nvPr/>
        </p:nvSpPr>
        <p:spPr>
          <a:xfrm>
            <a:off x="932688" y="4617720"/>
            <a:ext cx="868680" cy="868680"/>
          </a:xfrm>
          <a:prstGeom prst="ellipse">
            <a:avLst/>
          </a:prstGeom>
          <a:solidFill>
            <a:srgbClr val="E89A45"/>
          </a:solidFill>
          <a:ln/>
        </p:spPr>
      </p:sp>
      <p:pic>
        <p:nvPicPr>
          <p:cNvPr id="21" name="Image 3" descr="preencoded.png">    </p:cNvPr>
          <p:cNvPicPr>
            <a:picLocks noChangeAspect="1"/>
          </p:cNvPicPr>
          <p:nvPr/>
        </p:nvPicPr>
        <p:blipFill>
          <a:blip r:embed="rId4"/>
          <a:stretch>
            <a:fillRect/>
          </a:stretch>
        </p:blipFill>
        <p:spPr>
          <a:xfrm>
            <a:off x="1158545" y="4843577"/>
            <a:ext cx="416966" cy="416966"/>
          </a:xfrm>
          <a:prstGeom prst="rect">
            <a:avLst/>
          </a:prstGeom>
        </p:spPr>
      </p:pic>
      <p:sp>
        <p:nvSpPr>
          <p:cNvPr id="22" name="Text 16"/>
          <p:cNvSpPr/>
          <p:nvPr/>
        </p:nvSpPr>
        <p:spPr>
          <a:xfrm>
            <a:off x="2029968" y="4526280"/>
            <a:ext cx="9229039" cy="1051560"/>
          </a:xfrm>
          <a:prstGeom prst="rect">
            <a:avLst/>
          </a:prstGeom>
          <a:noFill/>
          <a:ln/>
        </p:spPr>
        <p:txBody>
          <a:bodyPr wrap="square" rtlCol="0" anchor="ctr"/>
          <a:lstStyle/>
          <a:p>
            <a:pPr indent="0" marL="0">
              <a:lnSpc>
                <a:spcPts val="2400"/>
              </a:lnSpc>
              <a:buNone/>
            </a:pPr>
            <a:r>
              <a:rPr lang="en-US" sz="1900" b="1" dirty="0">
                <a:solidFill>
                  <a:srgbClr val="FFFFFF"/>
                </a:solidFill>
              </a:rPr>
              <a:t>Hilfe anzunehmen ist keine Schwäche – es ist der mutigste und klügste Schritt.
</a:t>
            </a:r>
            <a:endParaRPr lang="en-US" sz="1900" dirty="0"/>
          </a:p>
          <a:p>
            <a:pPr indent="0" marL="0">
              <a:lnSpc>
                <a:spcPts val="2400"/>
              </a:lnSpc>
              <a:buNone/>
            </a:pPr>
            <a:r>
              <a:rPr lang="en-US" sz="1500" i="1" dirty="0">
                <a:solidFill>
                  <a:srgbClr val="EAF6EF"/>
                </a:solidFill>
              </a:rPr>
              <a:t>Zum Arzt oder in die Therapie zu gehen ist so normal wie zum Zahnarzt. Niemand muss das allein schaffen.</a:t>
            </a:r>
            <a:endParaRPr lang="en-US" sz="190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66928" y="777240"/>
            <a:ext cx="914400" cy="9144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04672" y="1014984"/>
            <a:ext cx="438912" cy="438912"/>
          </a:xfrm>
          <a:prstGeom prst="rect">
            <a:avLst/>
          </a:prstGeom>
        </p:spPr>
      </p:pic>
      <p:sp>
        <p:nvSpPr>
          <p:cNvPr id="5" name="Text 1"/>
          <p:cNvSpPr/>
          <p:nvPr/>
        </p:nvSpPr>
        <p:spPr>
          <a:xfrm>
            <a:off x="566928" y="187452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6 · HOFFNUNG</a:t>
            </a:r>
            <a:endParaRPr lang="en-US" sz="1300" dirty="0"/>
          </a:p>
        </p:txBody>
      </p:sp>
      <p:sp>
        <p:nvSpPr>
          <p:cNvPr id="6" name="Text 2"/>
          <p:cNvSpPr/>
          <p:nvPr/>
        </p:nvSpPr>
        <p:spPr>
          <a:xfrm>
            <a:off x="566928" y="2194560"/>
            <a:ext cx="10972800" cy="91440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Es wird wieder hell.</a:t>
            </a:r>
            <a:endParaRPr lang="en-US" sz="4400" dirty="0"/>
          </a:p>
        </p:txBody>
      </p:sp>
      <p:sp>
        <p:nvSpPr>
          <p:cNvPr id="7" name="Text 3"/>
          <p:cNvSpPr/>
          <p:nvPr/>
        </p:nvSpPr>
        <p:spPr>
          <a:xfrm>
            <a:off x="566928" y="3291840"/>
            <a:ext cx="7315200" cy="2377440"/>
          </a:xfrm>
          <a:prstGeom prst="rect">
            <a:avLst/>
          </a:prstGeom>
          <a:noFill/>
          <a:ln/>
        </p:spPr>
        <p:txBody>
          <a:bodyPr wrap="square" rtlCol="0" anchor="t"/>
          <a:lstStyle/>
          <a:p>
            <a:pPr indent="0" marL="0">
              <a:lnSpc>
                <a:spcPts val="2500"/>
              </a:lnSpc>
              <a:buNone/>
            </a:pPr>
            <a:r>
              <a:rPr lang="en-US" sz="1800" dirty="0">
                <a:solidFill>
                  <a:srgbClr val="F2FAF5"/>
                </a:solidFill>
              </a:rPr>
              <a:t>Depression, Angst und PTBS sind behandelbar. Sehr viele Menschen werden wieder gesund oder deutlich besser – auch wenn es sich mitten in der Krise unmöglich anfühlt.
</a:t>
            </a:r>
            <a:endParaRPr lang="en-US" sz="1800" dirty="0"/>
          </a:p>
          <a:p>
            <a:pPr indent="0" marL="0">
              <a:lnSpc>
                <a:spcPts val="2500"/>
              </a:lnSpc>
              <a:buNone/>
            </a:pPr>
            <a:r>
              <a:rPr lang="en-US" sz="1800" i="1" dirty="0">
                <a:solidFill>
                  <a:srgbClr val="FFFFFF"/>
                </a:solidFill>
              </a:rPr>
              <a:t>Ich bin der Beweis: Ich war an einem Punkt, an dem ich nicht glauben konnte, dass es je wieder gut wird. Heute stehe ich hier vor Ihnen.</a:t>
            </a:r>
            <a:endParaRPr lang="en-US" sz="18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ABSCHLUSS · 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heute bleibt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Unsichtbar heißt nicht unecht</a:t>
            </a:r>
            <a:endParaRPr lang="en-US" sz="1700" dirty="0"/>
          </a:p>
        </p:txBody>
      </p:sp>
      <p:sp>
        <p:nvSpPr>
          <p:cNvPr id="8" name="Text 5"/>
          <p:cNvSpPr/>
          <p:nvPr/>
        </p:nvSpPr>
        <p:spPr>
          <a:xfrm>
            <a:off x="1892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Nur weil man es nicht sieht, ist es nicht weniger real oder schwer.</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Es ist Krankheit, nicht Wille</a:t>
            </a:r>
            <a:endParaRPr lang="en-US" sz="1700" dirty="0"/>
          </a:p>
        </p:txBody>
      </p:sp>
      <p:sp>
        <p:nvSpPr>
          <p:cNvPr id="13" name="Text 9"/>
          <p:cNvSpPr/>
          <p:nvPr/>
        </p:nvSpPr>
        <p:spPr>
          <a:xfrm>
            <a:off x="7607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Niemand wählt eine Depression. ‚Zusammenreißen‘ ist keine Behandlung.</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Da sein schlägt Ratschlag</a:t>
            </a:r>
            <a:endParaRPr lang="en-US" sz="1700" dirty="0"/>
          </a:p>
        </p:txBody>
      </p:sp>
      <p:sp>
        <p:nvSpPr>
          <p:cNvPr id="18" name="Text 13"/>
          <p:cNvSpPr/>
          <p:nvPr/>
        </p:nvSpPr>
        <p:spPr>
          <a:xfrm>
            <a:off x="1892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Zuhören, ernst nehmen, bleiben – das kann jeder von uns.</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Hilfe annehmen ist Stärke</a:t>
            </a:r>
            <a:endParaRPr lang="en-US" sz="1700" dirty="0"/>
          </a:p>
        </p:txBody>
      </p:sp>
      <p:sp>
        <p:nvSpPr>
          <p:cNvPr id="23" name="Text 17"/>
          <p:cNvSpPr/>
          <p:nvPr/>
        </p:nvSpPr>
        <p:spPr>
          <a:xfrm>
            <a:off x="7607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Fachleute sind Verbündete. Mit Hilfe führt aus fast jeder Krise ein Weg.</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Erinnern Sie sich an die Erwartungen vom Morgen – haben wir sie eingelöst?</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C7A6B"/>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ABSCHLUSS · HILFE FINDEN</a:t>
            </a:r>
            <a:endParaRPr lang="en-US" sz="1250" dirty="0"/>
          </a:p>
        </p:txBody>
      </p:sp>
      <p:sp>
        <p:nvSpPr>
          <p:cNvPr id="3" name="Text 1"/>
          <p:cNvSpPr/>
          <p:nvPr/>
        </p:nvSpPr>
        <p:spPr>
          <a:xfrm>
            <a:off x="566928" y="82296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Wichtige Anlaufstellen in Österreich</a:t>
            </a:r>
            <a:endParaRPr lang="en-US" sz="2800" dirty="0"/>
          </a:p>
        </p:txBody>
      </p:sp>
      <p:sp>
        <p:nvSpPr>
          <p:cNvPr id="4" name="Shape 2"/>
          <p:cNvSpPr/>
          <p:nvPr/>
        </p:nvSpPr>
        <p:spPr>
          <a:xfrm>
            <a:off x="566928" y="1691640"/>
            <a:ext cx="11057839" cy="1051560"/>
          </a:xfrm>
          <a:prstGeom prst="roundRect">
            <a:avLst>
              <a:gd name="adj" fmla="val 9565"/>
            </a:avLst>
          </a:prstGeom>
          <a:solidFill>
            <a:srgbClr val="E89A45"/>
          </a:solidFill>
          <a:ln/>
        </p:spPr>
      </p:sp>
      <p:sp>
        <p:nvSpPr>
          <p:cNvPr id="5" name="Shape 3"/>
          <p:cNvSpPr/>
          <p:nvPr/>
        </p:nvSpPr>
        <p:spPr>
          <a:xfrm>
            <a:off x="886968" y="1901952"/>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53389" y="2068373"/>
            <a:ext cx="307238" cy="307238"/>
          </a:xfrm>
          <a:prstGeom prst="rect">
            <a:avLst/>
          </a:prstGeom>
        </p:spPr>
      </p:pic>
      <p:sp>
        <p:nvSpPr>
          <p:cNvPr id="7" name="Text 4"/>
          <p:cNvSpPr/>
          <p:nvPr/>
        </p:nvSpPr>
        <p:spPr>
          <a:xfrm>
            <a:off x="1755648" y="1691640"/>
            <a:ext cx="9594799" cy="1051560"/>
          </a:xfrm>
          <a:prstGeom prst="rect">
            <a:avLst/>
          </a:prstGeom>
          <a:noFill/>
          <a:ln/>
        </p:spPr>
        <p:txBody>
          <a:bodyPr wrap="square" rtlCol="0" anchor="ctr"/>
          <a:lstStyle/>
          <a:p>
            <a:pPr indent="0" marL="0">
              <a:lnSpc>
                <a:spcPts val="2100"/>
              </a:lnSpc>
              <a:buNone/>
            </a:pPr>
            <a:r>
              <a:rPr lang="en-US" sz="1650" b="1" dirty="0">
                <a:solidFill>
                  <a:srgbClr val="FFFFFF"/>
                </a:solidFill>
                <a:latin typeface="Calibri" pitchFamily="34" charset="0"/>
                <a:ea typeface="Calibri" pitchFamily="34" charset="-122"/>
                <a:cs typeface="Calibri" pitchFamily="34" charset="-120"/>
              </a:rPr>
              <a:t>Im Notfall / akute Krise:   </a:t>
            </a:r>
            <a:pPr indent="0" marL="0">
              <a:lnSpc>
                <a:spcPts val="2100"/>
              </a:lnSpc>
              <a:buNone/>
            </a:pPr>
            <a:r>
              <a:rPr lang="en-US" sz="1650" dirty="0">
                <a:solidFill>
                  <a:srgbClr val="FFFFFF"/>
                </a:solidFill>
                <a:latin typeface="Calibri" pitchFamily="34" charset="0"/>
                <a:ea typeface="Calibri" pitchFamily="34" charset="-122"/>
                <a:cs typeface="Calibri" pitchFamily="34" charset="-120"/>
              </a:rPr>
              <a:t>Rettung 144  ·  Euronotruf 112  ·  Telefonseelsorge 142 (24 h, kostenlos, anonym)</a:t>
            </a:r>
            <a:endParaRPr lang="en-US" sz="1650" dirty="0"/>
          </a:p>
        </p:txBody>
      </p:sp>
      <p:sp>
        <p:nvSpPr>
          <p:cNvPr id="8" name="Shape 5"/>
          <p:cNvSpPr/>
          <p:nvPr/>
        </p:nvSpPr>
        <p:spPr>
          <a:xfrm>
            <a:off x="566928" y="2971800"/>
            <a:ext cx="5394960" cy="786384"/>
          </a:xfrm>
          <a:prstGeom prst="roundRect">
            <a:avLst>
              <a:gd name="adj" fmla="val 10465"/>
            </a:avLst>
          </a:prstGeom>
          <a:solidFill>
            <a:srgbClr val="FFFFFF"/>
          </a:solidFill>
          <a:ln/>
        </p:spPr>
      </p:sp>
      <p:sp>
        <p:nvSpPr>
          <p:cNvPr id="9" name="Shape 6"/>
          <p:cNvSpPr/>
          <p:nvPr/>
        </p:nvSpPr>
        <p:spPr>
          <a:xfrm>
            <a:off x="795528" y="3154680"/>
            <a:ext cx="420624" cy="420624"/>
          </a:xfrm>
          <a:prstGeom prst="ellipse">
            <a:avLst/>
          </a:prstGeom>
          <a:solidFill>
            <a:srgbClr val="2E9284"/>
          </a:solidFill>
          <a:ln/>
        </p:spPr>
      </p:sp>
      <p:pic>
        <p:nvPicPr>
          <p:cNvPr id="10" name="Image 1" descr="preencoded.png">    </p:cNvPr>
          <p:cNvPicPr>
            <a:picLocks noChangeAspect="1"/>
          </p:cNvPicPr>
          <p:nvPr/>
        </p:nvPicPr>
        <p:blipFill>
          <a:blip r:embed="rId2"/>
          <a:stretch>
            <a:fillRect/>
          </a:stretch>
        </p:blipFill>
        <p:spPr>
          <a:xfrm>
            <a:off x="904890" y="3264042"/>
            <a:ext cx="201900" cy="201900"/>
          </a:xfrm>
          <a:prstGeom prst="rect">
            <a:avLst/>
          </a:prstGeom>
        </p:spPr>
      </p:pic>
      <p:sp>
        <p:nvSpPr>
          <p:cNvPr id="11" name="Text 7"/>
          <p:cNvSpPr/>
          <p:nvPr/>
        </p:nvSpPr>
        <p:spPr>
          <a:xfrm>
            <a:off x="1408176" y="3063240"/>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Telefonseelsorge</a:t>
            </a:r>
            <a:endParaRPr lang="en-US" sz="1500" dirty="0"/>
          </a:p>
        </p:txBody>
      </p:sp>
      <p:sp>
        <p:nvSpPr>
          <p:cNvPr id="12" name="Text 8"/>
          <p:cNvSpPr/>
          <p:nvPr/>
        </p:nvSpPr>
        <p:spPr>
          <a:xfrm>
            <a:off x="1408176" y="3383280"/>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142 – rund um die Uhr, anonym, kostenlos</a:t>
            </a:r>
            <a:endParaRPr lang="en-US" sz="1250" dirty="0"/>
          </a:p>
        </p:txBody>
      </p:sp>
      <p:sp>
        <p:nvSpPr>
          <p:cNvPr id="13" name="Shape 9"/>
          <p:cNvSpPr/>
          <p:nvPr/>
        </p:nvSpPr>
        <p:spPr>
          <a:xfrm>
            <a:off x="6281928" y="2971800"/>
            <a:ext cx="5394960" cy="786384"/>
          </a:xfrm>
          <a:prstGeom prst="roundRect">
            <a:avLst>
              <a:gd name="adj" fmla="val 10465"/>
            </a:avLst>
          </a:prstGeom>
          <a:solidFill>
            <a:srgbClr val="FFFFFF"/>
          </a:solidFill>
          <a:ln/>
        </p:spPr>
      </p:sp>
      <p:sp>
        <p:nvSpPr>
          <p:cNvPr id="14" name="Shape 10"/>
          <p:cNvSpPr/>
          <p:nvPr/>
        </p:nvSpPr>
        <p:spPr>
          <a:xfrm>
            <a:off x="6510528" y="3154680"/>
            <a:ext cx="420624" cy="420624"/>
          </a:xfrm>
          <a:prstGeom prst="ellipse">
            <a:avLst/>
          </a:prstGeom>
          <a:solidFill>
            <a:srgbClr val="2E9284"/>
          </a:solidFill>
          <a:ln/>
        </p:spPr>
      </p:sp>
      <p:pic>
        <p:nvPicPr>
          <p:cNvPr id="15" name="Image 2" descr="preencoded.png">    </p:cNvPr>
          <p:cNvPicPr>
            <a:picLocks noChangeAspect="1"/>
          </p:cNvPicPr>
          <p:nvPr/>
        </p:nvPicPr>
        <p:blipFill>
          <a:blip r:embed="rId3"/>
          <a:stretch>
            <a:fillRect/>
          </a:stretch>
        </p:blipFill>
        <p:spPr>
          <a:xfrm>
            <a:off x="6619890" y="3264042"/>
            <a:ext cx="201900" cy="201900"/>
          </a:xfrm>
          <a:prstGeom prst="rect">
            <a:avLst/>
          </a:prstGeom>
        </p:spPr>
      </p:pic>
      <p:sp>
        <p:nvSpPr>
          <p:cNvPr id="16" name="Text 11"/>
          <p:cNvSpPr/>
          <p:nvPr/>
        </p:nvSpPr>
        <p:spPr>
          <a:xfrm>
            <a:off x="7123176" y="3063240"/>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Rat auf Draht</a:t>
            </a:r>
            <a:endParaRPr lang="en-US" sz="1500" dirty="0"/>
          </a:p>
        </p:txBody>
      </p:sp>
      <p:sp>
        <p:nvSpPr>
          <p:cNvPr id="17" name="Text 12"/>
          <p:cNvSpPr/>
          <p:nvPr/>
        </p:nvSpPr>
        <p:spPr>
          <a:xfrm>
            <a:off x="7123176" y="3383280"/>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147 – für Kinder &amp; Jugendliche (24 h)</a:t>
            </a:r>
            <a:endParaRPr lang="en-US" sz="1250" dirty="0"/>
          </a:p>
        </p:txBody>
      </p:sp>
      <p:sp>
        <p:nvSpPr>
          <p:cNvPr id="18" name="Shape 13"/>
          <p:cNvSpPr/>
          <p:nvPr/>
        </p:nvSpPr>
        <p:spPr>
          <a:xfrm>
            <a:off x="566928" y="3959352"/>
            <a:ext cx="5394960" cy="786384"/>
          </a:xfrm>
          <a:prstGeom prst="roundRect">
            <a:avLst>
              <a:gd name="adj" fmla="val 10465"/>
            </a:avLst>
          </a:prstGeom>
          <a:solidFill>
            <a:srgbClr val="FFFFFF"/>
          </a:solidFill>
          <a:ln/>
        </p:spPr>
      </p:sp>
      <p:sp>
        <p:nvSpPr>
          <p:cNvPr id="19" name="Shape 14"/>
          <p:cNvSpPr/>
          <p:nvPr/>
        </p:nvSpPr>
        <p:spPr>
          <a:xfrm>
            <a:off x="795528" y="4142232"/>
            <a:ext cx="420624" cy="420624"/>
          </a:xfrm>
          <a:prstGeom prst="ellipse">
            <a:avLst/>
          </a:prstGeom>
          <a:solidFill>
            <a:srgbClr val="2E9284"/>
          </a:solidFill>
          <a:ln/>
        </p:spPr>
      </p:sp>
      <p:pic>
        <p:nvPicPr>
          <p:cNvPr id="20" name="Image 3" descr="preencoded.png">    </p:cNvPr>
          <p:cNvPicPr>
            <a:picLocks noChangeAspect="1"/>
          </p:cNvPicPr>
          <p:nvPr/>
        </p:nvPicPr>
        <p:blipFill>
          <a:blip r:embed="rId4"/>
          <a:stretch>
            <a:fillRect/>
          </a:stretch>
        </p:blipFill>
        <p:spPr>
          <a:xfrm>
            <a:off x="904890" y="4251594"/>
            <a:ext cx="201900" cy="201900"/>
          </a:xfrm>
          <a:prstGeom prst="rect">
            <a:avLst/>
          </a:prstGeom>
        </p:spPr>
      </p:pic>
      <p:sp>
        <p:nvSpPr>
          <p:cNvPr id="21" name="Text 15"/>
          <p:cNvSpPr/>
          <p:nvPr/>
        </p:nvSpPr>
        <p:spPr>
          <a:xfrm>
            <a:off x="1408176" y="4050792"/>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Ö3-Kummernummer</a:t>
            </a:r>
            <a:endParaRPr lang="en-US" sz="1500" dirty="0"/>
          </a:p>
        </p:txBody>
      </p:sp>
      <p:sp>
        <p:nvSpPr>
          <p:cNvPr id="22" name="Text 16"/>
          <p:cNvSpPr/>
          <p:nvPr/>
        </p:nvSpPr>
        <p:spPr>
          <a:xfrm>
            <a:off x="1408176" y="4370832"/>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116 123 – täglich 16–24 Uhr</a:t>
            </a:r>
            <a:endParaRPr lang="en-US" sz="1250" dirty="0"/>
          </a:p>
        </p:txBody>
      </p:sp>
      <p:sp>
        <p:nvSpPr>
          <p:cNvPr id="23" name="Shape 17"/>
          <p:cNvSpPr/>
          <p:nvPr/>
        </p:nvSpPr>
        <p:spPr>
          <a:xfrm>
            <a:off x="6281928" y="3959352"/>
            <a:ext cx="5394960" cy="786384"/>
          </a:xfrm>
          <a:prstGeom prst="roundRect">
            <a:avLst>
              <a:gd name="adj" fmla="val 10465"/>
            </a:avLst>
          </a:prstGeom>
          <a:solidFill>
            <a:srgbClr val="FFFFFF"/>
          </a:solidFill>
          <a:ln/>
        </p:spPr>
      </p:sp>
      <p:sp>
        <p:nvSpPr>
          <p:cNvPr id="24" name="Shape 18"/>
          <p:cNvSpPr/>
          <p:nvPr/>
        </p:nvSpPr>
        <p:spPr>
          <a:xfrm>
            <a:off x="6510528" y="4142232"/>
            <a:ext cx="420624" cy="420624"/>
          </a:xfrm>
          <a:prstGeom prst="ellipse">
            <a:avLst/>
          </a:prstGeom>
          <a:solidFill>
            <a:srgbClr val="2E9284"/>
          </a:solidFill>
          <a:ln/>
        </p:spPr>
      </p:sp>
      <p:pic>
        <p:nvPicPr>
          <p:cNvPr id="25" name="Image 4" descr="preencoded.png">    </p:cNvPr>
          <p:cNvPicPr>
            <a:picLocks noChangeAspect="1"/>
          </p:cNvPicPr>
          <p:nvPr/>
        </p:nvPicPr>
        <p:blipFill>
          <a:blip r:embed="rId5"/>
          <a:stretch>
            <a:fillRect/>
          </a:stretch>
        </p:blipFill>
        <p:spPr>
          <a:xfrm>
            <a:off x="6619890" y="4251594"/>
            <a:ext cx="201900" cy="201900"/>
          </a:xfrm>
          <a:prstGeom prst="rect">
            <a:avLst/>
          </a:prstGeom>
        </p:spPr>
      </p:pic>
      <p:sp>
        <p:nvSpPr>
          <p:cNvPr id="26" name="Text 19"/>
          <p:cNvSpPr/>
          <p:nvPr/>
        </p:nvSpPr>
        <p:spPr>
          <a:xfrm>
            <a:off x="7123176" y="4050792"/>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pro mente Austria</a:t>
            </a:r>
            <a:endParaRPr lang="en-US" sz="1500" dirty="0"/>
          </a:p>
        </p:txBody>
      </p:sp>
      <p:sp>
        <p:nvSpPr>
          <p:cNvPr id="27" name="Text 20"/>
          <p:cNvSpPr/>
          <p:nvPr/>
        </p:nvSpPr>
        <p:spPr>
          <a:xfrm>
            <a:off x="7123176" y="4370832"/>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psychosoziale Beratung (promente-austria.at)</a:t>
            </a:r>
            <a:endParaRPr lang="en-US" sz="1250" dirty="0"/>
          </a:p>
        </p:txBody>
      </p:sp>
      <p:sp>
        <p:nvSpPr>
          <p:cNvPr id="28" name="Shape 21"/>
          <p:cNvSpPr/>
          <p:nvPr/>
        </p:nvSpPr>
        <p:spPr>
          <a:xfrm>
            <a:off x="566928" y="4946904"/>
            <a:ext cx="5394960" cy="786384"/>
          </a:xfrm>
          <a:prstGeom prst="roundRect">
            <a:avLst>
              <a:gd name="adj" fmla="val 10465"/>
            </a:avLst>
          </a:prstGeom>
          <a:solidFill>
            <a:srgbClr val="FFFFFF"/>
          </a:solidFill>
          <a:ln/>
        </p:spPr>
      </p:sp>
      <p:sp>
        <p:nvSpPr>
          <p:cNvPr id="29" name="Shape 22"/>
          <p:cNvSpPr/>
          <p:nvPr/>
        </p:nvSpPr>
        <p:spPr>
          <a:xfrm>
            <a:off x="795528" y="5129784"/>
            <a:ext cx="420624" cy="420624"/>
          </a:xfrm>
          <a:prstGeom prst="ellipse">
            <a:avLst/>
          </a:prstGeom>
          <a:solidFill>
            <a:srgbClr val="2E9284"/>
          </a:solidFill>
          <a:ln/>
        </p:spPr>
      </p:sp>
      <p:pic>
        <p:nvPicPr>
          <p:cNvPr id="30" name="Image 5" descr="preencoded.png">    </p:cNvPr>
          <p:cNvPicPr>
            <a:picLocks noChangeAspect="1"/>
          </p:cNvPicPr>
          <p:nvPr/>
        </p:nvPicPr>
        <p:blipFill>
          <a:blip r:embed="rId6"/>
          <a:stretch>
            <a:fillRect/>
          </a:stretch>
        </p:blipFill>
        <p:spPr>
          <a:xfrm>
            <a:off x="904890" y="5239146"/>
            <a:ext cx="201900" cy="201900"/>
          </a:xfrm>
          <a:prstGeom prst="rect">
            <a:avLst/>
          </a:prstGeom>
        </p:spPr>
      </p:pic>
      <p:sp>
        <p:nvSpPr>
          <p:cNvPr id="31" name="Text 23"/>
          <p:cNvSpPr/>
          <p:nvPr/>
        </p:nvSpPr>
        <p:spPr>
          <a:xfrm>
            <a:off x="1408176" y="5038344"/>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HPE Österreich</a:t>
            </a:r>
            <a:endParaRPr lang="en-US" sz="1500" dirty="0"/>
          </a:p>
        </p:txBody>
      </p:sp>
      <p:sp>
        <p:nvSpPr>
          <p:cNvPr id="32" name="Text 24"/>
          <p:cNvSpPr/>
          <p:nvPr/>
        </p:nvSpPr>
        <p:spPr>
          <a:xfrm>
            <a:off x="1408176" y="5358384"/>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Hilfe für Angehörige (hpe.at)</a:t>
            </a:r>
            <a:endParaRPr lang="en-US" sz="1250" dirty="0"/>
          </a:p>
        </p:txBody>
      </p:sp>
      <p:sp>
        <p:nvSpPr>
          <p:cNvPr id="33" name="Shape 25"/>
          <p:cNvSpPr/>
          <p:nvPr/>
        </p:nvSpPr>
        <p:spPr>
          <a:xfrm>
            <a:off x="6281928" y="4946904"/>
            <a:ext cx="5394960" cy="786384"/>
          </a:xfrm>
          <a:prstGeom prst="roundRect">
            <a:avLst>
              <a:gd name="adj" fmla="val 10465"/>
            </a:avLst>
          </a:prstGeom>
          <a:solidFill>
            <a:srgbClr val="FFFFFF"/>
          </a:solidFill>
          <a:ln/>
        </p:spPr>
      </p:sp>
      <p:sp>
        <p:nvSpPr>
          <p:cNvPr id="34" name="Shape 26"/>
          <p:cNvSpPr/>
          <p:nvPr/>
        </p:nvSpPr>
        <p:spPr>
          <a:xfrm>
            <a:off x="6510528" y="5129784"/>
            <a:ext cx="420624" cy="420624"/>
          </a:xfrm>
          <a:prstGeom prst="ellipse">
            <a:avLst/>
          </a:prstGeom>
          <a:solidFill>
            <a:srgbClr val="2E9284"/>
          </a:solidFill>
          <a:ln/>
        </p:spPr>
      </p:sp>
      <p:pic>
        <p:nvPicPr>
          <p:cNvPr id="35" name="Image 6" descr="preencoded.png">    </p:cNvPr>
          <p:cNvPicPr>
            <a:picLocks noChangeAspect="1"/>
          </p:cNvPicPr>
          <p:nvPr/>
        </p:nvPicPr>
        <p:blipFill>
          <a:blip r:embed="rId7"/>
          <a:stretch>
            <a:fillRect/>
          </a:stretch>
        </p:blipFill>
        <p:spPr>
          <a:xfrm>
            <a:off x="6619890" y="5239146"/>
            <a:ext cx="201900" cy="201900"/>
          </a:xfrm>
          <a:prstGeom prst="rect">
            <a:avLst/>
          </a:prstGeom>
        </p:spPr>
      </p:pic>
      <p:sp>
        <p:nvSpPr>
          <p:cNvPr id="36" name="Text 27"/>
          <p:cNvSpPr/>
          <p:nvPr/>
        </p:nvSpPr>
        <p:spPr>
          <a:xfrm>
            <a:off x="7123176" y="5038344"/>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Kriseninterventionszentrum</a:t>
            </a:r>
            <a:endParaRPr lang="en-US" sz="1500" dirty="0"/>
          </a:p>
        </p:txBody>
      </p:sp>
      <p:sp>
        <p:nvSpPr>
          <p:cNvPr id="37" name="Text 28"/>
          <p:cNvSpPr/>
          <p:nvPr/>
        </p:nvSpPr>
        <p:spPr>
          <a:xfrm>
            <a:off x="7123176" y="5358384"/>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Wien: 01 / 406 95 95 (Mo–Fr)</a:t>
            </a:r>
            <a:endParaRPr lang="en-US" sz="1250" dirty="0"/>
          </a:p>
        </p:txBody>
      </p:sp>
      <p:sp>
        <p:nvSpPr>
          <p:cNvPr id="38" name="Text 29"/>
          <p:cNvSpPr/>
          <p:nvPr/>
        </p:nvSpPr>
        <p:spPr>
          <a:xfrm>
            <a:off x="566928" y="6126480"/>
            <a:ext cx="11057839" cy="320040"/>
          </a:xfrm>
          <a:prstGeom prst="rect">
            <a:avLst/>
          </a:prstGeom>
          <a:noFill/>
          <a:ln/>
        </p:spPr>
        <p:txBody>
          <a:bodyPr wrap="square" rtlCol="0" anchor="ctr"/>
          <a:lstStyle/>
          <a:p>
            <a:pPr algn="ctr" indent="0" marL="0">
              <a:buNone/>
            </a:pPr>
            <a:r>
              <a:rPr lang="en-US" sz="1100" i="1" dirty="0">
                <a:solidFill>
                  <a:srgbClr val="EAF6EF"/>
                </a:solidFill>
                <a:latin typeface="Calibri" pitchFamily="34" charset="0"/>
                <a:ea typeface="Calibri" pitchFamily="34" charset="-122"/>
                <a:cs typeface="Calibri" pitchFamily="34" charset="-120"/>
              </a:rPr>
              <a:t>Erste Anlaufstelle ist immer auch die Hausärztin / der Hausarzt. Angaben vor dem Workshop auf Aktualität prüfen.</a:t>
            </a:r>
            <a:endParaRPr lang="en-US" sz="1100" dirty="0"/>
          </a:p>
        </p:txBody>
      </p:sp>
      <p:sp>
        <p:nvSpPr>
          <p:cNvPr id="40" name="Text 3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41" name="Text 3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547208" y="1234440"/>
            <a:ext cx="1097280" cy="109728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5832500" y="1519733"/>
            <a:ext cx="526694" cy="526694"/>
          </a:xfrm>
          <a:prstGeom prst="rect">
            <a:avLst/>
          </a:prstGeom>
        </p:spPr>
      </p:pic>
      <p:sp>
        <p:nvSpPr>
          <p:cNvPr id="5" name="Text 1"/>
          <p:cNvSpPr/>
          <p:nvPr/>
        </p:nvSpPr>
        <p:spPr>
          <a:xfrm>
            <a:off x="731520" y="2651760"/>
            <a:ext cx="10728655" cy="914400"/>
          </a:xfrm>
          <a:prstGeom prst="rect">
            <a:avLst/>
          </a:prstGeom>
          <a:noFill/>
          <a:ln/>
        </p:spPr>
        <p:txBody>
          <a:bodyPr wrap="square" rtlCol="0" anchor="ctr"/>
          <a:lstStyle/>
          <a:p>
            <a:pPr algn="ctr" indent="0" marL="0">
              <a:buNone/>
            </a:pPr>
            <a:r>
              <a:rPr lang="en-US" sz="3700" b="1" dirty="0">
                <a:solidFill>
                  <a:srgbClr val="FFFFFF"/>
                </a:solidFill>
                <a:latin typeface="Cambria" pitchFamily="34" charset="0"/>
                <a:ea typeface="Cambria" pitchFamily="34" charset="-122"/>
                <a:cs typeface="Cambria" pitchFamily="34" charset="-120"/>
              </a:rPr>
              <a:t>Danke, dass Sie hingesehen haben.</a:t>
            </a:r>
            <a:endParaRPr lang="en-US" sz="3700" dirty="0"/>
          </a:p>
        </p:txBody>
      </p:sp>
      <p:sp>
        <p:nvSpPr>
          <p:cNvPr id="6" name="Text 2"/>
          <p:cNvSpPr/>
          <p:nvPr/>
        </p:nvSpPr>
        <p:spPr>
          <a:xfrm>
            <a:off x="1097280" y="3794760"/>
            <a:ext cx="9997135" cy="1005840"/>
          </a:xfrm>
          <a:prstGeom prst="rect">
            <a:avLst/>
          </a:prstGeom>
          <a:noFill/>
          <a:ln/>
        </p:spPr>
        <p:txBody>
          <a:bodyPr wrap="square" rtlCol="0" anchor="ctr"/>
          <a:lstStyle/>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„Man sieht es einem nicht an. Aber jetzt wissen Sie, wie man hinschaut –</a:t>
            </a:r>
            <a:endParaRPr lang="en-US" sz="1800" dirty="0"/>
          </a:p>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und was ein einziger verständnisvoller Mensch verändern kann.“</a:t>
            </a:r>
            <a:endParaRPr lang="en-US" sz="1800" dirty="0"/>
          </a:p>
        </p:txBody>
      </p:sp>
      <p:sp>
        <p:nvSpPr>
          <p:cNvPr id="7" name="Text 3"/>
          <p:cNvSpPr/>
          <p:nvPr/>
        </p:nvSpPr>
        <p:spPr>
          <a:xfrm>
            <a:off x="731520" y="5212080"/>
            <a:ext cx="10728655" cy="365760"/>
          </a:xfrm>
          <a:prstGeom prst="rect">
            <a:avLst/>
          </a:prstGeom>
          <a:noFill/>
          <a:ln/>
        </p:spPr>
        <p:txBody>
          <a:bodyPr wrap="square" rtlCol="0" anchor="ctr"/>
          <a:lstStyle/>
          <a:p>
            <a:pPr algn="ctr" indent="0" marL="0">
              <a:buNone/>
            </a:pPr>
            <a:r>
              <a:rPr lang="en-US" sz="1400" dirty="0">
                <a:solidFill>
                  <a:srgbClr val="EAF6EF"/>
                </a:solidFill>
                <a:latin typeface="Calibri" pitchFamily="34" charset="0"/>
                <a:ea typeface="Calibri" pitchFamily="34" charset="-122"/>
                <a:cs typeface="Calibri" pitchFamily="34" charset="-120"/>
              </a:rPr>
              <a:t>Markus Warscher     ·     Kontakt:  ____________________</a:t>
            </a:r>
            <a:endParaRPr lang="en-US" sz="14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 sieht es mir nicht an</dc:title>
  <dc:subject>PptxGenJS Presentation</dc:subject>
  <dc:creator>Erlebnis-Workshop mit Markus Warscher</dc:creator>
  <cp:lastModifiedBy>Erlebnis-Workshop mit Markus Warscher</cp:lastModifiedBy>
  <cp:revision>1</cp:revision>
  <dcterms:created xsi:type="dcterms:W3CDTF">2026-07-23T15:29:45Z</dcterms:created>
  <dcterms:modified xsi:type="dcterms:W3CDTF">2026-07-23T15:29:45Z</dcterms:modified>
</cp:coreProperties>
</file>