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0:00 – Beginn
🎯 ZIEL: Ankommen, Ton setzen: ruhig, ernst, wertschätzend.
🗣 SPRECHERNOTIZEN
Titel bewusst wirken lassen, bevor Sie sprechen. Beginnen Sie leise: „Der Satz auf dieser Folie ist einer der häufigsten, den Betroffene hören. Und er ist das Problem – und heute unser Thema. Denn genau das macht psychische Erkrankungen so schwer: Man sieht sie nicht.“ Kurz Ihren Namen und dass Sie heute nicht als Arzt, sondern als Mensch mit eigener Erfahrung sprechen.
✨ ANIMATION
Titel „Man sieht es mir nicht an.“ nach 2 Sek. sanft einblenden (Erscheinen / Verblassen, langsam). Untertitel danach. Keine schnellen Effekte – der ganze Workshop lebt von Ruhe.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Vertrauen aufbauen. Ihre Betroffenheit ist Ihre Glaubwürdigkeit.
🗣 SPRECHERNOTIZEN
PLATZHALTER – bitte in EIGENEN Worten. Erzählen Sie nur so viel, wie Ihnen heute guttut. Faustregel für sichere Selbstoffenbarung: Sprechen Sie aus der Narbe, nicht aus der offenen Wunde – über das, was Sie verarbeitet haben, nicht über das, was Sie gerade überflutet. Sie müssen keine Details des Unfalls schildern; die Diagnose und der Weg genügen. Details siehe Trainerhandbuch, Kapitel ‚Sichere Selbstoffenbarung‘.
✨ ANIMATION
Zitat links zuerst einblenden, dann der Text rechts absatzweise (Wischen von unten). Kein Tempo – Pausen zwischen den Absätzen zulassen.
🎬 REGIE / METHODIK
Wenn Sie merken, dass Sie emotional werden: kurz innehalten, atmen, weiter. Das ist authentisch, nicht unprofessionell.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Psychologische Sicherheit herstellen (trauma-informierter Rahmen).
🗣 SPRECHERNOTIZEN
„Dieses Thema kann berühren – vielleicht kennen Sie jemanden, vielleicht sich selbst. Deshalb drei Zusagen an Sie …“ Die drei Punkte ruhig vorlesen. Betonen: Es gibt heute kein Richtig oder Falsch im Fühlen.
✨ ANIMATION
Karten nacheinander einfliegen (Wischen von links), damit jeder Punkt einzeln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Orientierung geben; Erwartung setzen: Erlebnis, kein Frontalvortrag.
🗣 SPRECHERNOTIZEN
Kurz durch die sechs Stationen führen. Verben betonen (Ankommen, Verstehen, Fühlen …). Den Satz unten als Versprechen formulieren: „Mein Ziel ist nicht, dass Sie heute Fachbegriffe mitnehmen, sondern ein Gefühl dafür.“ Danach zur nächsten Folie: kurze Pausenzeiten und Regeln.
✨ ANIMATION
Die sechs Karten nacheinander erscheinen (0,2 s Versatz). Der Merksatz unten zuletzt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Relevanz herstellen: Das betrifft uns alle, nicht ‚die anderen‘.
🗣 SPRECHERNOTIZEN
„Schauen Sie sich im Raum um. Statistisch ist mindestens jede vierte Person hier im Lauf eines Jahres betroffen – oder ein enger Angehöriger. Wir reden also nicht über eine Randgruppe. Wir reden über uns.“ Zahl bewusst als Größenordnung präsentieren (siehe Quellenhinweis Trainerhandbuch).
✨ ANIMATION
Überschrift zuerst, dann die drei Karten nacheinander. Große Wörter (1 von 4, unsichtbar, Schweigen) betont wirken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Teilnehmer aktivieren, Erwartungen abholen, Anknüpfungspunkte sammeln.
🗣 SPRECHERNOTIZEN
Nicht bewerten, nur sammeln und spiegeln. Bei sensiblen Antworten dankend annehmen, nicht nachbohren.
✨ ANIMATION
Zwei Karten von links/rechts einfliegen lassen.
🎬 REGIE / METHODIK
Erwartungen auf Karten schreiben lassen und an Pinnwand hängen. Am Tagesende (Folie 37) darauf zurückkommen – schließt den Kreis.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Sicheren Raum vereinbaren – Voraussetzung für emotionale Offenheit.
🗣 SPRECHERNOTIZEN
Regeln nicht diktieren, sondern gemeinsam ‚absegnen‘: „Können wir uns auf diese sechs Punkte einigen?“ Zustimmung per Handzeichen einholen. Ergänzungen der Gruppe zulassen und aufschreiben.
✨ ANIMATION
Sechs Karten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Start
🎯 ZIEL: Ausmaß begreifbar machen, Entstigmatisierung durch Normalität.
🗣 SPRECHERNOTIZEN
„Diese Zahlen sind keine Statistik über Fremde. Rechnen wir es auf diesen Raum um …“ Betonen: Angststörungen und Depression sind Volkskrankheiten wie Diabetes oder Bluthochdruck. WICHTIG: Zahlen als Größenordnung sagen, nicht auf die Kommastelle. Aktuelle Werte vor dem Workshop kurz prüfen (siehe Trainerhandbuch, Quellen).
✨ ANIMATION
Vier Zahlenkacheln nacheinander per ‚Zoom‘ dezent einblenden. Die großen Zahlen kurz wirken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Verstehen: Erkrankung ist nicht ‚zu viel Stress‘, sondern etwas qualitativ anderes.
🗣 SPRECHERNOTIZEN
„Stress hat jeder. Eine Krise trifft die meisten irgendwann. Eine Erkrankung ist etwas anderes: Sie bleibt, sie geht nicht mit dem Wochenende weg, und man kommt nicht allein wieder heraus.“ Wichtiger Merksatz: Der Unterschied ist nicht ‚mehr vom Gleichen‘, sondern eine andere Qualität. Übergänge sind fließend – niemand muss sich rechtfertigen, ab wann es ‚schlimm genug‘ ist.
✨ ANIMATION
Drei Spalten von links nach rechts aufbauen, dann den Pfeil unten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Landkarte geben. Jede Erkrankung bekommt gleich ein Bild/eine Metapher.
🗣 SPRECHERNOTIZEN
„Es gibt viele psychische Erkrankungen. Wir konzentrieren uns auf fünf, die häufig sind – und die man oft missversteht. Zu jeder gebe ich Ihnen ein Bild mit, kein Lehrbuch.“ Die kursiven Untertitel sind schon die Metaphern der nächsten Folien – kurz anteasern.
✨ ANIMATION
Fünf Kacheln nacheinander (Zoom). Diese Folie dient als ‚Kapitelübersicht‘.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Depression von ‚Traurigsein‘ abgrenzen.
🗣 SPRECHERNOTIZEN
„Depression ist nicht ‚schlechte Laune‘. Traurigkeit hat einen Grund und geht vorbei. Depression ist oft grundlos da und bleibt. Viele Betroffene sagen nicht ‚ich bin traurig‘, sondern ‚ich fühle gar nichts mehr‘.“ Die Metapher ‚Graufilter‘ betonen – kommt in Modul 3 vertieft zurück.
✨ ANIMATION
Symptome zeilenweise einblenden. Die Metapher-Box links am Ende dezent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Angst als überaktives Schutzsystem verstehen, nicht als ‚Einbildung‘.
🗣 SPRECHERNOTIZEN
„Angst ist eigentlich sinnvoll – sie schützt uns. Bei einer Angststörung ist der Schutzschalter nur zu empfindlich eingestellt. Er löst aus, wo keine Gefahr ist. Eine Panikattacke fühlt sich an wie ein Herzinfarkt – der Körper ist überzeugt, es geht ums Überleben.“
✨ ANIMATION
Symptome zeilenweise. Bei ‚Panikattacke‘ Tempo leicht anziehen, dann bewusst ruhig weiter (spiegelt das Thema).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Burnout ernst nehmen, aber sauber einordnen (kein ‚Modewort‘, keine Faulheit).
🗣 SPRECHERNOTIZEN
„Burnout trifft selten die Faulen – meist die, die zu lange zu viel gegeben haben. Es ist das Gegenteil von ‚sich hängen lassen‘.“ Hinweis: Burnout ist medizinisch keine eigene Diagnose im engen Sinn, aber ein anerkannter Erschöpfungszustand mit hohem Übergang zur Depression.
✨ ANIMATION
Symptome zeilenweise, Metapher-Box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persönlicher Ankerpunkt
🎯 ZIEL: PTBS erfahrbar machen – hier dürfen Sie Ihre eigene Geschichte einbringen.
🗣 SPRECHERNOTIZEN
PLATZHALTER FÜR IHR BEISPIEL. Erzählen Sie hier – wenn es Ihnen guttut – einen konkreten, verarbeiteten Moment: z. B. wie ein bestimmtes Geräusch (quietschende Reifen, Blaulicht, ein Geruch) Sie schlagartig zurückgeworfen hat, obwohl real keine Gefahr war. Wichtig: ein Beispiel, das den MECHANISMUS zeigt (Trigger → Körper im Vollalarm), nicht die Unfalldetails. So verstehen die Teilnehmer, dass ein Flashback kein ‚Grübeln‘ ist, sondern ein Wiedererleben. Sprechen Sie aus der Narbe, nicht aus der offenen Wunde.
✨ ANIMATION
Symptome ruhig zeilenweise. Bei Ihrem persönlichen Beispiel KEINE Animation – nur Sie und Ihre Worte.
🎬 REGIE / METHODIK
Dies ist ein emotionaler Höhepunkt. Danach bewusst 3 Sekunden Stille lassen, bevor Sie weitermachen.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Bipolar von normalen Stimmungsschwankungen abgrenzen.
🗣 SPRECHERNOTIZEN
„Wir alle haben mal einen guten und mal einen schlechten Tag. Bei der bipolaren Störung geht es um echte Phasen – Wochen, in denen jemand kaum schläft und sich unbesiegbar fühlt, und Wochen tiefer Depression. Wichtig: gut behandelbar.“
✨ ANIMATION
Symptome zeilenweise. Optional dezente Wellen-Grafik.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Start
🎯 ZIEL: Übergang vom Kopf ins Herz markieren. Das ist der emotionale Kern.
🗣 SPRECHERNOTIZEN
Tempo herausnehmen. „Bis jetzt haben wir gewusst. Jetzt wollen wir verstehen – also fühlen. Ich gebe Ihnen ein paar Bilder. Sie müssen nichts glauben, nur einen Moment mitgehen.“
✨ ANIMATION
Titel groß einblenden, Untertitel danach. Ruhiger Übergang.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Antriebslosigkeit körperlich nachvollziehbar machen.
🗣 SPRECHERNOTIZEN
„Wir sagen leicht: ‚Reiß dich zusammen, geh halt raus.‘ Aber stellen Sie sich vor, an jedem Handgriff hängen 15 Kilo. Aufstehen: 15 Kilo. Duschen: 15 Kilo. Freundlich sein: 15 Kilo. Das ist kein Unwille. Das ist die Krankheit.“ Optional Teilnehmer fragen: Was von Ihrer heutigen To-do-Liste würden Sie mit 15 kg extra noch schaffen?
✨ ANIMATION
Rechte Karte: ‚+15 kg‘ per Zoom betonen. Text links absatzweise. Letzten (kursiven) Satz einzeln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Diskrepanz zwischen Fassade und Innenleben zeigen (Masking-Vorbereitung).
🗣 SPRECHERNOTIZEN
„Das Einzige, was andere sehen, ist die Spitze: ein ‚Mir geht’s gut‘, ein Lächeln im Meeting. Alles, was die Person wirklich trägt, liegt unter der Wasserlinie. Deshalb hört man so oft: ‚Das hätte ich nie gedacht.‘“
✨ ANIMATION
Wasserlinie einblenden, dann Spitze, dann Stück für Stück die verborgenen Begriffe unter Wasser auftauchen lassen (Erscheinen).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‚Aber er wirkte doch fröhlich!‘ auflösen. Masking verstehen.
🗣 SPRECHERNOTIZEN
„Warum sieht man es nicht? Weil viele es aktiv verstecken. Sie halten die Maske hoch, bis sie zu Hause die Tür zumachen – und dann bricht alles zusammen. Wenn Ihnen jemand sagt ‚Mir geht’s nicht gut‘, ist das oft schon ein riesiger Schritt.“
✨ ANIMATION
Linke Karte (‚nach außen‘) zuerst. Dann rechte Karte einblenden – der Kontrast wirkt.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Den häufigsten gut gemeinten Fehler entkräften.
🗣 SPRECHERNOTIZEN
„Der wichtigste Vergleich des Tages: Niemand würde einem Menschen mit gebrochenem Bein sagen ‚Lauf halt‘. Bei der Seele tun wir es ständig. ‚Positiv denken‘ ist nicht falsch gemeint – aber es verlangt von einem kranken Gehirn genau das, was gerade nicht geht.“
✨ ANIMATION
Zitat-Box zuerst. Dann die drei Begründungs-Karten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Doppelmoral sichtbar machen: gleiche Krankheit-Logik, andere Reaktion.
🗣 SPRECHERNOTIZEN
Zeile für Zeile durchgehen und die Gruppe spüren lassen, wie ungleich wir reagieren. Letzte Zeile betonen: ‚Heilung ebenso möglich.‘ – das ist die Brücke zu Modul 6.
✨ ANIMATION
Tabellenzeilen paarweise (links+rechts gleichzeitig) einblenden. Letzte Zeile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Panik körperlich nachvollziehbar machen.
🗣 SPRECHERNOTIZEN
Optional Mini-Selbsterfahrung (freiwillig!): „Atmen Sie 20 Sekunden bewusst zu schnell und flach. Spüren Sie das Kribbeln, den Schwindel? Genau dieses Körpergefühl – aber ohne Ende und mit Todesangst – ist eine Panikattacke.“ Danach gemeinsam ruhig ausatmen. NUR anbieten, nie erzwingen; bei Betroffenen im Raum vorsichtig sein.
✨ ANIMATION
Vier Kacheln nacheinander. Merksatz unten zuletzt.
🎬 REGIE / METHODIK
Wenn Sie die Atem-Übung machen: vorher Sicherheit ansagen, Aussteigen erlauben, danach gemeinsam beruhigen.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Verhalten neu deuten lernen: nicht ‚unzuverlässig‘, sondern krank.
🗣 SPRECHERNOTIZEN
PLATZHALTER: Bringen Sie hier ein eigenes, konkretes Alltagsbeispiel – z. B. wie Sie ein Treffen absagen mussten und wie es sich anfühlte, dafür für ‚unzuverlässig‘ gehalten zu werden. Kernbotschaft: Hinter ‚schwierigem‘ Verhalten steckt oft eine unsichtbare Anstrengung. Überleitung zur nächsten Übung.
✨ ANIMATION
Vier Beispiele nacheinander. Ihre persönliche Zeile am Ende – frei erzählt.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Übung
🎯 ZIEL: Perspektivübernahme – Depression von innen erleben.
🗣 SPRECHERNOTIZEN
„Sie schlüpfen jetzt für ein paar Minuten in ein Leben mit Depression. Kein Schauspiel – nur mitlesen und spüren.“ Nach der Übung nicht zerreden; ein, zwei Stimmen genügen.
✨ ANIMATION
Ablaufschritte nacheinander einblenden, dann Reflexionsbox.
🎬 REGIE / METHODIK
Kopiervorlage ‚Ein Tag mit Depression‘ austeilen (siehe Arbeitsblätter). Ruhige Musik optional. Nach der Stillarbeit erst Murmelrunde zu zweit, dann Blitzlicht.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Pause (15 min)
🎯 ZIEL: Erholung – besonders nach dem emotionalen Modul 3 wichtig.
🗣 SPRECHERNOTIZEN
„Nehmen Sie sich die Pause wirklich. Wir haben gerade viel gefühlt. Bewegung, frische Luft, ein Schluck Wasser.“
✨ ANIMATION
Optional dezenter Countdown-Timer.
🎬 REGIE / METHODIK
Ansprechbar bleiben für Teilnehmer, die etwas loswerden wollen. Auf Selbstfürsorge achten (auch Ihre eigene).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Start
🎯 ZIEL: Handlungskompetenz statt Hilflosigkeit.
🗣 SPRECHERNOTIZEN
„Die häufigste Frage von Angehörigen ist: Was soll ich denn sagen? Die gute Nachricht: Sie müssen nichts reparieren. Sie müssen da sein.“
✨ ANIMATION
Titel groß,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machbare Hilfe-Werkzeuge geben.
🗣 SPRECHERNOTIZEN
Betonen: Punkt 1 ist der wichtigste. Wir wollen sofort Lösungen liefern – aber Betroffene brauchen zuerst das Gefühl, nicht allein zu sein. ‚Zu Hilfe ermutigen‘ heißt begleiten, nicht drängen.
✨ ANIMATION
Fünf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Typische Fettnäpfchen bewusst machen – ohne Schuldgefühle.
🗣 SPRECHERNOTIZEN
„Wichtig: Fast alle diese Sätze sind LIEB gemeint. Es geht nicht darum, sich schlecht zu fühlen, sondern zu verstehen, warum sie nicht ankommen.“ Optional: Teilnehmer fragen, welchen Satz sie selbst schon gesagt/gehört haben.
✨ ANIMATION
Fünf Zeilen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Satz-Alternativen an die Hand geben.
🗣 SPRECHERNOTIZEN
Jeweils beide Sätze laut lesen und den Unterschied spüren lassen. Kern: Links wird bewertet/beschwichtigt, rechts wird Verbindung angeboten. Optional Teilnehmer eigene ‚Sag lieber‘-Sätze finden lassen.
✨ ANIMATION
Paare zeilenweise einblenden – erst links (Statt), dann rechts (Sag lieber).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Zuhören als Kernkompetenz üben (Überleitung zum Rollenspiel).
🗣 SPRECHERNOTIZEN
Die vier Schritte durchgehen und betonen: Zuhören ist aktiv, nicht passiv. ‚Pausen aushalten‘ fällt am schwersten – wir reden aus Unsicherheit. Überleitung: ‚Genau das üben wir jetzt.‘
✨ ANIMATION
Vier Karten nacheinander. Faustregel unten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Vor Selbstüberforderung schützen; Notfall-Handeln klarmachen.
🗣 SPRECHERNOTIZEN
„Sie dürfen helfen – aber Sie müssen niemanden retten. Wenn Sie selbst leerlaufen, hilft niemandem geholfen.“ Zum Notfall klar: Suizidgedanken direkt ansprechen (‚Denkst du daran, dir das Leben zu nehmen?‘) – das pflanzt nichts ein, es entlastet. Dann sofort professionelle Hilfe.
✨ ANIMATION
Vier Kacheln nacheinander. Notfallzeile unten betont (Amber) zuletzt.
🎬 REGIE / METHODIK
Notrufnummern hängen idealerweise sichtbar im Raum (Handout Anlaufstellen).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Übung
🎯 ZIEL: Do’s, Sprache und aktives Zuhören praktisch erproben.
🗣 SPRECHERNOTIZEN
„Sie werden merken: Es ist gar nicht so leicht, NICHT sofort Ratschläge zu geben. Genau das ist die Übung.“ In der Auswertung die Beobachter zuerst hören.
✨ ANIMATION
Ablaufschritte nacheinander, dann Auswertungsbox.
🎬 REGIE / METHODIK
Situationskarten &amp; Beobachtungsbogen austeilen (Arbeitsblätter). Klar timen: 5 Min. spielen, 3 Min. auswerten, dann Rollentausch. Auf achtsamen Umgang hinweisen – niemand spielt echtes eigenes Leid nach, wenn er nicht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Start
🎯 ZIEL: Aktivierend Stigmata entlarven.
🗣 SPRECHERNOTIZEN
„Kein Test – niemand blamiert sich. Wir schauen nur, welche Sätze sich hartnäckig halten und was wirklich dahintersteckt.“
✨ ANIMATION
Titel groß, dann Untertitel.
🎬 REGIE / METHODIK
Interaktiv: Bei jeder Aussage erst die Gruppe abstimmen lassen (Daumen / Ecken im Raum), DANN auflösen (nächste Folie). Passt zur Übung ‚Mythos oder Wahrheit?‘.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ZIEL: Stigmatisierende Überzeugungen mit Fakten kontern.
🗣 SPRECHERNOTIZEN
Jede Aussage einzeln aufdecken, nachdem die Gruppe abgestimmt hat. Betonen: Alle vier sind Mythen. Der dritte (‚sieht man‘) verbindet zurück zum Titel des Workshops.
✨ ANIMATION
Karten einzeln aufdecken. ‚Mythos‘-Stempel jeweils nach kurzer Diskussion einblenden – erhöht die Spannung.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Zeigen: Behandlung wirkt, ist normal, ist verfügbar.
🗣 SPRECHERNOTIZEN
Medikamente entstigmatisieren: „Ein Antidepressivum ist so wenig eine Schwäche wie eine Insulinspritze.“ Selbsthilfe stark machen – Gemeinschaft heilt mit. Betonen: Kombination wirkt am besten.
✨ ANIMATION
Vier Karten nacheinander. Merksatz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Hoffnung verankern – emotionaler Gegenpol zu Modul 3.
🗣 SPRECHERNOTIZEN
PLATZHALTER FÜR IHRE BOTSCHAFT: Erzählen Sie – kurz und ehrlich – was Ihnen geholfen hat, wieder herauszufinden (Therapie, Menschen, Zeit, ein Wendepunkt). Ihr Weg ist der stärkste Beweis für Hoffnung im ganzen Workshop. Enden Sie mit einem Satz, den die Teilnehmer mitnehmen sollen.
✨ ANIMATION
‚Es wird wieder hell.‘ langsam einblenden. Danach der Text. Ihre persönlichen Worte ohne Animation.
🎬 REGIE / METHODIK
Bewusst der wärmste Moment des Tages. Sonne-Icon/Amber signalisiert den Stimmungswechsel von dunkel zu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Kernbotschaften bündeln, roten Faden schließen.
🗣 SPRECHERNOTIZEN
Die vier Erkenntnisse als Essenz benennen. Dann Raum für offene Fragen. Nichts erzwingen – auch Stille ist okay.
✨ ANIMATION
Vier Karten nacheinander. Rückfrage unten zuletzt.
🎬 REGIE / METHODIK
Zurück zur Erwartungs-Pinnwand (Folie 6): Punkte gemeinsam durchgehen, abhaken. Danach offene Fragerunde.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Handlungsfähigkeit sichern – niemand geht ohne Adressen nach Hause.
🗣 SPRECHERNOTIZEN
„Bitte nehmen Sie dieses Blatt mit – für sich oder für jemanden, an den Sie heute gedacht haben. 142 ist Tag und Nacht erreichbar, kostenlos und anonym.“
✨ ANIMATION
Notfall-Band zuerst (Amber), dann die Kacheln nacheinander.
🎬 REGIE / METHODIK
Als Handout austeilen (Kopiervorlage ‚Anlaufstellen‘). Nummern ggf. regional ergänzen (lokale psychosoziale Dienste, Krisendienst des Bundeslands).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Warm und würdevoll schließen, Handlungsauftrag mitgeben.
🗣 SPRECHERNOTIZEN
Ruhig enden. Für die Offenheit danken. Optional Blitzlicht-Abschlussrunde: ‚Ein Wort, das Sie mitnehmen.‘ Reflexionsbogen austeilen (falls nicht schon geschehen). Auf Feedback-/Kontaktmöglichkeit hinweisen.
✨ ANIMATION
Titel, dann Zitat langsam einblenden. Kein schneller Effekt zum Schluss.
🎬 REGIE / METHODIK
Reflexionsbogen &amp; Anlaufstellen-Handout mitgeben. Für ein Gruppenfoto o. Ä. ist jetzt NICHT der Moment – Thema respektieren.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1.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595360" y="-2011680"/>
            <a:ext cx="5943600" cy="5943600"/>
          </a:xfrm>
          <a:prstGeom prst="ellipse">
            <a:avLst/>
          </a:prstGeom>
          <a:solidFill>
            <a:srgbClr val="24424A"/>
          </a:solidFill>
          <a:ln/>
        </p:spPr>
      </p:sp>
      <p:sp>
        <p:nvSpPr>
          <p:cNvPr id="3" name="Shape 1"/>
          <p:cNvSpPr/>
          <p:nvPr/>
        </p:nvSpPr>
        <p:spPr>
          <a:xfrm>
            <a:off x="10058400" y="3291840"/>
            <a:ext cx="5029200" cy="5029200"/>
          </a:xfrm>
          <a:prstGeom prst="ellipse">
            <a:avLst/>
          </a:prstGeom>
          <a:solidFill>
            <a:srgbClr val="20393F"/>
          </a:solidFill>
          <a:ln/>
        </p:spPr>
      </p:sp>
      <p:sp>
        <p:nvSpPr>
          <p:cNvPr id="4" name="Shape 2"/>
          <p:cNvSpPr/>
          <p:nvPr/>
        </p:nvSpPr>
        <p:spPr>
          <a:xfrm>
            <a:off x="-1463040" y="4023360"/>
            <a:ext cx="4114800" cy="4114800"/>
          </a:xfrm>
          <a:prstGeom prst="ellipse">
            <a:avLst/>
          </a:prstGeom>
          <a:solidFill>
            <a:srgbClr val="254349"/>
          </a:solidFill>
          <a:ln/>
        </p:spPr>
      </p:sp>
      <p:sp>
        <p:nvSpPr>
          <p:cNvPr id="5" name="Shape 3"/>
          <p:cNvSpPr/>
          <p:nvPr/>
        </p:nvSpPr>
        <p:spPr>
          <a:xfrm>
            <a:off x="566928" y="822960"/>
            <a:ext cx="822960" cy="82296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780898" y="1036930"/>
            <a:ext cx="395021" cy="395021"/>
          </a:xfrm>
          <a:prstGeom prst="rect">
            <a:avLst/>
          </a:prstGeom>
        </p:spPr>
      </p:pic>
      <p:sp>
        <p:nvSpPr>
          <p:cNvPr id="7" name="Text 4"/>
          <p:cNvSpPr/>
          <p:nvPr/>
        </p:nvSpPr>
        <p:spPr>
          <a:xfrm>
            <a:off x="566928" y="214884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ERLEBNIS-WORKSHOP  ·  PSYCHISCHE GESUNDHEIT</a:t>
            </a:r>
            <a:endParaRPr lang="en-US" sz="1400" dirty="0"/>
          </a:p>
        </p:txBody>
      </p:sp>
      <p:sp>
        <p:nvSpPr>
          <p:cNvPr id="8" name="Text 5"/>
          <p:cNvSpPr/>
          <p:nvPr/>
        </p:nvSpPr>
        <p:spPr>
          <a:xfrm>
            <a:off x="566928" y="2514600"/>
            <a:ext cx="10515600" cy="2194560"/>
          </a:xfrm>
          <a:prstGeom prst="rect">
            <a:avLst/>
          </a:prstGeom>
          <a:noFill/>
          <a:ln/>
        </p:spPr>
        <p:txBody>
          <a:bodyPr wrap="square" rtlCol="0" anchor="ctr"/>
          <a:lstStyle/>
          <a:p>
            <a:pPr indent="0" marL="0">
              <a:lnSpc>
                <a:spcPts val="6000"/>
              </a:lnSpc>
              <a:buNone/>
            </a:pPr>
            <a:r>
              <a:rPr lang="en-US" sz="6000" b="1" dirty="0">
                <a:solidFill>
                  <a:srgbClr val="FFFFFF"/>
                </a:solidFill>
                <a:latin typeface="Cambria" pitchFamily="34" charset="0"/>
                <a:ea typeface="Cambria" pitchFamily="34" charset="-122"/>
                <a:cs typeface="Cambria" pitchFamily="34" charset="-120"/>
              </a:rPr>
              <a:t>„Man sieht es</a:t>
            </a:r>
            <a:endParaRPr lang="en-US" sz="6000" dirty="0"/>
          </a:p>
          <a:p>
            <a:pPr indent="0" marL="0">
              <a:lnSpc>
                <a:spcPts val="6000"/>
              </a:lnSpc>
              <a:buNone/>
            </a:pPr>
            <a:r>
              <a:rPr lang="en-US" sz="6000" b="1" dirty="0">
                <a:solidFill>
                  <a:srgbClr val="FFFFFF"/>
                </a:solidFill>
                <a:latin typeface="Cambria" pitchFamily="34" charset="0"/>
                <a:ea typeface="Cambria" pitchFamily="34" charset="-122"/>
                <a:cs typeface="Cambria" pitchFamily="34" charset="-120"/>
              </a:rPr>
              <a:t>mir nicht an.“</a:t>
            </a:r>
            <a:endParaRPr lang="en-US" sz="6000" dirty="0"/>
          </a:p>
        </p:txBody>
      </p:sp>
      <p:sp>
        <p:nvSpPr>
          <p:cNvPr id="9" name="Text 6"/>
          <p:cNvSpPr/>
          <p:nvPr/>
        </p:nvSpPr>
        <p:spPr>
          <a:xfrm>
            <a:off x="566928" y="4892040"/>
            <a:ext cx="10424160" cy="822960"/>
          </a:xfrm>
          <a:prstGeom prst="rect">
            <a:avLst/>
          </a:prstGeom>
          <a:noFill/>
          <a:ln/>
        </p:spPr>
        <p:txBody>
          <a:bodyPr wrap="square" rtlCol="0" anchor="ctr"/>
          <a:lstStyle/>
          <a:p>
            <a:pPr indent="0" marL="0">
              <a:lnSpc>
                <a:spcPts val="2600"/>
              </a:lnSpc>
              <a:buNone/>
            </a:pPr>
            <a:r>
              <a:rPr lang="en-US" sz="1800" dirty="0">
                <a:solidFill>
                  <a:srgbClr val="CFDDD9"/>
                </a:solidFill>
                <a:latin typeface="Calibri" pitchFamily="34" charset="0"/>
                <a:ea typeface="Calibri" pitchFamily="34" charset="-122"/>
                <a:cs typeface="Calibri" pitchFamily="34" charset="-120"/>
              </a:rPr>
              <a:t>Wie sich Depression, Angst und Trauma wirklich anfühlen –</a:t>
            </a:r>
            <a:endParaRPr lang="en-US" sz="1800" dirty="0"/>
          </a:p>
          <a:p>
            <a:pPr indent="0" marL="0">
              <a:lnSpc>
                <a:spcPts val="2600"/>
              </a:lnSpc>
              <a:buNone/>
            </a:pPr>
            <a:r>
              <a:rPr lang="en-US" sz="1800" dirty="0">
                <a:solidFill>
                  <a:srgbClr val="CFDDD9"/>
                </a:solidFill>
                <a:latin typeface="Calibri" pitchFamily="34" charset="0"/>
                <a:ea typeface="Calibri" pitchFamily="34" charset="-122"/>
                <a:cs typeface="Calibri" pitchFamily="34" charset="-120"/>
              </a:rPr>
              <a:t>und wie wir Betroffene wirklich begleiten.</a:t>
            </a:r>
            <a:endParaRPr lang="en-US" sz="1800" dirty="0"/>
          </a:p>
        </p:txBody>
      </p:sp>
      <p:sp>
        <p:nvSpPr>
          <p:cNvPr id="10" name="Text 7"/>
          <p:cNvSpPr/>
          <p:nvPr/>
        </p:nvSpPr>
        <p:spPr>
          <a:xfrm>
            <a:off x="566928" y="5943600"/>
            <a:ext cx="7315200" cy="365760"/>
          </a:xfrm>
          <a:prstGeom prst="rect">
            <a:avLst/>
          </a:prstGeom>
          <a:noFill/>
          <a:ln/>
        </p:spPr>
        <p:txBody>
          <a:bodyPr wrap="square" rtlCol="0" anchor="ctr"/>
          <a:lstStyle/>
          <a:p>
            <a:pPr indent="0" marL="0">
              <a:buNone/>
            </a:pPr>
            <a:r>
              <a:rPr lang="en-US" sz="1300" i="1" dirty="0">
                <a:solidFill>
                  <a:srgbClr val="9DB4B2"/>
                </a:solidFill>
                <a:latin typeface="Calibri" pitchFamily="34" charset="0"/>
                <a:ea typeface="Calibri" pitchFamily="34" charset="-122"/>
                <a:cs typeface="Calibri" pitchFamily="34" charset="-120"/>
              </a:rPr>
              <a:t>Referent:  ____________________________</a:t>
            </a:r>
            <a:endParaRPr lang="en-US" sz="1300" dirty="0"/>
          </a:p>
        </p:txBody>
      </p:sp>
      <p:sp>
        <p:nvSpPr>
          <p:cNvPr id="12" name="Text 8"/>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2E4A52"/>
          </a:solidFill>
          <a:ln/>
        </p:spPr>
      </p:sp>
      <p:sp>
        <p:nvSpPr>
          <p:cNvPr id="3" name="Shape 1"/>
          <p:cNvSpPr/>
          <p:nvPr/>
        </p:nvSpPr>
        <p:spPr>
          <a:xfrm>
            <a:off x="1280160" y="1371600"/>
            <a:ext cx="1280160" cy="128016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613002" y="1704442"/>
            <a:ext cx="614477" cy="614477"/>
          </a:xfrm>
          <a:prstGeom prst="rect">
            <a:avLst/>
          </a:prstGeom>
        </p:spPr>
      </p:pic>
      <p:sp>
        <p:nvSpPr>
          <p:cNvPr id="5" name="Text 2"/>
          <p:cNvSpPr/>
          <p:nvPr/>
        </p:nvSpPr>
        <p:spPr>
          <a:xfrm>
            <a:off x="685800" y="2926080"/>
            <a:ext cx="3657600" cy="2011680"/>
          </a:xfrm>
          <a:prstGeom prst="rect">
            <a:avLst/>
          </a:prstGeom>
          <a:noFill/>
          <a:ln/>
        </p:spPr>
        <p:txBody>
          <a:bodyPr wrap="square" rtlCol="0" anchor="ctr"/>
          <a:lstStyle/>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„Ich erzähle Ihnen heute</a:t>
            </a:r>
            <a:endParaRPr lang="en-US" sz="2100" dirty="0"/>
          </a:p>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nichts, was ich nicht</a:t>
            </a:r>
            <a:endParaRPr lang="en-US" sz="2100" dirty="0"/>
          </a:p>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selbst erlebt habe.“</a:t>
            </a:r>
            <a:endParaRPr lang="en-US" sz="2100" dirty="0"/>
          </a:p>
        </p:txBody>
      </p:sp>
      <p:sp>
        <p:nvSpPr>
          <p:cNvPr id="6" name="Text 3"/>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WER HEUTE VOR IHNEN STEHT</a:t>
            </a:r>
            <a:endParaRPr lang="en-US" sz="1200" dirty="0"/>
          </a:p>
        </p:txBody>
      </p:sp>
      <p:sp>
        <p:nvSpPr>
          <p:cNvPr id="7" name="Text 4"/>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Über mich</a:t>
            </a:r>
            <a:endParaRPr lang="en-US" sz="3300" dirty="0"/>
          </a:p>
        </p:txBody>
      </p:sp>
      <p:sp>
        <p:nvSpPr>
          <p:cNvPr id="8" name="Text 5"/>
          <p:cNvSpPr/>
          <p:nvPr/>
        </p:nvSpPr>
        <p:spPr>
          <a:xfrm>
            <a:off x="5029200" y="1600200"/>
            <a:ext cx="6583680" cy="4023360"/>
          </a:xfrm>
          <a:prstGeom prst="rect">
            <a:avLst/>
          </a:prstGeom>
          <a:noFill/>
          <a:ln/>
        </p:spPr>
        <p:txBody>
          <a:bodyPr wrap="square" rtlCol="0" anchor="t"/>
          <a:lstStyle/>
          <a:p>
            <a:pPr indent="0" marL="0">
              <a:spcAft>
                <a:spcPts val="1000"/>
              </a:spcAft>
              <a:buNone/>
            </a:pPr>
            <a:r>
              <a:rPr lang="en-US" sz="1600" dirty="0">
                <a:solidFill>
                  <a:srgbClr val="233139"/>
                </a:solidFill>
              </a:rPr>
              <a:t>Mein Name ist … und ich bin heute Ihr Begleiter durch dieses Thema.
</a:t>
            </a:r>
            <a:endParaRPr lang="en-US" sz="1600" dirty="0"/>
          </a:p>
          <a:p>
            <a:pPr indent="0" marL="0">
              <a:spcAft>
                <a:spcPts val="1000"/>
              </a:spcAft>
              <a:buNone/>
            </a:pPr>
            <a:r>
              <a:rPr lang="en-US" sz="1600" dirty="0">
                <a:solidFill>
                  <a:srgbClr val="233139"/>
                </a:solidFill>
              </a:rPr>
              <a:t>Vor einigen Jahren war ich in einen schweren Verkehrsunfall verwickelt. Menschen sind dabei gestorben, andere und ich selbst wurden schwer verletzt.
</a:t>
            </a:r>
            <a:endParaRPr lang="en-US" sz="1600" dirty="0"/>
          </a:p>
          <a:p>
            <a:pPr indent="0" marL="0">
              <a:spcAft>
                <a:spcPts val="1000"/>
              </a:spcAft>
              <a:buNone/>
            </a:pPr>
            <a:r>
              <a:rPr lang="en-US" sz="1600" dirty="0">
                <a:solidFill>
                  <a:srgbClr val="233139"/>
                </a:solidFill>
              </a:rPr>
              <a:t>Was danach kam, war für viele unsichtbar: eine Depression und eine posttraumatische Belastungsstörung (PTBS).
</a:t>
            </a:r>
            <a:endParaRPr lang="en-US" sz="1600" dirty="0"/>
          </a:p>
          <a:p>
            <a:pPr indent="0" marL="0">
              <a:buNone/>
            </a:pPr>
            <a:r>
              <a:rPr lang="en-US" sz="1600" dirty="0">
                <a:solidFill>
                  <a:srgbClr val="233139"/>
                </a:solidFill>
              </a:rPr>
              <a:t>Ich spreche heute nicht als Mediziner, sondern als jemand, der diesen Weg gegangen ist – und wieder herausgefunden hat.</a:t>
            </a:r>
            <a:endParaRPr lang="en-US" sz="16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BEVOR WIR STARTEN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Ein Hinweis zu Ihrer Sicherheit</a:t>
            </a:r>
            <a:endParaRPr lang="en-US" sz="3300" dirty="0"/>
          </a:p>
        </p:txBody>
      </p:sp>
      <p:sp>
        <p:nvSpPr>
          <p:cNvPr id="4" name="Shape 2"/>
          <p:cNvSpPr/>
          <p:nvPr/>
        </p:nvSpPr>
        <p:spPr>
          <a:xfrm>
            <a:off x="566928" y="1737360"/>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029968"/>
            <a:ext cx="713232" cy="713232"/>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72408" y="2215408"/>
            <a:ext cx="342351" cy="342351"/>
          </a:xfrm>
          <a:prstGeom prst="rect">
            <a:avLst/>
          </a:prstGeom>
        </p:spPr>
      </p:pic>
      <p:sp>
        <p:nvSpPr>
          <p:cNvPr id="7" name="Text 4"/>
          <p:cNvSpPr/>
          <p:nvPr/>
        </p:nvSpPr>
        <p:spPr>
          <a:xfrm>
            <a:off x="1938528" y="1956816"/>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Sie bestimmen Ihre Grenze</a:t>
            </a:r>
            <a:endParaRPr lang="en-US" sz="1800" dirty="0"/>
          </a:p>
        </p:txBody>
      </p:sp>
      <p:sp>
        <p:nvSpPr>
          <p:cNvPr id="8" name="Text 5"/>
          <p:cNvSpPr/>
          <p:nvPr/>
        </p:nvSpPr>
        <p:spPr>
          <a:xfrm>
            <a:off x="1938528" y="2359152"/>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Sie müssen nichts sagen, nichts teilen, an keiner Übung teilnehmen. Aussteigen ist jederzeit erlaubt – ohne Erklärung.</a:t>
            </a:r>
            <a:endParaRPr lang="en-US" sz="1400" dirty="0"/>
          </a:p>
        </p:txBody>
      </p:sp>
      <p:sp>
        <p:nvSpPr>
          <p:cNvPr id="9" name="Shape 6"/>
          <p:cNvSpPr/>
          <p:nvPr/>
        </p:nvSpPr>
        <p:spPr>
          <a:xfrm>
            <a:off x="566928" y="3218688"/>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886968" y="3511296"/>
            <a:ext cx="713232" cy="713232"/>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1072408" y="3696736"/>
            <a:ext cx="342351" cy="342351"/>
          </a:xfrm>
          <a:prstGeom prst="rect">
            <a:avLst/>
          </a:prstGeom>
        </p:spPr>
      </p:pic>
      <p:sp>
        <p:nvSpPr>
          <p:cNvPr id="12" name="Text 8"/>
          <p:cNvSpPr/>
          <p:nvPr/>
        </p:nvSpPr>
        <p:spPr>
          <a:xfrm>
            <a:off x="1938528" y="3438144"/>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Pausen sind normal</a:t>
            </a:r>
            <a:endParaRPr lang="en-US" sz="1800" dirty="0"/>
          </a:p>
        </p:txBody>
      </p:sp>
      <p:sp>
        <p:nvSpPr>
          <p:cNvPr id="13" name="Text 9"/>
          <p:cNvSpPr/>
          <p:nvPr/>
        </p:nvSpPr>
        <p:spPr>
          <a:xfrm>
            <a:off x="1938528" y="3840480"/>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Wenn ein Thema Sie berührt: Sie dürfen jederzeit kurz rausgehen, durchatmen, ein Glas Wasser holen.</a:t>
            </a:r>
            <a:endParaRPr lang="en-US" sz="1400" dirty="0"/>
          </a:p>
        </p:txBody>
      </p:sp>
      <p:sp>
        <p:nvSpPr>
          <p:cNvPr id="14" name="Shape 10"/>
          <p:cNvSpPr/>
          <p:nvPr/>
        </p:nvSpPr>
        <p:spPr>
          <a:xfrm>
            <a:off x="566928" y="4700016"/>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992624"/>
            <a:ext cx="713232" cy="713232"/>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72408" y="5178064"/>
            <a:ext cx="342351" cy="342351"/>
          </a:xfrm>
          <a:prstGeom prst="rect">
            <a:avLst/>
          </a:prstGeom>
        </p:spPr>
      </p:pic>
      <p:sp>
        <p:nvSpPr>
          <p:cNvPr id="17" name="Text 12"/>
          <p:cNvSpPr/>
          <p:nvPr/>
        </p:nvSpPr>
        <p:spPr>
          <a:xfrm>
            <a:off x="1938528" y="4919472"/>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Reden hilft, muss aber nicht</a:t>
            </a:r>
            <a:endParaRPr lang="en-US" sz="1800" dirty="0"/>
          </a:p>
        </p:txBody>
      </p:sp>
      <p:sp>
        <p:nvSpPr>
          <p:cNvPr id="18" name="Text 13"/>
          <p:cNvSpPr/>
          <p:nvPr/>
        </p:nvSpPr>
        <p:spPr>
          <a:xfrm>
            <a:off x="1938528" y="5321808"/>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Am Ende nenne ich Anlaufstellen. Wenn heute etwas in Ihnen anklingt, ist das ein guter Grund, sich Unterstützung zu holen.</a:t>
            </a:r>
            <a:endParaRPr lang="en-US" sz="1400" dirty="0"/>
          </a:p>
        </p:txBody>
      </p:sp>
      <p:sp>
        <p:nvSpPr>
          <p:cNvPr id="20"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DER ROTE FADEN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Unser Weg durch den Tag</a:t>
            </a:r>
            <a:endParaRPr lang="en-US" sz="3300" dirty="0"/>
          </a:p>
        </p:txBody>
      </p:sp>
      <p:sp>
        <p:nvSpPr>
          <p:cNvPr id="4" name="Shape 2"/>
          <p:cNvSpPr/>
          <p:nvPr/>
        </p:nvSpPr>
        <p:spPr>
          <a:xfrm>
            <a:off x="566928"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41248" y="2057400"/>
            <a:ext cx="658368" cy="658368"/>
          </a:xfrm>
          <a:prstGeom prst="ellipse">
            <a:avLst/>
          </a:prstGeom>
          <a:solidFill>
            <a:srgbClr val="84B59F"/>
          </a:solidFill>
          <a:ln/>
        </p:spPr>
      </p:sp>
      <p:sp>
        <p:nvSpPr>
          <p:cNvPr id="6" name="Text 4"/>
          <p:cNvSpPr/>
          <p:nvPr/>
        </p:nvSpPr>
        <p:spPr>
          <a:xfrm>
            <a:off x="841248"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664208"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Ankommen</a:t>
            </a:r>
            <a:endParaRPr lang="en-US" sz="2000" dirty="0"/>
          </a:p>
        </p:txBody>
      </p:sp>
      <p:sp>
        <p:nvSpPr>
          <p:cNvPr id="8" name="Text 6"/>
          <p:cNvSpPr/>
          <p:nvPr/>
        </p:nvSpPr>
        <p:spPr>
          <a:xfrm>
            <a:off x="859536"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Begrüßung &amp; Erwartungen</a:t>
            </a:r>
            <a:endParaRPr lang="en-US" sz="1350" dirty="0"/>
          </a:p>
        </p:txBody>
      </p:sp>
      <p:sp>
        <p:nvSpPr>
          <p:cNvPr id="9" name="Shape 7"/>
          <p:cNvSpPr/>
          <p:nvPr/>
        </p:nvSpPr>
        <p:spPr>
          <a:xfrm>
            <a:off x="4279392"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8"/>
          <p:cNvSpPr/>
          <p:nvPr/>
        </p:nvSpPr>
        <p:spPr>
          <a:xfrm>
            <a:off x="4553712" y="2057400"/>
            <a:ext cx="658368" cy="658368"/>
          </a:xfrm>
          <a:prstGeom prst="ellipse">
            <a:avLst/>
          </a:prstGeom>
          <a:solidFill>
            <a:srgbClr val="84B59F"/>
          </a:solidFill>
          <a:ln/>
        </p:spPr>
      </p:sp>
      <p:sp>
        <p:nvSpPr>
          <p:cNvPr id="11" name="Text 9"/>
          <p:cNvSpPr/>
          <p:nvPr/>
        </p:nvSpPr>
        <p:spPr>
          <a:xfrm>
            <a:off x="4553712"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5376672"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Verstehen</a:t>
            </a:r>
            <a:endParaRPr lang="en-US" sz="2000" dirty="0"/>
          </a:p>
        </p:txBody>
      </p:sp>
      <p:sp>
        <p:nvSpPr>
          <p:cNvPr id="13" name="Text 11"/>
          <p:cNvSpPr/>
          <p:nvPr/>
        </p:nvSpPr>
        <p:spPr>
          <a:xfrm>
            <a:off x="4572000"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Was sind psychische Erkrankungen?</a:t>
            </a:r>
            <a:endParaRPr lang="en-US" sz="1350" dirty="0"/>
          </a:p>
        </p:txBody>
      </p:sp>
      <p:sp>
        <p:nvSpPr>
          <p:cNvPr id="14" name="Shape 12"/>
          <p:cNvSpPr/>
          <p:nvPr/>
        </p:nvSpPr>
        <p:spPr>
          <a:xfrm>
            <a:off x="7991856"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3"/>
          <p:cNvSpPr/>
          <p:nvPr/>
        </p:nvSpPr>
        <p:spPr>
          <a:xfrm>
            <a:off x="8266176" y="2057400"/>
            <a:ext cx="658368" cy="658368"/>
          </a:xfrm>
          <a:prstGeom prst="ellipse">
            <a:avLst/>
          </a:prstGeom>
          <a:solidFill>
            <a:srgbClr val="84B59F"/>
          </a:solidFill>
          <a:ln/>
        </p:spPr>
      </p:sp>
      <p:sp>
        <p:nvSpPr>
          <p:cNvPr id="16" name="Text 14"/>
          <p:cNvSpPr/>
          <p:nvPr/>
        </p:nvSpPr>
        <p:spPr>
          <a:xfrm>
            <a:off x="8266176"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3</a:t>
            </a:r>
            <a:endParaRPr lang="en-US" sz="2600" dirty="0"/>
          </a:p>
        </p:txBody>
      </p:sp>
      <p:sp>
        <p:nvSpPr>
          <p:cNvPr id="17" name="Text 15"/>
          <p:cNvSpPr/>
          <p:nvPr/>
        </p:nvSpPr>
        <p:spPr>
          <a:xfrm>
            <a:off x="9089136"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Fühlen</a:t>
            </a:r>
            <a:endParaRPr lang="en-US" sz="2000" dirty="0"/>
          </a:p>
        </p:txBody>
      </p:sp>
      <p:sp>
        <p:nvSpPr>
          <p:cNvPr id="18" name="Text 16"/>
          <p:cNvSpPr/>
          <p:nvPr/>
        </p:nvSpPr>
        <p:spPr>
          <a:xfrm>
            <a:off x="8284464"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Wie fühlt sich das an?</a:t>
            </a:r>
            <a:endParaRPr lang="en-US" sz="1350" dirty="0"/>
          </a:p>
        </p:txBody>
      </p:sp>
      <p:sp>
        <p:nvSpPr>
          <p:cNvPr id="19" name="Shape 17"/>
          <p:cNvSpPr/>
          <p:nvPr/>
        </p:nvSpPr>
        <p:spPr>
          <a:xfrm>
            <a:off x="566928"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8"/>
          <p:cNvSpPr/>
          <p:nvPr/>
        </p:nvSpPr>
        <p:spPr>
          <a:xfrm>
            <a:off x="841248" y="4224528"/>
            <a:ext cx="658368" cy="658368"/>
          </a:xfrm>
          <a:prstGeom prst="ellipse">
            <a:avLst/>
          </a:prstGeom>
          <a:solidFill>
            <a:srgbClr val="84B59F"/>
          </a:solidFill>
          <a:ln/>
        </p:spPr>
      </p:sp>
      <p:sp>
        <p:nvSpPr>
          <p:cNvPr id="21" name="Text 19"/>
          <p:cNvSpPr/>
          <p:nvPr/>
        </p:nvSpPr>
        <p:spPr>
          <a:xfrm>
            <a:off x="841248"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4</a:t>
            </a:r>
            <a:endParaRPr lang="en-US" sz="2600" dirty="0"/>
          </a:p>
        </p:txBody>
      </p:sp>
      <p:sp>
        <p:nvSpPr>
          <p:cNvPr id="22" name="Text 20"/>
          <p:cNvSpPr/>
          <p:nvPr/>
        </p:nvSpPr>
        <p:spPr>
          <a:xfrm>
            <a:off x="1664208"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Begleiten</a:t>
            </a:r>
            <a:endParaRPr lang="en-US" sz="2000" dirty="0"/>
          </a:p>
        </p:txBody>
      </p:sp>
      <p:sp>
        <p:nvSpPr>
          <p:cNvPr id="23" name="Text 21"/>
          <p:cNvSpPr/>
          <p:nvPr/>
        </p:nvSpPr>
        <p:spPr>
          <a:xfrm>
            <a:off x="859536"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Umgang mit Betroffenen</a:t>
            </a:r>
            <a:endParaRPr lang="en-US" sz="1350" dirty="0"/>
          </a:p>
        </p:txBody>
      </p:sp>
      <p:sp>
        <p:nvSpPr>
          <p:cNvPr id="24" name="Shape 22"/>
          <p:cNvSpPr/>
          <p:nvPr/>
        </p:nvSpPr>
        <p:spPr>
          <a:xfrm>
            <a:off x="4279392"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23"/>
          <p:cNvSpPr/>
          <p:nvPr/>
        </p:nvSpPr>
        <p:spPr>
          <a:xfrm>
            <a:off x="4553712" y="4224528"/>
            <a:ext cx="658368" cy="658368"/>
          </a:xfrm>
          <a:prstGeom prst="ellipse">
            <a:avLst/>
          </a:prstGeom>
          <a:solidFill>
            <a:srgbClr val="84B59F"/>
          </a:solidFill>
          <a:ln/>
        </p:spPr>
      </p:sp>
      <p:sp>
        <p:nvSpPr>
          <p:cNvPr id="26" name="Text 24"/>
          <p:cNvSpPr/>
          <p:nvPr/>
        </p:nvSpPr>
        <p:spPr>
          <a:xfrm>
            <a:off x="4553712"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5</a:t>
            </a:r>
            <a:endParaRPr lang="en-US" sz="2600" dirty="0"/>
          </a:p>
        </p:txBody>
      </p:sp>
      <p:sp>
        <p:nvSpPr>
          <p:cNvPr id="27" name="Text 25"/>
          <p:cNvSpPr/>
          <p:nvPr/>
        </p:nvSpPr>
        <p:spPr>
          <a:xfrm>
            <a:off x="5376672"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Aufklären</a:t>
            </a:r>
            <a:endParaRPr lang="en-US" sz="2000" dirty="0"/>
          </a:p>
        </p:txBody>
      </p:sp>
      <p:sp>
        <p:nvSpPr>
          <p:cNvPr id="28" name="Text 26"/>
          <p:cNvSpPr/>
          <p:nvPr/>
        </p:nvSpPr>
        <p:spPr>
          <a:xfrm>
            <a:off x="4572000"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Mythen &amp; Fakten</a:t>
            </a:r>
            <a:endParaRPr lang="en-US" sz="1350" dirty="0"/>
          </a:p>
        </p:txBody>
      </p:sp>
      <p:sp>
        <p:nvSpPr>
          <p:cNvPr id="29" name="Shape 27"/>
          <p:cNvSpPr/>
          <p:nvPr/>
        </p:nvSpPr>
        <p:spPr>
          <a:xfrm>
            <a:off x="7991856"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30" name="Shape 28"/>
          <p:cNvSpPr/>
          <p:nvPr/>
        </p:nvSpPr>
        <p:spPr>
          <a:xfrm>
            <a:off x="8266176" y="4224528"/>
            <a:ext cx="658368" cy="658368"/>
          </a:xfrm>
          <a:prstGeom prst="ellipse">
            <a:avLst/>
          </a:prstGeom>
          <a:solidFill>
            <a:srgbClr val="84B59F"/>
          </a:solidFill>
          <a:ln/>
        </p:spPr>
      </p:sp>
      <p:sp>
        <p:nvSpPr>
          <p:cNvPr id="31" name="Text 29"/>
          <p:cNvSpPr/>
          <p:nvPr/>
        </p:nvSpPr>
        <p:spPr>
          <a:xfrm>
            <a:off x="8266176"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6</a:t>
            </a:r>
            <a:endParaRPr lang="en-US" sz="2600" dirty="0"/>
          </a:p>
        </p:txBody>
      </p:sp>
      <p:sp>
        <p:nvSpPr>
          <p:cNvPr id="32" name="Text 30"/>
          <p:cNvSpPr/>
          <p:nvPr/>
        </p:nvSpPr>
        <p:spPr>
          <a:xfrm>
            <a:off x="9089136"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Hoffen</a:t>
            </a:r>
            <a:endParaRPr lang="en-US" sz="2000" dirty="0"/>
          </a:p>
        </p:txBody>
      </p:sp>
      <p:sp>
        <p:nvSpPr>
          <p:cNvPr id="33" name="Text 31"/>
          <p:cNvSpPr/>
          <p:nvPr/>
        </p:nvSpPr>
        <p:spPr>
          <a:xfrm>
            <a:off x="8284464"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Hilfe &amp; Wege aus der Krise</a:t>
            </a:r>
            <a:endParaRPr lang="en-US" sz="1350" dirty="0"/>
          </a:p>
        </p:txBody>
      </p:sp>
      <p:sp>
        <p:nvSpPr>
          <p:cNvPr id="34" name="Text 32"/>
          <p:cNvSpPr/>
          <p:nvPr/>
        </p:nvSpPr>
        <p:spPr>
          <a:xfrm>
            <a:off x="566928" y="5989320"/>
            <a:ext cx="11057839" cy="457200"/>
          </a:xfrm>
          <a:prstGeom prst="rect">
            <a:avLst/>
          </a:prstGeom>
          <a:noFill/>
          <a:ln/>
        </p:spPr>
        <p:txBody>
          <a:bodyPr wrap="square" rtlCol="0" anchor="ctr"/>
          <a:lstStyle/>
          <a:p>
            <a:pPr algn="ctr" indent="0" marL="0">
              <a:buNone/>
            </a:pPr>
            <a:r>
              <a:rPr lang="en-US" sz="1450" i="1" dirty="0">
                <a:solidFill>
                  <a:srgbClr val="3F7C79"/>
                </a:solidFill>
                <a:latin typeface="Calibri" pitchFamily="34" charset="0"/>
                <a:ea typeface="Calibri" pitchFamily="34" charset="-122"/>
                <a:cs typeface="Calibri" pitchFamily="34" charset="-120"/>
              </a:rPr>
              <a:t>Ein roter Faden zieht sich durch alles: nicht nur WISSEN, was eine Erkrankung ist – sondern VERSTEHEN, wie sie sich anfühlt.</a:t>
            </a:r>
            <a:endParaRPr lang="en-US" sz="1450" dirty="0"/>
          </a:p>
        </p:txBody>
      </p:sp>
      <p:sp>
        <p:nvSpPr>
          <p:cNvPr id="36" name="Text 33"/>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7" name="Text 34"/>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640080"/>
            <a:ext cx="10058400" cy="320040"/>
          </a:xfrm>
          <a:prstGeom prst="rect">
            <a:avLst/>
          </a:prstGeom>
          <a:noFill/>
          <a:ln/>
        </p:spPr>
        <p:txBody>
          <a:bodyPr wrap="square" rtlCol="0" anchor="ctr"/>
          <a:lstStyle/>
          <a:p>
            <a:pPr indent="0" marL="0">
              <a:buNone/>
            </a:pPr>
            <a:r>
              <a:rPr lang="en-US" sz="1300" b="1" spc="200" kern="0" dirty="0">
                <a:solidFill>
                  <a:srgbClr val="84B59F"/>
                </a:solidFill>
                <a:latin typeface="Calibri" pitchFamily="34" charset="0"/>
                <a:ea typeface="Calibri" pitchFamily="34" charset="-122"/>
                <a:cs typeface="Calibri" pitchFamily="34" charset="-120"/>
              </a:rPr>
              <a:t>WARUM WIR HEUTE HIER SIND</a:t>
            </a:r>
            <a:endParaRPr lang="en-US" sz="1300" dirty="0"/>
          </a:p>
        </p:txBody>
      </p:sp>
      <p:sp>
        <p:nvSpPr>
          <p:cNvPr id="3" name="Text 1"/>
          <p:cNvSpPr/>
          <p:nvPr/>
        </p:nvSpPr>
        <p:spPr>
          <a:xfrm>
            <a:off x="566928" y="1051560"/>
            <a:ext cx="10972800" cy="1371600"/>
          </a:xfrm>
          <a:prstGeom prst="rect">
            <a:avLst/>
          </a:prstGeom>
          <a:noFill/>
          <a:ln/>
        </p:spPr>
        <p:txBody>
          <a:bodyPr wrap="square" rtlCol="0" anchor="ctr"/>
          <a:lstStyle/>
          <a:p>
            <a:pPr indent="0" marL="0">
              <a:lnSpc>
                <a:spcPts val="3600"/>
              </a:lnSpc>
              <a:buNone/>
            </a:pPr>
            <a:r>
              <a:rPr lang="en-US" sz="3000" b="1" dirty="0">
                <a:solidFill>
                  <a:srgbClr val="FFFFFF"/>
                </a:solidFill>
                <a:latin typeface="Cambria" pitchFamily="34" charset="0"/>
                <a:ea typeface="Cambria" pitchFamily="34" charset="-122"/>
                <a:cs typeface="Cambria" pitchFamily="34" charset="-120"/>
              </a:rPr>
              <a:t>Über etwas reden, das man nicht sieht –</a:t>
            </a:r>
            <a:endParaRPr lang="en-US" sz="3000" dirty="0"/>
          </a:p>
          <a:p>
            <a:pPr indent="0" marL="0">
              <a:lnSpc>
                <a:spcPts val="3600"/>
              </a:lnSpc>
              <a:buNone/>
            </a:pPr>
            <a:r>
              <a:rPr lang="en-US" sz="3000" b="1" dirty="0">
                <a:solidFill>
                  <a:srgbClr val="FFFFFF"/>
                </a:solidFill>
                <a:latin typeface="Cambria" pitchFamily="34" charset="0"/>
                <a:ea typeface="Cambria" pitchFamily="34" charset="-122"/>
                <a:cs typeface="Cambria" pitchFamily="34" charset="-120"/>
              </a:rPr>
              <a:t>damit es kein Schweigen mehr braucht.</a:t>
            </a:r>
            <a:endParaRPr lang="en-US" sz="3000" dirty="0"/>
          </a:p>
        </p:txBody>
      </p:sp>
      <p:sp>
        <p:nvSpPr>
          <p:cNvPr id="4" name="Shape 2"/>
          <p:cNvSpPr/>
          <p:nvPr/>
        </p:nvSpPr>
        <p:spPr>
          <a:xfrm>
            <a:off x="566928" y="2788920"/>
            <a:ext cx="3520440" cy="2743200"/>
          </a:xfrm>
          <a:prstGeom prst="roundRect">
            <a:avLst>
              <a:gd name="adj" fmla="val 3333"/>
            </a:avLst>
          </a:prstGeom>
          <a:solidFill>
            <a:srgbClr val="35545C"/>
          </a:solidFill>
          <a:ln w="12700">
            <a:solidFill>
              <a:srgbClr val="436A72"/>
            </a:solidFill>
            <a:prstDash val="solid"/>
          </a:ln>
        </p:spPr>
      </p:sp>
      <p:sp>
        <p:nvSpPr>
          <p:cNvPr id="5" name="Shape 3"/>
          <p:cNvSpPr/>
          <p:nvPr/>
        </p:nvSpPr>
        <p:spPr>
          <a:xfrm>
            <a:off x="886968" y="3108960"/>
            <a:ext cx="777240" cy="77724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089050" y="3311042"/>
            <a:ext cx="373075" cy="373075"/>
          </a:xfrm>
          <a:prstGeom prst="rect">
            <a:avLst/>
          </a:prstGeom>
        </p:spPr>
      </p:pic>
      <p:sp>
        <p:nvSpPr>
          <p:cNvPr id="7" name="Text 4"/>
          <p:cNvSpPr/>
          <p:nvPr/>
        </p:nvSpPr>
        <p:spPr>
          <a:xfrm>
            <a:off x="841248"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~1 von 4</a:t>
            </a:r>
            <a:endParaRPr lang="en-US" sz="3000" dirty="0"/>
          </a:p>
        </p:txBody>
      </p:sp>
      <p:sp>
        <p:nvSpPr>
          <p:cNvPr id="8" name="Text 5"/>
          <p:cNvSpPr/>
          <p:nvPr/>
        </p:nvSpPr>
        <p:spPr>
          <a:xfrm>
            <a:off x="886968"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Menschen in Österreich ist im Lauf eines Jahres psychisch belastet oder erkrankt.</a:t>
            </a:r>
            <a:endParaRPr lang="en-US" sz="1350" dirty="0"/>
          </a:p>
        </p:txBody>
      </p:sp>
      <p:sp>
        <p:nvSpPr>
          <p:cNvPr id="9" name="Shape 6"/>
          <p:cNvSpPr/>
          <p:nvPr/>
        </p:nvSpPr>
        <p:spPr>
          <a:xfrm>
            <a:off x="4343400" y="2788920"/>
            <a:ext cx="3520440" cy="2743200"/>
          </a:xfrm>
          <a:prstGeom prst="roundRect">
            <a:avLst>
              <a:gd name="adj" fmla="val 3333"/>
            </a:avLst>
          </a:prstGeom>
          <a:solidFill>
            <a:srgbClr val="35545C"/>
          </a:solidFill>
          <a:ln w="12700">
            <a:solidFill>
              <a:srgbClr val="436A72"/>
            </a:solidFill>
            <a:prstDash val="solid"/>
          </a:ln>
        </p:spPr>
      </p:sp>
      <p:sp>
        <p:nvSpPr>
          <p:cNvPr id="10" name="Shape 7"/>
          <p:cNvSpPr/>
          <p:nvPr/>
        </p:nvSpPr>
        <p:spPr>
          <a:xfrm>
            <a:off x="4663440" y="3108960"/>
            <a:ext cx="777240" cy="77724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4865522" y="3311042"/>
            <a:ext cx="373075" cy="373075"/>
          </a:xfrm>
          <a:prstGeom prst="rect">
            <a:avLst/>
          </a:prstGeom>
        </p:spPr>
      </p:pic>
      <p:sp>
        <p:nvSpPr>
          <p:cNvPr id="12" name="Text 8"/>
          <p:cNvSpPr/>
          <p:nvPr/>
        </p:nvSpPr>
        <p:spPr>
          <a:xfrm>
            <a:off x="4617720"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unsichtbar</a:t>
            </a:r>
            <a:endParaRPr lang="en-US" sz="3000" dirty="0"/>
          </a:p>
        </p:txBody>
      </p:sp>
      <p:sp>
        <p:nvSpPr>
          <p:cNvPr id="13" name="Text 9"/>
          <p:cNvSpPr/>
          <p:nvPr/>
        </p:nvSpPr>
        <p:spPr>
          <a:xfrm>
            <a:off x="4663440"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Die meisten Erkrankungen sieht man niemandem an – deshalb bleiben sie oft unerkannt.</a:t>
            </a:r>
            <a:endParaRPr lang="en-US" sz="1350" dirty="0"/>
          </a:p>
        </p:txBody>
      </p:sp>
      <p:sp>
        <p:nvSpPr>
          <p:cNvPr id="14" name="Shape 10"/>
          <p:cNvSpPr/>
          <p:nvPr/>
        </p:nvSpPr>
        <p:spPr>
          <a:xfrm>
            <a:off x="8119872" y="2788920"/>
            <a:ext cx="3520440" cy="2743200"/>
          </a:xfrm>
          <a:prstGeom prst="roundRect">
            <a:avLst>
              <a:gd name="adj" fmla="val 3333"/>
            </a:avLst>
          </a:prstGeom>
          <a:solidFill>
            <a:srgbClr val="35545C"/>
          </a:solidFill>
          <a:ln w="12700">
            <a:solidFill>
              <a:srgbClr val="436A72"/>
            </a:solidFill>
            <a:prstDash val="solid"/>
          </a:ln>
        </p:spPr>
      </p:sp>
      <p:sp>
        <p:nvSpPr>
          <p:cNvPr id="15" name="Shape 11"/>
          <p:cNvSpPr/>
          <p:nvPr/>
        </p:nvSpPr>
        <p:spPr>
          <a:xfrm>
            <a:off x="8439912" y="3108960"/>
            <a:ext cx="777240" cy="777240"/>
          </a:xfrm>
          <a:prstGeom prst="ellipse">
            <a:avLst/>
          </a:prstGeom>
          <a:solidFill>
            <a:srgbClr val="D99A5B"/>
          </a:solidFill>
          <a:ln/>
        </p:spPr>
      </p:sp>
      <p:pic>
        <p:nvPicPr>
          <p:cNvPr id="16" name="Image 2" descr="preencoded.png">    </p:cNvPr>
          <p:cNvPicPr>
            <a:picLocks noChangeAspect="1"/>
          </p:cNvPicPr>
          <p:nvPr/>
        </p:nvPicPr>
        <p:blipFill>
          <a:blip r:embed="rId3"/>
          <a:stretch>
            <a:fillRect/>
          </a:stretch>
        </p:blipFill>
        <p:spPr>
          <a:xfrm>
            <a:off x="8641994" y="3311042"/>
            <a:ext cx="373075" cy="373075"/>
          </a:xfrm>
          <a:prstGeom prst="rect">
            <a:avLst/>
          </a:prstGeom>
        </p:spPr>
      </p:pic>
      <p:sp>
        <p:nvSpPr>
          <p:cNvPr id="17" name="Text 12"/>
          <p:cNvSpPr/>
          <p:nvPr/>
        </p:nvSpPr>
        <p:spPr>
          <a:xfrm>
            <a:off x="8394192"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Schweigen</a:t>
            </a:r>
            <a:endParaRPr lang="en-US" sz="3000" dirty="0"/>
          </a:p>
        </p:txBody>
      </p:sp>
      <p:sp>
        <p:nvSpPr>
          <p:cNvPr id="18" name="Text 13"/>
          <p:cNvSpPr/>
          <p:nvPr/>
        </p:nvSpPr>
        <p:spPr>
          <a:xfrm>
            <a:off x="8439912"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Aus Scham und Angst vor Stigma sprechen viele erst spät – oder gar nicht.</a:t>
            </a:r>
            <a:endParaRPr lang="en-US" sz="1350" dirty="0"/>
          </a:p>
        </p:txBody>
      </p:sp>
      <p:sp>
        <p:nvSpPr>
          <p:cNvPr id="20"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IHRE STIMME ZÄHLT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möchten Sie heute mitnehmen?</a:t>
            </a:r>
            <a:endParaRPr lang="en-US" sz="3300" dirty="0"/>
          </a:p>
        </p:txBody>
      </p:sp>
      <p:sp>
        <p:nvSpPr>
          <p:cNvPr id="4" name="Shape 2"/>
          <p:cNvSpPr/>
          <p:nvPr/>
        </p:nvSpPr>
        <p:spPr>
          <a:xfrm>
            <a:off x="566928" y="1783080"/>
            <a:ext cx="5486400" cy="3931920"/>
          </a:xfrm>
          <a:prstGeom prst="roundRect">
            <a:avLst>
              <a:gd name="adj" fmla="val 2326"/>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32688" y="210312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134770" y="2305202"/>
            <a:ext cx="373075" cy="373075"/>
          </a:xfrm>
          <a:prstGeom prst="rect">
            <a:avLst/>
          </a:prstGeom>
        </p:spPr>
      </p:pic>
      <p:sp>
        <p:nvSpPr>
          <p:cNvPr id="7" name="Text 4"/>
          <p:cNvSpPr/>
          <p:nvPr/>
        </p:nvSpPr>
        <p:spPr>
          <a:xfrm>
            <a:off x="1938528" y="2212848"/>
            <a:ext cx="3657600" cy="54864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Kurze Runde</a:t>
            </a:r>
            <a:endParaRPr lang="en-US" sz="2000" dirty="0"/>
          </a:p>
        </p:txBody>
      </p:sp>
      <p:sp>
        <p:nvSpPr>
          <p:cNvPr id="8" name="Text 5"/>
          <p:cNvSpPr/>
          <p:nvPr/>
        </p:nvSpPr>
        <p:spPr>
          <a:xfrm>
            <a:off x="1024128" y="3063240"/>
            <a:ext cx="4754880" cy="2377440"/>
          </a:xfrm>
          <a:prstGeom prst="rect">
            <a:avLst/>
          </a:prstGeom>
          <a:noFill/>
          <a:ln/>
        </p:spPr>
        <p:txBody>
          <a:bodyPr wrap="square" rtlCol="0" anchor="ctr"/>
          <a:lstStyle/>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Was hat Sie hierher geführt?</a:t>
            </a:r>
            <a:endParaRPr lang="en-US" sz="1500" dirty="0"/>
          </a:p>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Kennen Sie jemanden mit einer psychischen Erkrankung?</a:t>
            </a:r>
            <a:endParaRPr lang="en-US" sz="1500" dirty="0"/>
          </a:p>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Was wäre für Sie heute ein guter Tag?</a:t>
            </a:r>
            <a:endParaRPr lang="en-US" sz="1500" dirty="0"/>
          </a:p>
          <a:p>
            <a:pPr marL="342900" indent="-342900">
              <a:buSzPct val="100000"/>
              <a:buChar char="•"/>
            </a:pPr>
            <a:r>
              <a:rPr lang="en-US" sz="1500" dirty="0">
                <a:solidFill>
                  <a:srgbClr val="233139"/>
                </a:solidFill>
                <a:latin typeface="Calibri" pitchFamily="34" charset="0"/>
                <a:ea typeface="Calibri" pitchFamily="34" charset="-122"/>
                <a:cs typeface="Calibri" pitchFamily="34" charset="-120"/>
              </a:rPr>
              <a:t>Gibt es eine Frage, die Sie schon lange beschäftigt?</a:t>
            </a:r>
            <a:endParaRPr lang="en-US" sz="1500" dirty="0"/>
          </a:p>
        </p:txBody>
      </p:sp>
      <p:sp>
        <p:nvSpPr>
          <p:cNvPr id="9" name="Shape 6"/>
          <p:cNvSpPr/>
          <p:nvPr/>
        </p:nvSpPr>
        <p:spPr>
          <a:xfrm>
            <a:off x="6419088" y="1783080"/>
            <a:ext cx="5205679" cy="3931920"/>
          </a:xfrm>
          <a:prstGeom prst="roundRect">
            <a:avLst>
              <a:gd name="adj" fmla="val 2326"/>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Text 7"/>
          <p:cNvSpPr/>
          <p:nvPr/>
        </p:nvSpPr>
        <p:spPr>
          <a:xfrm>
            <a:off x="6784848" y="2103120"/>
            <a:ext cx="45720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So sammeln wir</a:t>
            </a:r>
            <a:endParaRPr lang="en-US" sz="1800" dirty="0"/>
          </a:p>
        </p:txBody>
      </p:sp>
      <p:sp>
        <p:nvSpPr>
          <p:cNvPr id="11" name="Text 8"/>
          <p:cNvSpPr/>
          <p:nvPr/>
        </p:nvSpPr>
        <p:spPr>
          <a:xfrm>
            <a:off x="6784848" y="2743200"/>
            <a:ext cx="4572000" cy="2194560"/>
          </a:xfrm>
          <a:prstGeom prst="rect">
            <a:avLst/>
          </a:prstGeom>
          <a:noFill/>
          <a:ln/>
        </p:spPr>
        <p:txBody>
          <a:bodyPr wrap="square" rtlCol="0" anchor="ctr"/>
          <a:lstStyle/>
          <a:p>
            <a:pPr marL="342900" indent="-342900">
              <a:spcAft>
                <a:spcPts val="900"/>
              </a:spcAft>
              <a:buSzPct val="100000"/>
              <a:buChar char="•"/>
            </a:pPr>
            <a:r>
              <a:rPr lang="en-US" sz="1500" dirty="0">
                <a:solidFill>
                  <a:srgbClr val="E7EFEC"/>
                </a:solidFill>
                <a:latin typeface="Calibri" pitchFamily="34" charset="0"/>
                <a:ea typeface="Calibri" pitchFamily="34" charset="-122"/>
                <a:cs typeface="Calibri" pitchFamily="34" charset="-120"/>
              </a:rPr>
              <a:t>Zuruf oder auf Moderationskarten</a:t>
            </a:r>
            <a:endParaRPr lang="en-US" sz="1500" dirty="0"/>
          </a:p>
          <a:p>
            <a:pPr marL="342900" indent="-342900">
              <a:spcAft>
                <a:spcPts val="900"/>
              </a:spcAft>
              <a:buSzPct val="100000"/>
              <a:buChar char="•"/>
            </a:pPr>
            <a:r>
              <a:rPr lang="en-US" sz="1500" dirty="0">
                <a:solidFill>
                  <a:srgbClr val="E7EFEC"/>
                </a:solidFill>
                <a:latin typeface="Calibri" pitchFamily="34" charset="0"/>
                <a:ea typeface="Calibri" pitchFamily="34" charset="-122"/>
                <a:cs typeface="Calibri" pitchFamily="34" charset="-120"/>
              </a:rPr>
              <a:t>An Pinnwand / Flipchart sichtbar machen</a:t>
            </a:r>
            <a:endParaRPr lang="en-US" sz="1500" dirty="0"/>
          </a:p>
          <a:p>
            <a:pPr marL="342900" indent="-342900">
              <a:buSzPct val="100000"/>
              <a:buChar char="•"/>
            </a:pPr>
            <a:r>
              <a:rPr lang="en-US" sz="1500" dirty="0">
                <a:solidFill>
                  <a:srgbClr val="E7EFEC"/>
                </a:solidFill>
                <a:latin typeface="Calibri" pitchFamily="34" charset="0"/>
                <a:ea typeface="Calibri" pitchFamily="34" charset="-122"/>
                <a:cs typeface="Calibri" pitchFamily="34" charset="-120"/>
              </a:rPr>
              <a:t>Am Ende gemeinsam prüfen: erfüllt?</a:t>
            </a:r>
            <a:endParaRPr lang="en-US" sz="1500" dirty="0"/>
          </a:p>
        </p:txBody>
      </p:sp>
      <p:sp>
        <p:nvSpPr>
          <p:cNvPr id="13" name="Text 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4" name="Text 1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DAMIT SICH ALLE SICHER FÜHLEN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Unser Miteinander heute</a:t>
            </a:r>
            <a:endParaRPr lang="en-US" sz="3300" dirty="0"/>
          </a:p>
        </p:txBody>
      </p:sp>
      <p:sp>
        <p:nvSpPr>
          <p:cNvPr id="4" name="Shape 2"/>
          <p:cNvSpPr/>
          <p:nvPr/>
        </p:nvSpPr>
        <p:spPr>
          <a:xfrm>
            <a:off x="566928"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59536" y="2048256"/>
            <a:ext cx="640080" cy="64008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25957" y="2214677"/>
            <a:ext cx="307238" cy="307238"/>
          </a:xfrm>
          <a:prstGeom prst="rect">
            <a:avLst/>
          </a:prstGeom>
        </p:spPr>
      </p:pic>
      <p:sp>
        <p:nvSpPr>
          <p:cNvPr id="7" name="Text 4"/>
          <p:cNvSpPr/>
          <p:nvPr/>
        </p:nvSpPr>
        <p:spPr>
          <a:xfrm>
            <a:off x="1618488"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Vertraulichkeit</a:t>
            </a:r>
            <a:endParaRPr lang="en-US" sz="1650" dirty="0"/>
          </a:p>
        </p:txBody>
      </p:sp>
      <p:sp>
        <p:nvSpPr>
          <p:cNvPr id="8" name="Text 5"/>
          <p:cNvSpPr/>
          <p:nvPr/>
        </p:nvSpPr>
        <p:spPr>
          <a:xfrm>
            <a:off x="859536"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Was hier gesagt wird, bleibt hier. Geschichten gehören denen, die sie erzählen.</a:t>
            </a:r>
            <a:endParaRPr lang="en-US" sz="1250" dirty="0"/>
          </a:p>
        </p:txBody>
      </p:sp>
      <p:sp>
        <p:nvSpPr>
          <p:cNvPr id="9" name="Shape 6"/>
          <p:cNvSpPr/>
          <p:nvPr/>
        </p:nvSpPr>
        <p:spPr>
          <a:xfrm>
            <a:off x="4279392"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4572000" y="2048256"/>
            <a:ext cx="640080" cy="64008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4738421" y="2214677"/>
            <a:ext cx="307238" cy="307238"/>
          </a:xfrm>
          <a:prstGeom prst="rect">
            <a:avLst/>
          </a:prstGeom>
        </p:spPr>
      </p:pic>
      <p:sp>
        <p:nvSpPr>
          <p:cNvPr id="12" name="Text 8"/>
          <p:cNvSpPr/>
          <p:nvPr/>
        </p:nvSpPr>
        <p:spPr>
          <a:xfrm>
            <a:off x="5330952"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Respekt</a:t>
            </a:r>
            <a:endParaRPr lang="en-US" sz="1650" dirty="0"/>
          </a:p>
        </p:txBody>
      </p:sp>
      <p:sp>
        <p:nvSpPr>
          <p:cNvPr id="13" name="Text 9"/>
          <p:cNvSpPr/>
          <p:nvPr/>
        </p:nvSpPr>
        <p:spPr>
          <a:xfrm>
            <a:off x="4572000"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Keine Bewertung, kein Auslachen. Jede Erfahrung ist gültig.</a:t>
            </a:r>
            <a:endParaRPr lang="en-US" sz="1250" dirty="0"/>
          </a:p>
        </p:txBody>
      </p:sp>
      <p:sp>
        <p:nvSpPr>
          <p:cNvPr id="14" name="Shape 10"/>
          <p:cNvSpPr/>
          <p:nvPr/>
        </p:nvSpPr>
        <p:spPr>
          <a:xfrm>
            <a:off x="7991856"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284464" y="2048256"/>
            <a:ext cx="640080" cy="64008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8450885" y="2214677"/>
            <a:ext cx="307238" cy="307238"/>
          </a:xfrm>
          <a:prstGeom prst="rect">
            <a:avLst/>
          </a:prstGeom>
        </p:spPr>
      </p:pic>
      <p:sp>
        <p:nvSpPr>
          <p:cNvPr id="17" name="Text 12"/>
          <p:cNvSpPr/>
          <p:nvPr/>
        </p:nvSpPr>
        <p:spPr>
          <a:xfrm>
            <a:off x="9043416"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Ich-Botschaften</a:t>
            </a:r>
            <a:endParaRPr lang="en-US" sz="1650" dirty="0"/>
          </a:p>
        </p:txBody>
      </p:sp>
      <p:sp>
        <p:nvSpPr>
          <p:cNvPr id="18" name="Text 13"/>
          <p:cNvSpPr/>
          <p:nvPr/>
        </p:nvSpPr>
        <p:spPr>
          <a:xfrm>
            <a:off x="8284464"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Wir sprechen von uns – nicht über ‚die‘ Betroffenen.</a:t>
            </a:r>
            <a:endParaRPr lang="en-US" sz="1250" dirty="0"/>
          </a:p>
        </p:txBody>
      </p:sp>
      <p:sp>
        <p:nvSpPr>
          <p:cNvPr id="19" name="Shape 14"/>
          <p:cNvSpPr/>
          <p:nvPr/>
        </p:nvSpPr>
        <p:spPr>
          <a:xfrm>
            <a:off x="566928"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859536" y="4041648"/>
            <a:ext cx="640080" cy="640080"/>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1025957" y="4208069"/>
            <a:ext cx="307238" cy="307238"/>
          </a:xfrm>
          <a:prstGeom prst="rect">
            <a:avLst/>
          </a:prstGeom>
        </p:spPr>
      </p:pic>
      <p:sp>
        <p:nvSpPr>
          <p:cNvPr id="22" name="Text 16"/>
          <p:cNvSpPr/>
          <p:nvPr/>
        </p:nvSpPr>
        <p:spPr>
          <a:xfrm>
            <a:off x="1618488"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Freiwilligkeit</a:t>
            </a:r>
            <a:endParaRPr lang="en-US" sz="1650" dirty="0"/>
          </a:p>
        </p:txBody>
      </p:sp>
      <p:sp>
        <p:nvSpPr>
          <p:cNvPr id="23" name="Text 17"/>
          <p:cNvSpPr/>
          <p:nvPr/>
        </p:nvSpPr>
        <p:spPr>
          <a:xfrm>
            <a:off x="859536"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Mitmachen ja, Aussteigen jederzeit. Passen ist erlaubt.</a:t>
            </a:r>
            <a:endParaRPr lang="en-US" sz="1250" dirty="0"/>
          </a:p>
        </p:txBody>
      </p:sp>
      <p:sp>
        <p:nvSpPr>
          <p:cNvPr id="24" name="Shape 18"/>
          <p:cNvSpPr/>
          <p:nvPr/>
        </p:nvSpPr>
        <p:spPr>
          <a:xfrm>
            <a:off x="4279392"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4572000" y="4041648"/>
            <a:ext cx="640080" cy="640080"/>
          </a:xfrm>
          <a:prstGeom prst="ellipse">
            <a:avLst/>
          </a:prstGeom>
          <a:solidFill>
            <a:srgbClr val="84B59F"/>
          </a:solidFill>
          <a:ln/>
        </p:spPr>
      </p:sp>
      <p:pic>
        <p:nvPicPr>
          <p:cNvPr id="26" name="Image 4" descr="preencoded.png">    </p:cNvPr>
          <p:cNvPicPr>
            <a:picLocks noChangeAspect="1"/>
          </p:cNvPicPr>
          <p:nvPr/>
        </p:nvPicPr>
        <p:blipFill>
          <a:blip r:embed="rId5"/>
          <a:stretch>
            <a:fillRect/>
          </a:stretch>
        </p:blipFill>
        <p:spPr>
          <a:xfrm>
            <a:off x="4738421" y="4208069"/>
            <a:ext cx="307238" cy="307238"/>
          </a:xfrm>
          <a:prstGeom prst="rect">
            <a:avLst/>
          </a:prstGeom>
        </p:spPr>
      </p:pic>
      <p:sp>
        <p:nvSpPr>
          <p:cNvPr id="27" name="Text 20"/>
          <p:cNvSpPr/>
          <p:nvPr/>
        </p:nvSpPr>
        <p:spPr>
          <a:xfrm>
            <a:off x="5330952"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Ausreden lassen</a:t>
            </a:r>
            <a:endParaRPr lang="en-US" sz="1650" dirty="0"/>
          </a:p>
        </p:txBody>
      </p:sp>
      <p:sp>
        <p:nvSpPr>
          <p:cNvPr id="28" name="Text 21"/>
          <p:cNvSpPr/>
          <p:nvPr/>
        </p:nvSpPr>
        <p:spPr>
          <a:xfrm>
            <a:off x="4572000"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Einer spricht, die anderen hören zu. Kein Wettbewerb um Leid.</a:t>
            </a:r>
            <a:endParaRPr lang="en-US" sz="1250" dirty="0"/>
          </a:p>
        </p:txBody>
      </p:sp>
      <p:sp>
        <p:nvSpPr>
          <p:cNvPr id="29" name="Shape 22"/>
          <p:cNvSpPr/>
          <p:nvPr/>
        </p:nvSpPr>
        <p:spPr>
          <a:xfrm>
            <a:off x="7991856"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30" name="Shape 23"/>
          <p:cNvSpPr/>
          <p:nvPr/>
        </p:nvSpPr>
        <p:spPr>
          <a:xfrm>
            <a:off x="8284464" y="4041648"/>
            <a:ext cx="640080" cy="640080"/>
          </a:xfrm>
          <a:prstGeom prst="ellipse">
            <a:avLst/>
          </a:prstGeom>
          <a:solidFill>
            <a:srgbClr val="84B59F"/>
          </a:solidFill>
          <a:ln/>
        </p:spPr>
      </p:sp>
      <p:pic>
        <p:nvPicPr>
          <p:cNvPr id="31" name="Image 5" descr="preencoded.png">    </p:cNvPr>
          <p:cNvPicPr>
            <a:picLocks noChangeAspect="1"/>
          </p:cNvPicPr>
          <p:nvPr/>
        </p:nvPicPr>
        <p:blipFill>
          <a:blip r:embed="rId6"/>
          <a:stretch>
            <a:fillRect/>
          </a:stretch>
        </p:blipFill>
        <p:spPr>
          <a:xfrm>
            <a:off x="8450885" y="4208069"/>
            <a:ext cx="307238" cy="307238"/>
          </a:xfrm>
          <a:prstGeom prst="rect">
            <a:avLst/>
          </a:prstGeom>
        </p:spPr>
      </p:pic>
      <p:sp>
        <p:nvSpPr>
          <p:cNvPr id="32" name="Text 24"/>
          <p:cNvSpPr/>
          <p:nvPr/>
        </p:nvSpPr>
        <p:spPr>
          <a:xfrm>
            <a:off x="9043416"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Neugier statt Urteil</a:t>
            </a:r>
            <a:endParaRPr lang="en-US" sz="1650" dirty="0"/>
          </a:p>
        </p:txBody>
      </p:sp>
      <p:sp>
        <p:nvSpPr>
          <p:cNvPr id="33" name="Text 25"/>
          <p:cNvSpPr/>
          <p:nvPr/>
        </p:nvSpPr>
        <p:spPr>
          <a:xfrm>
            <a:off x="8284464"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Fragen sind willkommen – auch die vermeintlich ‚dummen‘.</a:t>
            </a:r>
            <a:endParaRPr lang="en-US" sz="1250" dirty="0"/>
          </a:p>
        </p:txBody>
      </p:sp>
      <p:sp>
        <p:nvSpPr>
          <p:cNvPr id="35"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6"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353B"/>
        </a:solidFill>
      </p:bgPr>
    </p:bg>
    <p:spTree>
      <p:nvGrpSpPr>
        <p:cNvPr id="1" name=""/>
        <p:cNvGrpSpPr/>
        <p:nvPr/>
      </p:nvGrpSpPr>
      <p:grpSpPr>
        <a:xfrm>
          <a:off x="0" y="0"/>
          <a:ext cx="0" cy="0"/>
          <a:chOff x="0" y="0"/>
          <a:chExt cx="0" cy="0"/>
        </a:xfrm>
      </p:grpSpPr>
      <p:sp>
        <p:nvSpPr>
          <p:cNvPr id="2" name="Text 0"/>
          <p:cNvSpPr/>
          <p:nvPr/>
        </p:nvSpPr>
        <p:spPr>
          <a:xfrm>
            <a:off x="566928" y="548640"/>
            <a:ext cx="1005840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MODUL 2  ·  WAS SIND PSYCHISCHE ERKRANKUNGEN?</a:t>
            </a:r>
            <a:endParaRPr lang="en-US" sz="1200" dirty="0"/>
          </a:p>
        </p:txBody>
      </p:sp>
      <p:sp>
        <p:nvSpPr>
          <p:cNvPr id="3" name="Text 1"/>
          <p:cNvSpPr/>
          <p:nvPr/>
        </p:nvSpPr>
        <p:spPr>
          <a:xfrm>
            <a:off x="566928" y="896112"/>
            <a:ext cx="10972800" cy="64008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Häufiger, als die meisten denken</a:t>
            </a:r>
            <a:endParaRPr lang="en-US" sz="3200" dirty="0"/>
          </a:p>
        </p:txBody>
      </p:sp>
      <p:sp>
        <p:nvSpPr>
          <p:cNvPr id="4" name="Shape 2"/>
          <p:cNvSpPr/>
          <p:nvPr/>
        </p:nvSpPr>
        <p:spPr>
          <a:xfrm>
            <a:off x="566928" y="1920240"/>
            <a:ext cx="5394960" cy="1600200"/>
          </a:xfrm>
          <a:prstGeom prst="roundRect">
            <a:avLst>
              <a:gd name="adj" fmla="val 5714"/>
            </a:avLst>
          </a:prstGeom>
          <a:solidFill>
            <a:srgbClr val="2A474E"/>
          </a:solidFill>
          <a:ln w="12700">
            <a:solidFill>
              <a:srgbClr val="3C5C63"/>
            </a:solidFill>
            <a:prstDash val="solid"/>
          </a:ln>
        </p:spPr>
      </p:sp>
      <p:sp>
        <p:nvSpPr>
          <p:cNvPr id="5" name="Text 3"/>
          <p:cNvSpPr/>
          <p:nvPr/>
        </p:nvSpPr>
        <p:spPr>
          <a:xfrm>
            <a:off x="886968" y="212140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ca. 1 von 4</a:t>
            </a:r>
            <a:endParaRPr lang="en-US" sz="3400" dirty="0"/>
          </a:p>
        </p:txBody>
      </p:sp>
      <p:sp>
        <p:nvSpPr>
          <p:cNvPr id="6" name="Text 4"/>
          <p:cNvSpPr/>
          <p:nvPr/>
        </p:nvSpPr>
        <p:spPr>
          <a:xfrm>
            <a:off x="905256" y="281635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Menschen in Österreich ist pro Jahr betroffen</a:t>
            </a:r>
            <a:endParaRPr lang="en-US" sz="1400" dirty="0"/>
          </a:p>
        </p:txBody>
      </p:sp>
      <p:sp>
        <p:nvSpPr>
          <p:cNvPr id="7" name="Shape 5"/>
          <p:cNvSpPr/>
          <p:nvPr/>
        </p:nvSpPr>
        <p:spPr>
          <a:xfrm>
            <a:off x="6281928" y="1920240"/>
            <a:ext cx="5394960" cy="1600200"/>
          </a:xfrm>
          <a:prstGeom prst="roundRect">
            <a:avLst>
              <a:gd name="adj" fmla="val 5714"/>
            </a:avLst>
          </a:prstGeom>
          <a:solidFill>
            <a:srgbClr val="2A474E"/>
          </a:solidFill>
          <a:ln w="12700">
            <a:solidFill>
              <a:srgbClr val="3C5C63"/>
            </a:solidFill>
            <a:prstDash val="solid"/>
          </a:ln>
        </p:spPr>
      </p:sp>
      <p:sp>
        <p:nvSpPr>
          <p:cNvPr id="8" name="Text 6"/>
          <p:cNvSpPr/>
          <p:nvPr/>
        </p:nvSpPr>
        <p:spPr>
          <a:xfrm>
            <a:off x="6601968" y="212140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~730.000</a:t>
            </a:r>
            <a:endParaRPr lang="en-US" sz="3400" dirty="0"/>
          </a:p>
        </p:txBody>
      </p:sp>
      <p:sp>
        <p:nvSpPr>
          <p:cNvPr id="9" name="Text 7"/>
          <p:cNvSpPr/>
          <p:nvPr/>
        </p:nvSpPr>
        <p:spPr>
          <a:xfrm>
            <a:off x="6620256" y="281635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Menschen leben mit einer Depression</a:t>
            </a:r>
            <a:endParaRPr lang="en-US" sz="1400" dirty="0"/>
          </a:p>
        </p:txBody>
      </p:sp>
      <p:sp>
        <p:nvSpPr>
          <p:cNvPr id="10" name="Shape 8"/>
          <p:cNvSpPr/>
          <p:nvPr/>
        </p:nvSpPr>
        <p:spPr>
          <a:xfrm>
            <a:off x="566928" y="3840480"/>
            <a:ext cx="5394960" cy="1600200"/>
          </a:xfrm>
          <a:prstGeom prst="roundRect">
            <a:avLst>
              <a:gd name="adj" fmla="val 5714"/>
            </a:avLst>
          </a:prstGeom>
          <a:solidFill>
            <a:srgbClr val="2A474E"/>
          </a:solidFill>
          <a:ln w="12700">
            <a:solidFill>
              <a:srgbClr val="3C5C63"/>
            </a:solidFill>
            <a:prstDash val="solid"/>
          </a:ln>
        </p:spPr>
      </p:sp>
      <p:sp>
        <p:nvSpPr>
          <p:cNvPr id="11" name="Text 9"/>
          <p:cNvSpPr/>
          <p:nvPr/>
        </p:nvSpPr>
        <p:spPr>
          <a:xfrm>
            <a:off x="886968" y="404164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Nr. 1</a:t>
            </a:r>
            <a:endParaRPr lang="en-US" sz="3400" dirty="0"/>
          </a:p>
        </p:txBody>
      </p:sp>
      <p:sp>
        <p:nvSpPr>
          <p:cNvPr id="12" name="Text 10"/>
          <p:cNvSpPr/>
          <p:nvPr/>
        </p:nvSpPr>
        <p:spPr>
          <a:xfrm>
            <a:off x="905256" y="473659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Angststörungen: die häufigste psychische Erkrankung</a:t>
            </a:r>
            <a:endParaRPr lang="en-US" sz="1400" dirty="0"/>
          </a:p>
        </p:txBody>
      </p:sp>
      <p:sp>
        <p:nvSpPr>
          <p:cNvPr id="13" name="Shape 11"/>
          <p:cNvSpPr/>
          <p:nvPr/>
        </p:nvSpPr>
        <p:spPr>
          <a:xfrm>
            <a:off x="6281928" y="3840480"/>
            <a:ext cx="5394960" cy="1600200"/>
          </a:xfrm>
          <a:prstGeom prst="roundRect">
            <a:avLst>
              <a:gd name="adj" fmla="val 5714"/>
            </a:avLst>
          </a:prstGeom>
          <a:solidFill>
            <a:srgbClr val="2A474E"/>
          </a:solidFill>
          <a:ln w="12700">
            <a:solidFill>
              <a:srgbClr val="3C5C63"/>
            </a:solidFill>
            <a:prstDash val="solid"/>
          </a:ln>
        </p:spPr>
      </p:sp>
      <p:sp>
        <p:nvSpPr>
          <p:cNvPr id="14" name="Text 12"/>
          <p:cNvSpPr/>
          <p:nvPr/>
        </p:nvSpPr>
        <p:spPr>
          <a:xfrm>
            <a:off x="6601968" y="404164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Top 3</a:t>
            </a:r>
            <a:endParaRPr lang="en-US" sz="3400" dirty="0"/>
          </a:p>
        </p:txBody>
      </p:sp>
      <p:sp>
        <p:nvSpPr>
          <p:cNvPr id="15" name="Text 13"/>
          <p:cNvSpPr/>
          <p:nvPr/>
        </p:nvSpPr>
        <p:spPr>
          <a:xfrm>
            <a:off x="6620256" y="473659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psychische Leiden zählen zu den häufigsten Gründen für Krankenstand &amp; Frühpension</a:t>
            </a:r>
            <a:endParaRPr lang="en-US" sz="1400" dirty="0"/>
          </a:p>
        </p:txBody>
      </p:sp>
      <p:sp>
        <p:nvSpPr>
          <p:cNvPr id="16" name="Text 14"/>
          <p:cNvSpPr/>
          <p:nvPr/>
        </p:nvSpPr>
        <p:spPr>
          <a:xfrm>
            <a:off x="566928" y="5989320"/>
            <a:ext cx="11057839" cy="365760"/>
          </a:xfrm>
          <a:prstGeom prst="rect">
            <a:avLst/>
          </a:prstGeom>
          <a:noFill/>
          <a:ln/>
        </p:spPr>
        <p:txBody>
          <a:bodyPr wrap="square" rtlCol="0" anchor="ctr"/>
          <a:lstStyle/>
          <a:p>
            <a:pPr indent="0" marL="0">
              <a:buNone/>
            </a:pPr>
            <a:r>
              <a:rPr lang="en-US" sz="1050" i="1" dirty="0">
                <a:solidFill>
                  <a:srgbClr val="8FA6A8"/>
                </a:solidFill>
                <a:latin typeface="Calibri" pitchFamily="34" charset="0"/>
                <a:ea typeface="Calibri" pitchFamily="34" charset="-122"/>
                <a:cs typeface="Calibri" pitchFamily="34" charset="-120"/>
              </a:rPr>
              <a:t>Zahlen sind Größenordnungen (Quellen u. a. Gesundheit Österreich, Statistik Austria, pro mente) – vor dem Einsatz auf Aktualität prüfen.</a:t>
            </a:r>
            <a:endParaRPr lang="en-US" sz="1050" dirty="0"/>
          </a:p>
        </p:txBody>
      </p:sp>
      <p:sp>
        <p:nvSpPr>
          <p:cNvPr id="18" name="Text 1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9" name="Text 1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WO HÖRT DAS NORMALE AUF?</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Stress · Krise · Erkrankung</a:t>
            </a:r>
            <a:endParaRPr lang="en-US" sz="3300" dirty="0"/>
          </a:p>
        </p:txBody>
      </p:sp>
      <p:sp>
        <p:nvSpPr>
          <p:cNvPr id="4" name="Shape 2"/>
          <p:cNvSpPr/>
          <p:nvPr/>
        </p:nvSpPr>
        <p:spPr>
          <a:xfrm>
            <a:off x="566928"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566928" y="1828800"/>
            <a:ext cx="3520440" cy="146304"/>
          </a:xfrm>
          <a:prstGeom prst="roundRect">
            <a:avLst>
              <a:gd name="adj" fmla="val 37500"/>
            </a:avLst>
          </a:prstGeom>
          <a:solidFill>
            <a:srgbClr val="84B59F"/>
          </a:solidFill>
          <a:ln/>
        </p:spPr>
      </p:sp>
      <p:sp>
        <p:nvSpPr>
          <p:cNvPr id="6" name="Shape 4"/>
          <p:cNvSpPr/>
          <p:nvPr/>
        </p:nvSpPr>
        <p:spPr>
          <a:xfrm>
            <a:off x="886968" y="2194560"/>
            <a:ext cx="731520" cy="731520"/>
          </a:xfrm>
          <a:prstGeom prst="ellipse">
            <a:avLst/>
          </a:prstGeom>
          <a:solidFill>
            <a:srgbClr val="84B59F"/>
          </a:solidFill>
          <a:ln/>
        </p:spPr>
      </p:sp>
      <p:pic>
        <p:nvPicPr>
          <p:cNvPr id="7" name="Image 0" descr="preencoded.png">    </p:cNvPr>
          <p:cNvPicPr>
            <a:picLocks noChangeAspect="1"/>
          </p:cNvPicPr>
          <p:nvPr/>
        </p:nvPicPr>
        <p:blipFill>
          <a:blip r:embed="rId1"/>
          <a:stretch>
            <a:fillRect/>
          </a:stretch>
        </p:blipFill>
        <p:spPr>
          <a:xfrm>
            <a:off x="1077163" y="2384755"/>
            <a:ext cx="351130" cy="351130"/>
          </a:xfrm>
          <a:prstGeom prst="rect">
            <a:avLst/>
          </a:prstGeom>
        </p:spPr>
      </p:pic>
      <p:sp>
        <p:nvSpPr>
          <p:cNvPr id="8" name="Text 5"/>
          <p:cNvSpPr/>
          <p:nvPr/>
        </p:nvSpPr>
        <p:spPr>
          <a:xfrm>
            <a:off x="1755648"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Stress / Belastung</a:t>
            </a:r>
            <a:endParaRPr lang="en-US" sz="1700" dirty="0"/>
          </a:p>
        </p:txBody>
      </p:sp>
      <p:sp>
        <p:nvSpPr>
          <p:cNvPr id="9" name="Text 6"/>
          <p:cNvSpPr/>
          <p:nvPr/>
        </p:nvSpPr>
        <p:spPr>
          <a:xfrm>
            <a:off x="886968"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Eine normale Reaktion auf Anforderung. Geht vorbei, wenn die Belastung endet. Erholung funktioniert.</a:t>
            </a:r>
            <a:endParaRPr lang="en-US" sz="1350" dirty="0"/>
          </a:p>
        </p:txBody>
      </p:sp>
      <p:sp>
        <p:nvSpPr>
          <p:cNvPr id="10" name="Text 7"/>
          <p:cNvSpPr/>
          <p:nvPr/>
        </p:nvSpPr>
        <p:spPr>
          <a:xfrm>
            <a:off x="886968" y="4709160"/>
            <a:ext cx="2926080" cy="548640"/>
          </a:xfrm>
          <a:prstGeom prst="rect">
            <a:avLst/>
          </a:prstGeom>
          <a:noFill/>
          <a:ln/>
        </p:spPr>
        <p:txBody>
          <a:bodyPr wrap="square" rtlCol="0" anchor="ctr"/>
          <a:lstStyle/>
          <a:p>
            <a:pPr indent="0" marL="0">
              <a:buNone/>
            </a:pPr>
            <a:r>
              <a:rPr lang="en-US" sz="1300" i="1" dirty="0">
                <a:solidFill>
                  <a:srgbClr val="5E8A75"/>
                </a:solidFill>
                <a:latin typeface="Calibri" pitchFamily="34" charset="0"/>
                <a:ea typeface="Calibri" pitchFamily="34" charset="-122"/>
                <a:cs typeface="Calibri" pitchFamily="34" charset="-120"/>
              </a:rPr>
              <a:t>„Ich bin gerade viel unterwegs.“</a:t>
            </a:r>
            <a:endParaRPr lang="en-US" sz="1300" dirty="0"/>
          </a:p>
        </p:txBody>
      </p:sp>
      <p:sp>
        <p:nvSpPr>
          <p:cNvPr id="11" name="Shape 8"/>
          <p:cNvSpPr/>
          <p:nvPr/>
        </p:nvSpPr>
        <p:spPr>
          <a:xfrm>
            <a:off x="4343400"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2" name="Shape 9"/>
          <p:cNvSpPr/>
          <p:nvPr/>
        </p:nvSpPr>
        <p:spPr>
          <a:xfrm>
            <a:off x="4343400" y="1828800"/>
            <a:ext cx="3520440" cy="146304"/>
          </a:xfrm>
          <a:prstGeom prst="roundRect">
            <a:avLst>
              <a:gd name="adj" fmla="val 37500"/>
            </a:avLst>
          </a:prstGeom>
          <a:solidFill>
            <a:srgbClr val="D99A5B"/>
          </a:solidFill>
          <a:ln/>
        </p:spPr>
      </p:sp>
      <p:sp>
        <p:nvSpPr>
          <p:cNvPr id="13" name="Shape 10"/>
          <p:cNvSpPr/>
          <p:nvPr/>
        </p:nvSpPr>
        <p:spPr>
          <a:xfrm>
            <a:off x="4663440" y="2194560"/>
            <a:ext cx="731520" cy="731520"/>
          </a:xfrm>
          <a:prstGeom prst="ellipse">
            <a:avLst/>
          </a:prstGeom>
          <a:solidFill>
            <a:srgbClr val="D99A5B"/>
          </a:solidFill>
          <a:ln/>
        </p:spPr>
      </p:sp>
      <p:pic>
        <p:nvPicPr>
          <p:cNvPr id="14" name="Image 1" descr="preencoded.png">    </p:cNvPr>
          <p:cNvPicPr>
            <a:picLocks noChangeAspect="1"/>
          </p:cNvPicPr>
          <p:nvPr/>
        </p:nvPicPr>
        <p:blipFill>
          <a:blip r:embed="rId2"/>
          <a:stretch>
            <a:fillRect/>
          </a:stretch>
        </p:blipFill>
        <p:spPr>
          <a:xfrm>
            <a:off x="4853635" y="2384755"/>
            <a:ext cx="351130" cy="351130"/>
          </a:xfrm>
          <a:prstGeom prst="rect">
            <a:avLst/>
          </a:prstGeom>
        </p:spPr>
      </p:pic>
      <p:sp>
        <p:nvSpPr>
          <p:cNvPr id="15" name="Text 11"/>
          <p:cNvSpPr/>
          <p:nvPr/>
        </p:nvSpPr>
        <p:spPr>
          <a:xfrm>
            <a:off x="5532120"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Krise</a:t>
            </a:r>
            <a:endParaRPr lang="en-US" sz="1700" dirty="0"/>
          </a:p>
        </p:txBody>
      </p:sp>
      <p:sp>
        <p:nvSpPr>
          <p:cNvPr id="16" name="Text 12"/>
          <p:cNvSpPr/>
          <p:nvPr/>
        </p:nvSpPr>
        <p:spPr>
          <a:xfrm>
            <a:off x="4663440"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Ein einschneidendes Ereignis wirft uns aus der Bahn. Zeitlich begrenzt, aber überfordernd. Braucht Unterstützung.</a:t>
            </a:r>
            <a:endParaRPr lang="en-US" sz="1350" dirty="0"/>
          </a:p>
        </p:txBody>
      </p:sp>
      <p:sp>
        <p:nvSpPr>
          <p:cNvPr id="17" name="Text 13"/>
          <p:cNvSpPr/>
          <p:nvPr/>
        </p:nvSpPr>
        <p:spPr>
          <a:xfrm>
            <a:off x="4663440" y="4709160"/>
            <a:ext cx="2926080" cy="548640"/>
          </a:xfrm>
          <a:prstGeom prst="rect">
            <a:avLst/>
          </a:prstGeom>
          <a:noFill/>
          <a:ln/>
        </p:spPr>
        <p:txBody>
          <a:bodyPr wrap="square" rtlCol="0" anchor="ctr"/>
          <a:lstStyle/>
          <a:p>
            <a:pPr indent="0" marL="0">
              <a:buNone/>
            </a:pPr>
            <a:r>
              <a:rPr lang="en-US" sz="1300" i="1" dirty="0">
                <a:solidFill>
                  <a:srgbClr val="B9793B"/>
                </a:solidFill>
                <a:latin typeface="Calibri" pitchFamily="34" charset="0"/>
                <a:ea typeface="Calibri" pitchFamily="34" charset="-122"/>
                <a:cs typeface="Calibri" pitchFamily="34" charset="-120"/>
              </a:rPr>
              <a:t>„Ich weiß gerade nicht weiter.“</a:t>
            </a:r>
            <a:endParaRPr lang="en-US" sz="1300" dirty="0"/>
          </a:p>
        </p:txBody>
      </p:sp>
      <p:sp>
        <p:nvSpPr>
          <p:cNvPr id="18" name="Shape 14"/>
          <p:cNvSpPr/>
          <p:nvPr/>
        </p:nvSpPr>
        <p:spPr>
          <a:xfrm>
            <a:off x="8119872"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9" name="Shape 15"/>
          <p:cNvSpPr/>
          <p:nvPr/>
        </p:nvSpPr>
        <p:spPr>
          <a:xfrm>
            <a:off x="8119872" y="1828800"/>
            <a:ext cx="3520440" cy="146304"/>
          </a:xfrm>
          <a:prstGeom prst="roundRect">
            <a:avLst>
              <a:gd name="adj" fmla="val 37500"/>
            </a:avLst>
          </a:prstGeom>
          <a:solidFill>
            <a:srgbClr val="3F7C79"/>
          </a:solidFill>
          <a:ln/>
        </p:spPr>
      </p:sp>
      <p:sp>
        <p:nvSpPr>
          <p:cNvPr id="20" name="Shape 16"/>
          <p:cNvSpPr/>
          <p:nvPr/>
        </p:nvSpPr>
        <p:spPr>
          <a:xfrm>
            <a:off x="8439912" y="2194560"/>
            <a:ext cx="731520" cy="731520"/>
          </a:xfrm>
          <a:prstGeom prst="ellipse">
            <a:avLst/>
          </a:prstGeom>
          <a:solidFill>
            <a:srgbClr val="3F7C79"/>
          </a:solidFill>
          <a:ln/>
        </p:spPr>
      </p:sp>
      <p:pic>
        <p:nvPicPr>
          <p:cNvPr id="21" name="Image 2" descr="preencoded.png">    </p:cNvPr>
          <p:cNvPicPr>
            <a:picLocks noChangeAspect="1"/>
          </p:cNvPicPr>
          <p:nvPr/>
        </p:nvPicPr>
        <p:blipFill>
          <a:blip r:embed="rId3"/>
          <a:stretch>
            <a:fillRect/>
          </a:stretch>
        </p:blipFill>
        <p:spPr>
          <a:xfrm>
            <a:off x="8630107" y="2384755"/>
            <a:ext cx="351130" cy="351130"/>
          </a:xfrm>
          <a:prstGeom prst="rect">
            <a:avLst/>
          </a:prstGeom>
        </p:spPr>
      </p:pic>
      <p:sp>
        <p:nvSpPr>
          <p:cNvPr id="22" name="Text 17"/>
          <p:cNvSpPr/>
          <p:nvPr/>
        </p:nvSpPr>
        <p:spPr>
          <a:xfrm>
            <a:off x="9308592"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Erkrankung</a:t>
            </a:r>
            <a:endParaRPr lang="en-US" sz="1700" dirty="0"/>
          </a:p>
        </p:txBody>
      </p:sp>
      <p:sp>
        <p:nvSpPr>
          <p:cNvPr id="23" name="Text 18"/>
          <p:cNvSpPr/>
          <p:nvPr/>
        </p:nvSpPr>
        <p:spPr>
          <a:xfrm>
            <a:off x="8439912"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Beschwerden bleiben (Wochen/Monate), belasten den Alltag stark und gehen nicht ‚von selbst‘ weg. Braucht Behandlung.</a:t>
            </a:r>
            <a:endParaRPr lang="en-US" sz="1350" dirty="0"/>
          </a:p>
        </p:txBody>
      </p:sp>
      <p:sp>
        <p:nvSpPr>
          <p:cNvPr id="24" name="Text 19"/>
          <p:cNvSpPr/>
          <p:nvPr/>
        </p:nvSpPr>
        <p:spPr>
          <a:xfrm>
            <a:off x="8439912" y="4709160"/>
            <a:ext cx="2926080" cy="548640"/>
          </a:xfrm>
          <a:prstGeom prst="rect">
            <a:avLst/>
          </a:prstGeom>
          <a:noFill/>
          <a:ln/>
        </p:spPr>
        <p:txBody>
          <a:bodyPr wrap="square" rtlCol="0" anchor="ctr"/>
          <a:lstStyle/>
          <a:p>
            <a:pPr indent="0" marL="0">
              <a:buNone/>
            </a:pPr>
            <a:r>
              <a:rPr lang="en-US" sz="1300" i="1" dirty="0">
                <a:solidFill>
                  <a:srgbClr val="3F7C79"/>
                </a:solidFill>
                <a:latin typeface="Calibri" pitchFamily="34" charset="0"/>
                <a:ea typeface="Calibri" pitchFamily="34" charset="-122"/>
                <a:cs typeface="Calibri" pitchFamily="34" charset="-120"/>
              </a:rPr>
              <a:t>„Ich komme aus eigener Kraft nicht mehr raus.“</a:t>
            </a:r>
            <a:endParaRPr lang="en-US" sz="1300" dirty="0"/>
          </a:p>
        </p:txBody>
      </p:sp>
      <p:sp>
        <p:nvSpPr>
          <p:cNvPr id="25" name="Shape 20"/>
          <p:cNvSpPr/>
          <p:nvPr/>
        </p:nvSpPr>
        <p:spPr>
          <a:xfrm>
            <a:off x="2926080" y="5715000"/>
            <a:ext cx="6309360" cy="365760"/>
          </a:xfrm>
          <a:prstGeom prst="rightArrow">
            <a:avLst/>
          </a:prstGeom>
          <a:solidFill>
            <a:srgbClr val="E8EEEC"/>
          </a:solidFill>
          <a:ln w="12700">
            <a:solidFill>
              <a:srgbClr val="DCE6E3"/>
            </a:solidFill>
            <a:prstDash val="solid"/>
          </a:ln>
        </p:spPr>
      </p:sp>
      <p:sp>
        <p:nvSpPr>
          <p:cNvPr id="26" name="Text 21"/>
          <p:cNvSpPr/>
          <p:nvPr/>
        </p:nvSpPr>
        <p:spPr>
          <a:xfrm>
            <a:off x="2926080" y="5715000"/>
            <a:ext cx="6309360" cy="365760"/>
          </a:xfrm>
          <a:prstGeom prst="rect">
            <a:avLst/>
          </a:prstGeom>
          <a:noFill/>
          <a:ln/>
        </p:spPr>
        <p:txBody>
          <a:bodyPr wrap="square" rtlCol="0" anchor="ctr"/>
          <a:lstStyle/>
          <a:p>
            <a:pPr algn="ctr" indent="0" marL="0">
              <a:buNone/>
            </a:pPr>
            <a:r>
              <a:rPr lang="en-US" sz="1200" i="1" dirty="0">
                <a:solidFill>
                  <a:srgbClr val="6E7F84"/>
                </a:solidFill>
                <a:latin typeface="Calibri" pitchFamily="34" charset="0"/>
                <a:ea typeface="Calibri" pitchFamily="34" charset="-122"/>
                <a:cs typeface="Calibri" pitchFamily="34" charset="-120"/>
              </a:rPr>
              <a:t>fließender Übergang – keine scharfe Grenze</a:t>
            </a:r>
            <a:endParaRPr lang="en-US" sz="1200" dirty="0"/>
          </a:p>
        </p:txBody>
      </p:sp>
      <p:sp>
        <p:nvSpPr>
          <p:cNvPr id="28"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9"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2 · ÜBERBLICK</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Fünf, über die wir heute sprechen</a:t>
            </a:r>
            <a:endParaRPr lang="en-US" sz="3300" dirty="0"/>
          </a:p>
        </p:txBody>
      </p:sp>
      <p:sp>
        <p:nvSpPr>
          <p:cNvPr id="4" name="Shape 2"/>
          <p:cNvSpPr/>
          <p:nvPr/>
        </p:nvSpPr>
        <p:spPr>
          <a:xfrm>
            <a:off x="566928"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1792224" y="2075688"/>
            <a:ext cx="1005840" cy="10058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2053742" y="2337206"/>
            <a:ext cx="482803" cy="482803"/>
          </a:xfrm>
          <a:prstGeom prst="rect">
            <a:avLst/>
          </a:prstGeom>
        </p:spPr>
      </p:pic>
      <p:sp>
        <p:nvSpPr>
          <p:cNvPr id="7" name="Text 4"/>
          <p:cNvSpPr/>
          <p:nvPr/>
        </p:nvSpPr>
        <p:spPr>
          <a:xfrm>
            <a:off x="566928"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Depression</a:t>
            </a:r>
            <a:endParaRPr lang="en-US" sz="1800" dirty="0"/>
          </a:p>
        </p:txBody>
      </p:sp>
      <p:sp>
        <p:nvSpPr>
          <p:cNvPr id="8" name="Text 5"/>
          <p:cNvSpPr/>
          <p:nvPr/>
        </p:nvSpPr>
        <p:spPr>
          <a:xfrm>
            <a:off x="749808"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Die Farbe geht aus der Welt</a:t>
            </a:r>
            <a:endParaRPr lang="en-US" sz="1250" dirty="0"/>
          </a:p>
        </p:txBody>
      </p:sp>
      <p:sp>
        <p:nvSpPr>
          <p:cNvPr id="9" name="Shape 6"/>
          <p:cNvSpPr/>
          <p:nvPr/>
        </p:nvSpPr>
        <p:spPr>
          <a:xfrm>
            <a:off x="4279392"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5504688" y="2075688"/>
            <a:ext cx="1005840" cy="10058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5766206" y="2337206"/>
            <a:ext cx="482803" cy="482803"/>
          </a:xfrm>
          <a:prstGeom prst="rect">
            <a:avLst/>
          </a:prstGeom>
        </p:spPr>
      </p:pic>
      <p:sp>
        <p:nvSpPr>
          <p:cNvPr id="12" name="Text 8"/>
          <p:cNvSpPr/>
          <p:nvPr/>
        </p:nvSpPr>
        <p:spPr>
          <a:xfrm>
            <a:off x="4279392"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Angst &amp; Panik</a:t>
            </a:r>
            <a:endParaRPr lang="en-US" sz="1800" dirty="0"/>
          </a:p>
        </p:txBody>
      </p:sp>
      <p:sp>
        <p:nvSpPr>
          <p:cNvPr id="13" name="Text 9"/>
          <p:cNvSpPr/>
          <p:nvPr/>
        </p:nvSpPr>
        <p:spPr>
          <a:xfrm>
            <a:off x="4462272"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Der Alarm, der grundlos schrillt</a:t>
            </a:r>
            <a:endParaRPr lang="en-US" sz="1250" dirty="0"/>
          </a:p>
        </p:txBody>
      </p:sp>
      <p:sp>
        <p:nvSpPr>
          <p:cNvPr id="14" name="Shape 10"/>
          <p:cNvSpPr/>
          <p:nvPr/>
        </p:nvSpPr>
        <p:spPr>
          <a:xfrm>
            <a:off x="7991856"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9217152" y="2075688"/>
            <a:ext cx="1005840" cy="10058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9478670" y="2337206"/>
            <a:ext cx="482803" cy="482803"/>
          </a:xfrm>
          <a:prstGeom prst="rect">
            <a:avLst/>
          </a:prstGeom>
        </p:spPr>
      </p:pic>
      <p:sp>
        <p:nvSpPr>
          <p:cNvPr id="17" name="Text 12"/>
          <p:cNvSpPr/>
          <p:nvPr/>
        </p:nvSpPr>
        <p:spPr>
          <a:xfrm>
            <a:off x="7991856"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Burnout</a:t>
            </a:r>
            <a:endParaRPr lang="en-US" sz="1800" dirty="0"/>
          </a:p>
        </p:txBody>
      </p:sp>
      <p:sp>
        <p:nvSpPr>
          <p:cNvPr id="18" name="Text 13"/>
          <p:cNvSpPr/>
          <p:nvPr/>
        </p:nvSpPr>
        <p:spPr>
          <a:xfrm>
            <a:off x="8174736"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Der Akku, der leer bleibt</a:t>
            </a:r>
            <a:endParaRPr lang="en-US" sz="1250" dirty="0"/>
          </a:p>
        </p:txBody>
      </p:sp>
      <p:sp>
        <p:nvSpPr>
          <p:cNvPr id="19" name="Shape 14"/>
          <p:cNvSpPr/>
          <p:nvPr/>
        </p:nvSpPr>
        <p:spPr>
          <a:xfrm>
            <a:off x="2423160" y="402336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3648456" y="4315968"/>
            <a:ext cx="1005840" cy="10058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3909974" y="4577486"/>
            <a:ext cx="482803" cy="482803"/>
          </a:xfrm>
          <a:prstGeom prst="rect">
            <a:avLst/>
          </a:prstGeom>
        </p:spPr>
      </p:pic>
      <p:sp>
        <p:nvSpPr>
          <p:cNvPr id="22" name="Text 16"/>
          <p:cNvSpPr/>
          <p:nvPr/>
        </p:nvSpPr>
        <p:spPr>
          <a:xfrm>
            <a:off x="2423160" y="532180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PTBS</a:t>
            </a:r>
            <a:endParaRPr lang="en-US" sz="1800" dirty="0"/>
          </a:p>
        </p:txBody>
      </p:sp>
      <p:sp>
        <p:nvSpPr>
          <p:cNvPr id="23" name="Text 17"/>
          <p:cNvSpPr/>
          <p:nvPr/>
        </p:nvSpPr>
        <p:spPr>
          <a:xfrm>
            <a:off x="2606040" y="568756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Wenn die Vergangenheit nicht vergeht</a:t>
            </a:r>
            <a:endParaRPr lang="en-US" sz="1250" dirty="0"/>
          </a:p>
        </p:txBody>
      </p:sp>
      <p:sp>
        <p:nvSpPr>
          <p:cNvPr id="24" name="Shape 18"/>
          <p:cNvSpPr/>
          <p:nvPr/>
        </p:nvSpPr>
        <p:spPr>
          <a:xfrm>
            <a:off x="6135624" y="402336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7360920" y="4315968"/>
            <a:ext cx="1005840" cy="1005840"/>
          </a:xfrm>
          <a:prstGeom prst="ellipse">
            <a:avLst/>
          </a:prstGeom>
          <a:solidFill>
            <a:srgbClr val="3F7C79"/>
          </a:solidFill>
          <a:ln/>
        </p:spPr>
      </p:sp>
      <p:pic>
        <p:nvPicPr>
          <p:cNvPr id="26" name="Image 4" descr="preencoded.png">    </p:cNvPr>
          <p:cNvPicPr>
            <a:picLocks noChangeAspect="1"/>
          </p:cNvPicPr>
          <p:nvPr/>
        </p:nvPicPr>
        <p:blipFill>
          <a:blip r:embed="rId5"/>
          <a:stretch>
            <a:fillRect/>
          </a:stretch>
        </p:blipFill>
        <p:spPr>
          <a:xfrm>
            <a:off x="7622438" y="4577486"/>
            <a:ext cx="482803" cy="482803"/>
          </a:xfrm>
          <a:prstGeom prst="rect">
            <a:avLst/>
          </a:prstGeom>
        </p:spPr>
      </p:pic>
      <p:sp>
        <p:nvSpPr>
          <p:cNvPr id="27" name="Text 20"/>
          <p:cNvSpPr/>
          <p:nvPr/>
        </p:nvSpPr>
        <p:spPr>
          <a:xfrm>
            <a:off x="6135624" y="532180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Bipolare Störung</a:t>
            </a:r>
            <a:endParaRPr lang="en-US" sz="1800" dirty="0"/>
          </a:p>
        </p:txBody>
      </p:sp>
      <p:sp>
        <p:nvSpPr>
          <p:cNvPr id="28" name="Text 21"/>
          <p:cNvSpPr/>
          <p:nvPr/>
        </p:nvSpPr>
        <p:spPr>
          <a:xfrm>
            <a:off x="6318504" y="568756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Zwischen Hoch und Tief</a:t>
            </a:r>
            <a:endParaRPr lang="en-US" sz="1250" dirty="0"/>
          </a:p>
        </p:txBody>
      </p:sp>
      <p:sp>
        <p:nvSpPr>
          <p:cNvPr id="30"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3F7C79"/>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Depression</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3F7C79"/>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Graufilter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Als hätte jemand die Farbe und den Ton aus der Welt gedreht. Nicht Traurigkeit – eher Leere.</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Mehr als „traurig sein“</a:t>
            </a:r>
            <a:endParaRPr lang="en-US" sz="2400" dirty="0"/>
          </a:p>
        </p:txBody>
      </p:sp>
      <p:sp>
        <p:nvSpPr>
          <p:cNvPr id="12" name="Shape 9"/>
          <p:cNvSpPr/>
          <p:nvPr/>
        </p:nvSpPr>
        <p:spPr>
          <a:xfrm>
            <a:off x="4617720" y="1933956"/>
            <a:ext cx="201168" cy="201168"/>
          </a:xfrm>
          <a:prstGeom prst="ellipse">
            <a:avLst/>
          </a:prstGeom>
          <a:solidFill>
            <a:srgbClr val="3F7C79"/>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Antriebslosigkeit: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Selbst Aufstehen, Duschen, Zähneputzen fühlt sich riesig an.</a:t>
            </a:r>
            <a:endParaRPr lang="en-US" sz="1450" dirty="0"/>
          </a:p>
        </p:txBody>
      </p:sp>
      <p:sp>
        <p:nvSpPr>
          <p:cNvPr id="14" name="Shape 11"/>
          <p:cNvSpPr/>
          <p:nvPr/>
        </p:nvSpPr>
        <p:spPr>
          <a:xfrm>
            <a:off x="4617720" y="2802636"/>
            <a:ext cx="201168" cy="201168"/>
          </a:xfrm>
          <a:prstGeom prst="ellipse">
            <a:avLst/>
          </a:prstGeom>
          <a:solidFill>
            <a:srgbClr val="3F7C79"/>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Freudlosigkeit: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Nichts macht mehr Freude – auch das, was man liebt.</a:t>
            </a:r>
            <a:endParaRPr lang="en-US" sz="1450" dirty="0"/>
          </a:p>
        </p:txBody>
      </p:sp>
      <p:sp>
        <p:nvSpPr>
          <p:cNvPr id="16" name="Shape 13"/>
          <p:cNvSpPr/>
          <p:nvPr/>
        </p:nvSpPr>
        <p:spPr>
          <a:xfrm>
            <a:off x="4617720" y="3671316"/>
            <a:ext cx="201168" cy="201168"/>
          </a:xfrm>
          <a:prstGeom prst="ellipse">
            <a:avLst/>
          </a:prstGeom>
          <a:solidFill>
            <a:srgbClr val="3F7C79"/>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Bleierne Müdigkeit, die kein Schlaf behebt.</a:t>
            </a:r>
            <a:endParaRPr lang="en-US" sz="1450" dirty="0"/>
          </a:p>
        </p:txBody>
      </p:sp>
      <p:sp>
        <p:nvSpPr>
          <p:cNvPr id="18" name="Shape 15"/>
          <p:cNvSpPr/>
          <p:nvPr/>
        </p:nvSpPr>
        <p:spPr>
          <a:xfrm>
            <a:off x="4617720" y="4539996"/>
            <a:ext cx="201168" cy="201168"/>
          </a:xfrm>
          <a:prstGeom prst="ellipse">
            <a:avLst/>
          </a:prstGeom>
          <a:solidFill>
            <a:srgbClr val="3F7C79"/>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Gedankenkreisen: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„Ich bin wertlos, eine Last“ – oft gegen besseres Wissen.</a:t>
            </a:r>
            <a:endParaRPr lang="en-US" sz="1450" dirty="0"/>
          </a:p>
        </p:txBody>
      </p:sp>
      <p:sp>
        <p:nvSpPr>
          <p:cNvPr id="20" name="Shape 17"/>
          <p:cNvSpPr/>
          <p:nvPr/>
        </p:nvSpPr>
        <p:spPr>
          <a:xfrm>
            <a:off x="4617720" y="5408676"/>
            <a:ext cx="201168" cy="201168"/>
          </a:xfrm>
          <a:prstGeom prst="ellipse">
            <a:avLst/>
          </a:prstGeom>
          <a:solidFill>
            <a:srgbClr val="3F7C79"/>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Körper: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Schlaf, Appetit, Konzentration, Schmerzen verändern sich.</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Angst- &amp; Panikstörung</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D99A5B"/>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Rauchmelder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Ein Rauchmelder, der schon beim Toasten losheult. Der Alarm ist echt – die Gefahr ist es nicht.</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Alarm ohne Feuer</a:t>
            </a:r>
            <a:endParaRPr lang="en-US" sz="2400" dirty="0"/>
          </a:p>
        </p:txBody>
      </p:sp>
      <p:sp>
        <p:nvSpPr>
          <p:cNvPr id="12" name="Shape 9"/>
          <p:cNvSpPr/>
          <p:nvPr/>
        </p:nvSpPr>
        <p:spPr>
          <a:xfrm>
            <a:off x="4617720" y="1933956"/>
            <a:ext cx="201168" cy="201168"/>
          </a:xfrm>
          <a:prstGeom prst="ellipse">
            <a:avLst/>
          </a:prstGeom>
          <a:solidFill>
            <a:srgbClr val="D99A5B"/>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Daueranspannung: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Ständige Sorge, Grübeln, „Was, wenn …?“</a:t>
            </a:r>
            <a:endParaRPr lang="en-US" sz="1450" dirty="0"/>
          </a:p>
        </p:txBody>
      </p:sp>
      <p:sp>
        <p:nvSpPr>
          <p:cNvPr id="14" name="Shape 11"/>
          <p:cNvSpPr/>
          <p:nvPr/>
        </p:nvSpPr>
        <p:spPr>
          <a:xfrm>
            <a:off x="4617720" y="2802636"/>
            <a:ext cx="201168" cy="201168"/>
          </a:xfrm>
          <a:prstGeom prst="ellipse">
            <a:avLst/>
          </a:prstGeom>
          <a:solidFill>
            <a:srgbClr val="D99A5B"/>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Panikattacken: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Herzrasen, Atemnot, Todesangst – in Minuten da.</a:t>
            </a:r>
            <a:endParaRPr lang="en-US" sz="1450" dirty="0"/>
          </a:p>
        </p:txBody>
      </p:sp>
      <p:sp>
        <p:nvSpPr>
          <p:cNvPr id="16" name="Shape 13"/>
          <p:cNvSpPr/>
          <p:nvPr/>
        </p:nvSpPr>
        <p:spPr>
          <a:xfrm>
            <a:off x="4617720" y="3671316"/>
            <a:ext cx="201168" cy="201168"/>
          </a:xfrm>
          <a:prstGeom prst="ellipse">
            <a:avLst/>
          </a:prstGeom>
          <a:solidFill>
            <a:srgbClr val="D99A5B"/>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Vermeidung: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Orte/Situationen werden gemieden, die Welt wird enger.</a:t>
            </a:r>
            <a:endParaRPr lang="en-US" sz="1450" dirty="0"/>
          </a:p>
        </p:txBody>
      </p:sp>
      <p:sp>
        <p:nvSpPr>
          <p:cNvPr id="18" name="Shape 15"/>
          <p:cNvSpPr/>
          <p:nvPr/>
        </p:nvSpPr>
        <p:spPr>
          <a:xfrm>
            <a:off x="4617720" y="4539996"/>
            <a:ext cx="201168" cy="201168"/>
          </a:xfrm>
          <a:prstGeom prst="ellipse">
            <a:avLst/>
          </a:prstGeom>
          <a:solidFill>
            <a:srgbClr val="D99A5B"/>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Körper zuerst: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Der Körper schlägt Alarm, bevor der Kopf ‚Gefahr‘ denkt.</a:t>
            </a:r>
            <a:endParaRPr lang="en-US" sz="1450" dirty="0"/>
          </a:p>
        </p:txBody>
      </p:sp>
      <p:sp>
        <p:nvSpPr>
          <p:cNvPr id="20" name="Shape 17"/>
          <p:cNvSpPr/>
          <p:nvPr/>
        </p:nvSpPr>
        <p:spPr>
          <a:xfrm>
            <a:off x="4617720" y="5408676"/>
            <a:ext cx="201168" cy="201168"/>
          </a:xfrm>
          <a:prstGeom prst="ellipse">
            <a:avLst/>
          </a:prstGeom>
          <a:solidFill>
            <a:srgbClr val="D99A5B"/>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Dauernd auf Habacht zu sein, zehrt enorm.</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84B59F"/>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Burnout</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84B59F"/>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Erloschenes Feuer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Ein Feuer, das ausgeht, weil man zu lange geheizt hat, ohne Holz nachzulegen.</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Ausgebrannt, nicht faul</a:t>
            </a:r>
            <a:endParaRPr lang="en-US" sz="2400" dirty="0"/>
          </a:p>
        </p:txBody>
      </p:sp>
      <p:sp>
        <p:nvSpPr>
          <p:cNvPr id="12" name="Shape 9"/>
          <p:cNvSpPr/>
          <p:nvPr/>
        </p:nvSpPr>
        <p:spPr>
          <a:xfrm>
            <a:off x="4617720" y="1933956"/>
            <a:ext cx="201168" cy="201168"/>
          </a:xfrm>
          <a:prstGeom prst="ellipse">
            <a:avLst/>
          </a:prstGeom>
          <a:solidFill>
            <a:srgbClr val="84B59F"/>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Tief und anhaltend – körperlich und emotional leer.</a:t>
            </a:r>
            <a:endParaRPr lang="en-US" sz="1450" dirty="0"/>
          </a:p>
        </p:txBody>
      </p:sp>
      <p:sp>
        <p:nvSpPr>
          <p:cNvPr id="14" name="Shape 11"/>
          <p:cNvSpPr/>
          <p:nvPr/>
        </p:nvSpPr>
        <p:spPr>
          <a:xfrm>
            <a:off x="4617720" y="2802636"/>
            <a:ext cx="201168" cy="201168"/>
          </a:xfrm>
          <a:prstGeom prst="ellipse">
            <a:avLst/>
          </a:prstGeom>
          <a:solidFill>
            <a:srgbClr val="84B59F"/>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Distanzierung: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Zynismus, innerer Rückzug, „mir ist alles egal“.</a:t>
            </a:r>
            <a:endParaRPr lang="en-US" sz="1450" dirty="0"/>
          </a:p>
        </p:txBody>
      </p:sp>
      <p:sp>
        <p:nvSpPr>
          <p:cNvPr id="16" name="Shape 13"/>
          <p:cNvSpPr/>
          <p:nvPr/>
        </p:nvSpPr>
        <p:spPr>
          <a:xfrm>
            <a:off x="4617720" y="3671316"/>
            <a:ext cx="201168" cy="201168"/>
          </a:xfrm>
          <a:prstGeom prst="ellipse">
            <a:avLst/>
          </a:prstGeom>
          <a:solidFill>
            <a:srgbClr val="84B59F"/>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Leistungsknick: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Das Gefühl, nichts mehr zu schaffen, trotz Mühe.</a:t>
            </a:r>
            <a:endParaRPr lang="en-US" sz="1450" dirty="0"/>
          </a:p>
        </p:txBody>
      </p:sp>
      <p:sp>
        <p:nvSpPr>
          <p:cNvPr id="18" name="Shape 15"/>
          <p:cNvSpPr/>
          <p:nvPr/>
        </p:nvSpPr>
        <p:spPr>
          <a:xfrm>
            <a:off x="4617720" y="4539996"/>
            <a:ext cx="201168" cy="201168"/>
          </a:xfrm>
          <a:prstGeom prst="ellipse">
            <a:avLst/>
          </a:prstGeom>
          <a:solidFill>
            <a:srgbClr val="84B59F"/>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Prozess: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Entsteht schleichend über Monate – oft bei engagierten Menschen.</a:t>
            </a:r>
            <a:endParaRPr lang="en-US" sz="1450" dirty="0"/>
          </a:p>
        </p:txBody>
      </p:sp>
      <p:sp>
        <p:nvSpPr>
          <p:cNvPr id="20" name="Shape 17"/>
          <p:cNvSpPr/>
          <p:nvPr/>
        </p:nvSpPr>
        <p:spPr>
          <a:xfrm>
            <a:off x="4617720" y="5408676"/>
            <a:ext cx="201168" cy="201168"/>
          </a:xfrm>
          <a:prstGeom prst="ellipse">
            <a:avLst/>
          </a:prstGeom>
          <a:solidFill>
            <a:srgbClr val="84B59F"/>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Übergang: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Kann in eine Depression münden – Grenzen sind fließend.</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PTBS</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D99A5B"/>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Alarmanlage in der Zeit</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Der Körper verwechselt Vergangenheit mit Gegenwart. Ein Geräusch – und die Gefahr ist ‚jetzt‘.</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Wenn die Vergangenheit nicht vergeht</a:t>
            </a:r>
            <a:endParaRPr lang="en-US" sz="2400" dirty="0"/>
          </a:p>
        </p:txBody>
      </p:sp>
      <p:sp>
        <p:nvSpPr>
          <p:cNvPr id="12" name="Shape 9"/>
          <p:cNvSpPr/>
          <p:nvPr/>
        </p:nvSpPr>
        <p:spPr>
          <a:xfrm>
            <a:off x="4617720" y="1933956"/>
            <a:ext cx="201168" cy="201168"/>
          </a:xfrm>
          <a:prstGeom prst="ellipse">
            <a:avLst/>
          </a:prstGeom>
          <a:solidFill>
            <a:srgbClr val="D99A5B"/>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Flashbacks: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Das Erlebte kehrt zurück – nicht als Erinnerung, als Wiedererleben.</a:t>
            </a:r>
            <a:endParaRPr lang="en-US" sz="1450" dirty="0"/>
          </a:p>
        </p:txBody>
      </p:sp>
      <p:sp>
        <p:nvSpPr>
          <p:cNvPr id="14" name="Shape 11"/>
          <p:cNvSpPr/>
          <p:nvPr/>
        </p:nvSpPr>
        <p:spPr>
          <a:xfrm>
            <a:off x="4617720" y="2802636"/>
            <a:ext cx="201168" cy="201168"/>
          </a:xfrm>
          <a:prstGeom prst="ellipse">
            <a:avLst/>
          </a:prstGeom>
          <a:solidFill>
            <a:srgbClr val="D99A5B"/>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Übererregung: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Schreckhaftigkeit, Schlafstörung, ständige Alarmbereitschaft.</a:t>
            </a:r>
            <a:endParaRPr lang="en-US" sz="1450" dirty="0"/>
          </a:p>
        </p:txBody>
      </p:sp>
      <p:sp>
        <p:nvSpPr>
          <p:cNvPr id="16" name="Shape 13"/>
          <p:cNvSpPr/>
          <p:nvPr/>
        </p:nvSpPr>
        <p:spPr>
          <a:xfrm>
            <a:off x="4617720" y="3671316"/>
            <a:ext cx="201168" cy="201168"/>
          </a:xfrm>
          <a:prstGeom prst="ellipse">
            <a:avLst/>
          </a:prstGeom>
          <a:solidFill>
            <a:srgbClr val="D99A5B"/>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Vermeidung: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Orte, Geräusche, Gerüche, die erinnern, werden gemieden.</a:t>
            </a:r>
            <a:endParaRPr lang="en-US" sz="1450" dirty="0"/>
          </a:p>
        </p:txBody>
      </p:sp>
      <p:sp>
        <p:nvSpPr>
          <p:cNvPr id="18" name="Shape 15"/>
          <p:cNvSpPr/>
          <p:nvPr/>
        </p:nvSpPr>
        <p:spPr>
          <a:xfrm>
            <a:off x="4617720" y="4539996"/>
            <a:ext cx="201168" cy="201168"/>
          </a:xfrm>
          <a:prstGeom prst="ellipse">
            <a:avLst/>
          </a:prstGeom>
          <a:solidFill>
            <a:srgbClr val="D99A5B"/>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Trigger: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Ein Detail genügt – und der Körper ist wieder ‚dort‘.</a:t>
            </a:r>
            <a:endParaRPr lang="en-US" sz="1450" dirty="0"/>
          </a:p>
        </p:txBody>
      </p:sp>
      <p:sp>
        <p:nvSpPr>
          <p:cNvPr id="20" name="Shape 17"/>
          <p:cNvSpPr/>
          <p:nvPr/>
        </p:nvSpPr>
        <p:spPr>
          <a:xfrm>
            <a:off x="4617720" y="5408676"/>
            <a:ext cx="201168" cy="201168"/>
          </a:xfrm>
          <a:prstGeom prst="ellipse">
            <a:avLst/>
          </a:prstGeom>
          <a:solidFill>
            <a:srgbClr val="D99A5B"/>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Betäubung: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Gefühllosigkeit, Entfremdung, „nicht richtig da sein“.</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3F7C79"/>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Bipolare Störung</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3F7C79"/>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Gezeiten</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Nicht die kleinen Wellen des Alltags – sondern Ebbe und Flut, die den ganzen Strand verändern.</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Zwischen Hoch und Tief</a:t>
            </a:r>
            <a:endParaRPr lang="en-US" sz="2400" dirty="0"/>
          </a:p>
        </p:txBody>
      </p:sp>
      <p:sp>
        <p:nvSpPr>
          <p:cNvPr id="12" name="Shape 9"/>
          <p:cNvSpPr/>
          <p:nvPr/>
        </p:nvSpPr>
        <p:spPr>
          <a:xfrm>
            <a:off x="4617720" y="1933956"/>
            <a:ext cx="201168" cy="201168"/>
          </a:xfrm>
          <a:prstGeom prst="ellipse">
            <a:avLst/>
          </a:prstGeom>
          <a:solidFill>
            <a:srgbClr val="3F7C79"/>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Depressive Phasen: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Wie bei der Depression – Leere, Antriebslosigkeit.</a:t>
            </a:r>
            <a:endParaRPr lang="en-US" sz="1450" dirty="0"/>
          </a:p>
        </p:txBody>
      </p:sp>
      <p:sp>
        <p:nvSpPr>
          <p:cNvPr id="14" name="Shape 11"/>
          <p:cNvSpPr/>
          <p:nvPr/>
        </p:nvSpPr>
        <p:spPr>
          <a:xfrm>
            <a:off x="4617720" y="2802636"/>
            <a:ext cx="201168" cy="201168"/>
          </a:xfrm>
          <a:prstGeom prst="ellipse">
            <a:avLst/>
          </a:prstGeom>
          <a:solidFill>
            <a:srgbClr val="3F7C79"/>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Manische Phasen: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Übersteigerte Energie, wenig Schlafbedarf, Größengefühl.</a:t>
            </a:r>
            <a:endParaRPr lang="en-US" sz="1450" dirty="0"/>
          </a:p>
        </p:txBody>
      </p:sp>
      <p:sp>
        <p:nvSpPr>
          <p:cNvPr id="16" name="Shape 13"/>
          <p:cNvSpPr/>
          <p:nvPr/>
        </p:nvSpPr>
        <p:spPr>
          <a:xfrm>
            <a:off x="4617720" y="3671316"/>
            <a:ext cx="201168" cy="201168"/>
          </a:xfrm>
          <a:prstGeom prst="ellipse">
            <a:avLst/>
          </a:prstGeom>
          <a:solidFill>
            <a:srgbClr val="3F7C79"/>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Riskantes Handeln: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In der Manie oft Geld-, Risiko- oder Konfliktverhalten.</a:t>
            </a:r>
            <a:endParaRPr lang="en-US" sz="1450" dirty="0"/>
          </a:p>
        </p:txBody>
      </p:sp>
      <p:sp>
        <p:nvSpPr>
          <p:cNvPr id="18" name="Shape 15"/>
          <p:cNvSpPr/>
          <p:nvPr/>
        </p:nvSpPr>
        <p:spPr>
          <a:xfrm>
            <a:off x="4617720" y="4539996"/>
            <a:ext cx="201168" cy="201168"/>
          </a:xfrm>
          <a:prstGeom prst="ellipse">
            <a:avLst/>
          </a:prstGeom>
          <a:solidFill>
            <a:srgbClr val="3F7C79"/>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Wechsel: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Phasen wechseln – nicht ‚Stimmungsschwankungen‘ im Alltag.</a:t>
            </a:r>
            <a:endParaRPr lang="en-US" sz="1450" dirty="0"/>
          </a:p>
        </p:txBody>
      </p:sp>
      <p:sp>
        <p:nvSpPr>
          <p:cNvPr id="20" name="Shape 17"/>
          <p:cNvSpPr/>
          <p:nvPr/>
        </p:nvSpPr>
        <p:spPr>
          <a:xfrm>
            <a:off x="4617720" y="5408676"/>
            <a:ext cx="201168" cy="201168"/>
          </a:xfrm>
          <a:prstGeom prst="ellipse">
            <a:avLst/>
          </a:prstGeom>
          <a:solidFill>
            <a:srgbClr val="3F7C79"/>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Gut behandelbar: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Mit Therapie &amp; Medikamenten meist gut stabilisierbar.</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Shape 1"/>
          <p:cNvSpPr/>
          <p:nvPr/>
        </p:nvSpPr>
        <p:spPr>
          <a:xfrm>
            <a:off x="9509760" y="3474720"/>
            <a:ext cx="5029200" cy="5029200"/>
          </a:xfrm>
          <a:prstGeom prst="ellipse">
            <a:avLst/>
          </a:prstGeom>
          <a:solidFill>
            <a:srgbClr val="1F3A40"/>
          </a:solidFill>
          <a:ln/>
        </p:spPr>
      </p:sp>
      <p:sp>
        <p:nvSpPr>
          <p:cNvPr id="4" name="Text 2"/>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3  ·  DAS HERZSTÜCK</a:t>
            </a:r>
            <a:endParaRPr lang="en-US" sz="1400" dirty="0"/>
          </a:p>
        </p:txBody>
      </p:sp>
      <p:sp>
        <p:nvSpPr>
          <p:cNvPr id="5" name="Text 3"/>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Wie fühlt sich das an?</a:t>
            </a:r>
            <a:endParaRPr lang="en-US" sz="4600" dirty="0"/>
          </a:p>
        </p:txBody>
      </p:sp>
      <p:sp>
        <p:nvSpPr>
          <p:cNvPr id="6" name="Text 4"/>
          <p:cNvSpPr/>
          <p:nvPr/>
        </p:nvSpPr>
        <p:spPr>
          <a:xfrm>
            <a:off x="566928" y="3657600"/>
            <a:ext cx="10241280" cy="91440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Jetzt verlassen wir das Lehrbuch. Wir versuchen zu fühlen, was man von außen nicht sieht – mit Bildern, die jeder kennt.</a:t>
            </a:r>
            <a:endParaRPr lang="en-US" sz="1800" dirty="0"/>
          </a:p>
        </p:txBody>
      </p:sp>
      <p:sp>
        <p:nvSpPr>
          <p:cNvPr id="8" name="Text 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9" name="Text 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1 · DEPRESSION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Der unsichtbare Rucksack</a:t>
            </a:r>
            <a:endParaRPr lang="en-US" sz="3300" dirty="0"/>
          </a:p>
        </p:txBody>
      </p:sp>
      <p:sp>
        <p:nvSpPr>
          <p:cNvPr id="4" name="Shape 2"/>
          <p:cNvSpPr/>
          <p:nvPr/>
        </p:nvSpPr>
        <p:spPr>
          <a:xfrm>
            <a:off x="8138160" y="1737360"/>
            <a:ext cx="3474720" cy="3977640"/>
          </a:xfrm>
          <a:prstGeom prst="roundRect">
            <a:avLst>
              <a:gd name="adj" fmla="val 2632"/>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418320" y="2194560"/>
            <a:ext cx="914400" cy="91440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9656064" y="2432304"/>
            <a:ext cx="438912" cy="438912"/>
          </a:xfrm>
          <a:prstGeom prst="rect">
            <a:avLst/>
          </a:prstGeom>
        </p:spPr>
      </p:pic>
      <p:sp>
        <p:nvSpPr>
          <p:cNvPr id="7" name="Text 4"/>
          <p:cNvSpPr/>
          <p:nvPr/>
        </p:nvSpPr>
        <p:spPr>
          <a:xfrm>
            <a:off x="8138160" y="3291840"/>
            <a:ext cx="3474720" cy="640080"/>
          </a:xfrm>
          <a:prstGeom prst="rect">
            <a:avLst/>
          </a:prstGeom>
          <a:noFill/>
          <a:ln/>
        </p:spPr>
        <p:txBody>
          <a:bodyPr wrap="square" rtlCol="0" anchor="ctr"/>
          <a:lstStyle/>
          <a:p>
            <a:pPr algn="ctr" indent="0" marL="0">
              <a:buNone/>
            </a:pPr>
            <a:r>
              <a:rPr lang="en-US" sz="4000" b="1" dirty="0">
                <a:solidFill>
                  <a:srgbClr val="C7DED2"/>
                </a:solidFill>
                <a:latin typeface="Cambria" pitchFamily="34" charset="0"/>
                <a:ea typeface="Cambria" pitchFamily="34" charset="-122"/>
                <a:cs typeface="Cambria" pitchFamily="34" charset="-120"/>
              </a:rPr>
              <a:t>+15 kg</a:t>
            </a:r>
            <a:endParaRPr lang="en-US" sz="4000" dirty="0"/>
          </a:p>
        </p:txBody>
      </p:sp>
      <p:sp>
        <p:nvSpPr>
          <p:cNvPr id="8" name="Text 5"/>
          <p:cNvSpPr/>
          <p:nvPr/>
        </p:nvSpPr>
        <p:spPr>
          <a:xfrm>
            <a:off x="8138160" y="3977640"/>
            <a:ext cx="3474720" cy="365760"/>
          </a:xfrm>
          <a:prstGeom prst="rect">
            <a:avLst/>
          </a:prstGeom>
          <a:noFill/>
          <a:ln/>
        </p:spPr>
        <p:txBody>
          <a:bodyPr wrap="square" rtlCol="0" anchor="ctr"/>
          <a:lstStyle/>
          <a:p>
            <a:pPr algn="ctr" indent="0" marL="0">
              <a:buNone/>
            </a:pPr>
            <a:r>
              <a:rPr lang="en-US" sz="1400" i="1" dirty="0">
                <a:solidFill>
                  <a:srgbClr val="CFDDD9"/>
                </a:solidFill>
                <a:latin typeface="Calibri" pitchFamily="34" charset="0"/>
                <a:ea typeface="Calibri" pitchFamily="34" charset="-122"/>
                <a:cs typeface="Calibri" pitchFamily="34" charset="-120"/>
              </a:rPr>
              <a:t>auf alles, was du tust</a:t>
            </a:r>
            <a:endParaRPr lang="en-US" sz="1400" dirty="0"/>
          </a:p>
        </p:txBody>
      </p:sp>
      <p:sp>
        <p:nvSpPr>
          <p:cNvPr id="9" name="Text 6"/>
          <p:cNvSpPr/>
          <p:nvPr/>
        </p:nvSpPr>
        <p:spPr>
          <a:xfrm>
            <a:off x="8321040" y="4572000"/>
            <a:ext cx="3108960" cy="914400"/>
          </a:xfrm>
          <a:prstGeom prst="rect">
            <a:avLst/>
          </a:prstGeom>
          <a:noFill/>
          <a:ln/>
        </p:spPr>
        <p:txBody>
          <a:bodyPr wrap="square" rtlCol="0" anchor="ctr"/>
          <a:lstStyle/>
          <a:p>
            <a:pPr algn="ctr" indent="0" marL="0">
              <a:lnSpc>
                <a:spcPts val="2000"/>
              </a:lnSpc>
              <a:buNone/>
            </a:pPr>
            <a:r>
              <a:rPr lang="en-US" sz="1350" dirty="0">
                <a:solidFill>
                  <a:srgbClr val="AFC6C1"/>
                </a:solidFill>
                <a:latin typeface="Calibri" pitchFamily="34" charset="0"/>
                <a:ea typeface="Calibri" pitchFamily="34" charset="-122"/>
                <a:cs typeface="Calibri" pitchFamily="34" charset="-120"/>
              </a:rPr>
              <a:t>Aufstehen · Duschen · Antworten</a:t>
            </a:r>
            <a:endParaRPr lang="en-US" sz="1350" dirty="0"/>
          </a:p>
          <a:p>
            <a:pPr algn="ctr" indent="0" marL="0">
              <a:lnSpc>
                <a:spcPts val="2000"/>
              </a:lnSpc>
              <a:buNone/>
            </a:pPr>
            <a:r>
              <a:rPr lang="en-US" sz="1350" dirty="0">
                <a:solidFill>
                  <a:srgbClr val="AFC6C1"/>
                </a:solidFill>
                <a:latin typeface="Calibri" pitchFamily="34" charset="0"/>
                <a:ea typeface="Calibri" pitchFamily="34" charset="-122"/>
                <a:cs typeface="Calibri" pitchFamily="34" charset="-120"/>
              </a:rPr>
              <a:t>· Lächeln · Weitermachen</a:t>
            </a:r>
            <a:endParaRPr lang="en-US" sz="1350" dirty="0"/>
          </a:p>
        </p:txBody>
      </p:sp>
      <p:sp>
        <p:nvSpPr>
          <p:cNvPr id="10" name="Text 7"/>
          <p:cNvSpPr/>
          <p:nvPr/>
        </p:nvSpPr>
        <p:spPr>
          <a:xfrm>
            <a:off x="566928" y="1783080"/>
            <a:ext cx="7223760" cy="3931920"/>
          </a:xfrm>
          <a:prstGeom prst="rect">
            <a:avLst/>
          </a:prstGeom>
          <a:noFill/>
          <a:ln/>
        </p:spPr>
        <p:txBody>
          <a:bodyPr wrap="square" rtlCol="0" anchor="t"/>
          <a:lstStyle/>
          <a:p>
            <a:pPr indent="0" marL="0">
              <a:lnSpc>
                <a:spcPts val="2400"/>
              </a:lnSpc>
              <a:buNone/>
            </a:pPr>
            <a:r>
              <a:rPr lang="en-US" sz="1700" dirty="0">
                <a:solidFill>
                  <a:srgbClr val="233139"/>
                </a:solidFill>
              </a:rPr>
              <a:t>Stellen Sie sich vor, Sie tragen einen Rucksack, der jeden Tag schwerer wird – und niemand sieht ihn.
</a:t>
            </a:r>
            <a:endParaRPr lang="en-US" sz="1700" dirty="0"/>
          </a:p>
          <a:p>
            <a:pPr indent="0" marL="0">
              <a:lnSpc>
                <a:spcPts val="2400"/>
              </a:lnSpc>
              <a:buNone/>
            </a:pPr>
            <a:r>
              <a:rPr lang="en-US" sz="1700" dirty="0">
                <a:solidFill>
                  <a:srgbClr val="233139"/>
                </a:solidFill>
              </a:rPr>
              <a:t>Jede kleinste Aufgabe kostet plötzlich Kraft, als hätten alle anderen leichtes Gepäck und Sie schleppen Steine.
</a:t>
            </a:r>
            <a:endParaRPr lang="en-US" sz="1700" dirty="0"/>
          </a:p>
          <a:p>
            <a:pPr indent="0" marL="0">
              <a:lnSpc>
                <a:spcPts val="2400"/>
              </a:lnSpc>
              <a:buNone/>
            </a:pPr>
            <a:r>
              <a:rPr lang="en-US" sz="1700" i="1" dirty="0">
                <a:solidFill>
                  <a:srgbClr val="2E4A52"/>
                </a:solidFill>
              </a:rPr>
              <a:t>Wenn eine depressive Person morgens aufsteht und zur Arbeit geht, hat sie oft schon einen Marathon hinter sich, von dem keiner weiß.</a:t>
            </a:r>
            <a:endParaRPr lang="en-US" sz="1700" dirty="0"/>
          </a:p>
        </p:txBody>
      </p:sp>
      <p:sp>
        <p:nvSpPr>
          <p:cNvPr id="12" name="Text 8"/>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414A"/>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BILD 2 · DAS UNSICHTBARE</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Was man sieht – und was darunter liegt</a:t>
            </a:r>
            <a:endParaRPr lang="en-US" sz="2800" dirty="0"/>
          </a:p>
        </p:txBody>
      </p:sp>
      <p:sp>
        <p:nvSpPr>
          <p:cNvPr id="4" name="Shape 2"/>
          <p:cNvSpPr/>
          <p:nvPr/>
        </p:nvSpPr>
        <p:spPr>
          <a:xfrm>
            <a:off x="0" y="2788920"/>
            <a:ext cx="12191695" cy="27432"/>
          </a:xfrm>
          <a:prstGeom prst="rect">
            <a:avLst/>
          </a:prstGeom>
          <a:solidFill>
            <a:srgbClr val="C7DED2"/>
          </a:solidFill>
          <a:ln/>
        </p:spPr>
      </p:sp>
      <p:sp>
        <p:nvSpPr>
          <p:cNvPr id="5" name="Text 3"/>
          <p:cNvSpPr/>
          <p:nvPr/>
        </p:nvSpPr>
        <p:spPr>
          <a:xfrm>
            <a:off x="7863840" y="2395728"/>
            <a:ext cx="3840480" cy="320040"/>
          </a:xfrm>
          <a:prstGeom prst="rect">
            <a:avLst/>
          </a:prstGeom>
          <a:noFill/>
          <a:ln/>
        </p:spPr>
        <p:txBody>
          <a:bodyPr wrap="square" rtlCol="0" anchor="ctr"/>
          <a:lstStyle/>
          <a:p>
            <a:pPr algn="r" indent="0" marL="0">
              <a:buNone/>
            </a:pPr>
            <a:r>
              <a:rPr lang="en-US" sz="1100" i="1" dirty="0">
                <a:solidFill>
                  <a:srgbClr val="AFC6C1"/>
                </a:solidFill>
                <a:latin typeface="Calibri" pitchFamily="34" charset="0"/>
                <a:ea typeface="Calibri" pitchFamily="34" charset="-122"/>
                <a:cs typeface="Calibri" pitchFamily="34" charset="-120"/>
              </a:rPr>
              <a:t>Wasserlinie – was andere sehen</a:t>
            </a:r>
            <a:endParaRPr lang="en-US" sz="1100" dirty="0"/>
          </a:p>
        </p:txBody>
      </p:sp>
      <p:sp>
        <p:nvSpPr>
          <p:cNvPr id="6" name="Shape 4"/>
          <p:cNvSpPr/>
          <p:nvPr/>
        </p:nvSpPr>
        <p:spPr>
          <a:xfrm flipV="1">
            <a:off x="4480560" y="1600200"/>
            <a:ext cx="3200400" cy="1188720"/>
          </a:xfrm>
          <a:prstGeom prst="triangle">
            <a:avLst/>
          </a:prstGeom>
          <a:solidFill>
            <a:srgbClr val="FFFFFF"/>
          </a:solidFill>
          <a:ln/>
        </p:spPr>
      </p:sp>
      <p:sp>
        <p:nvSpPr>
          <p:cNvPr id="7" name="Text 5"/>
          <p:cNvSpPr/>
          <p:nvPr/>
        </p:nvSpPr>
        <p:spPr>
          <a:xfrm>
            <a:off x="4480560" y="1874520"/>
            <a:ext cx="3200400" cy="457200"/>
          </a:xfrm>
          <a:prstGeom prst="rect">
            <a:avLst/>
          </a:prstGeom>
          <a:noFill/>
          <a:ln/>
        </p:spPr>
        <p:txBody>
          <a:bodyPr wrap="square" rtlCol="0" anchor="ctr"/>
          <a:lstStyle/>
          <a:p>
            <a:pPr algn="ctr" indent="0" marL="0">
              <a:buNone/>
            </a:pPr>
            <a:r>
              <a:rPr lang="en-US" sz="1600" b="1" dirty="0">
                <a:solidFill>
                  <a:srgbClr val="1E353B"/>
                </a:solidFill>
                <a:latin typeface="Cambria" pitchFamily="34" charset="0"/>
                <a:ea typeface="Cambria" pitchFamily="34" charset="-122"/>
                <a:cs typeface="Cambria" pitchFamily="34" charset="-120"/>
              </a:rPr>
              <a:t>„Mir geht’s gut.“</a:t>
            </a:r>
            <a:endParaRPr lang="en-US" sz="1600" dirty="0"/>
          </a:p>
        </p:txBody>
      </p:sp>
      <p:sp>
        <p:nvSpPr>
          <p:cNvPr id="8" name="Shape 6"/>
          <p:cNvSpPr/>
          <p:nvPr/>
        </p:nvSpPr>
        <p:spPr>
          <a:xfrm>
            <a:off x="2377440" y="2816352"/>
            <a:ext cx="7406640" cy="3108960"/>
          </a:xfrm>
          <a:prstGeom prst="triangle">
            <a:avLst/>
          </a:prstGeom>
          <a:solidFill>
            <a:srgbClr val="2C4A52"/>
          </a:solidFill>
          <a:ln w="12700">
            <a:solidFill>
              <a:srgbClr val="3C5C63"/>
            </a:solidFill>
            <a:prstDash val="solid"/>
          </a:ln>
        </p:spPr>
      </p:sp>
      <p:sp>
        <p:nvSpPr>
          <p:cNvPr id="9" name="Text 7"/>
          <p:cNvSpPr/>
          <p:nvPr/>
        </p:nvSpPr>
        <p:spPr>
          <a:xfrm>
            <a:off x="3291840" y="3063240"/>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Erschöpfung</a:t>
            </a:r>
            <a:endParaRPr lang="en-US" sz="1450" dirty="0"/>
          </a:p>
        </p:txBody>
      </p:sp>
      <p:sp>
        <p:nvSpPr>
          <p:cNvPr id="10" name="Text 8"/>
          <p:cNvSpPr/>
          <p:nvPr/>
        </p:nvSpPr>
        <p:spPr>
          <a:xfrm>
            <a:off x="6400800" y="3063240"/>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Scham &amp; Schuld</a:t>
            </a:r>
            <a:endParaRPr lang="en-US" sz="1450" dirty="0"/>
          </a:p>
        </p:txBody>
      </p:sp>
      <p:sp>
        <p:nvSpPr>
          <p:cNvPr id="11" name="Text 9"/>
          <p:cNvSpPr/>
          <p:nvPr/>
        </p:nvSpPr>
        <p:spPr>
          <a:xfrm>
            <a:off x="3291840" y="3630168"/>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Angst</a:t>
            </a:r>
            <a:endParaRPr lang="en-US" sz="1450" dirty="0"/>
          </a:p>
        </p:txBody>
      </p:sp>
      <p:sp>
        <p:nvSpPr>
          <p:cNvPr id="12" name="Text 10"/>
          <p:cNvSpPr/>
          <p:nvPr/>
        </p:nvSpPr>
        <p:spPr>
          <a:xfrm>
            <a:off x="6400800" y="3630168"/>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innere Leere</a:t>
            </a:r>
            <a:endParaRPr lang="en-US" sz="1450" dirty="0"/>
          </a:p>
        </p:txBody>
      </p:sp>
      <p:sp>
        <p:nvSpPr>
          <p:cNvPr id="13" name="Text 11"/>
          <p:cNvSpPr/>
          <p:nvPr/>
        </p:nvSpPr>
        <p:spPr>
          <a:xfrm>
            <a:off x="3291840" y="4197096"/>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Selbstzweifel</a:t>
            </a:r>
            <a:endParaRPr lang="en-US" sz="1450" dirty="0"/>
          </a:p>
        </p:txBody>
      </p:sp>
      <p:sp>
        <p:nvSpPr>
          <p:cNvPr id="14" name="Text 12"/>
          <p:cNvSpPr/>
          <p:nvPr/>
        </p:nvSpPr>
        <p:spPr>
          <a:xfrm>
            <a:off x="6400800" y="4197096"/>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Einsamkeit</a:t>
            </a:r>
            <a:endParaRPr lang="en-US" sz="1450" dirty="0"/>
          </a:p>
        </p:txBody>
      </p:sp>
      <p:sp>
        <p:nvSpPr>
          <p:cNvPr id="15" name="Text 13"/>
          <p:cNvSpPr/>
          <p:nvPr/>
        </p:nvSpPr>
        <p:spPr>
          <a:xfrm>
            <a:off x="3291840" y="4764024"/>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„Ich funktioniere nur noch“</a:t>
            </a:r>
            <a:endParaRPr lang="en-US" sz="1450" dirty="0"/>
          </a:p>
        </p:txBody>
      </p:sp>
      <p:sp>
        <p:nvSpPr>
          <p:cNvPr id="17"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8"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3 · DIE MASKE</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Warum man es oft nicht sieht</a:t>
            </a:r>
            <a:endParaRPr lang="en-US" sz="3300" dirty="0"/>
          </a:p>
        </p:txBody>
      </p:sp>
      <p:sp>
        <p:nvSpPr>
          <p:cNvPr id="4" name="Shape 2"/>
          <p:cNvSpPr/>
          <p:nvPr/>
        </p:nvSpPr>
        <p:spPr>
          <a:xfrm>
            <a:off x="566928" y="1783080"/>
            <a:ext cx="5394960" cy="3931920"/>
          </a:xfrm>
          <a:prstGeom prst="roundRect">
            <a:avLst>
              <a:gd name="adj" fmla="val 2326"/>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2715768" y="2148840"/>
            <a:ext cx="1097280" cy="109728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3001061" y="2434133"/>
            <a:ext cx="526694" cy="526694"/>
          </a:xfrm>
          <a:prstGeom prst="rect">
            <a:avLst/>
          </a:prstGeom>
        </p:spPr>
      </p:pic>
      <p:sp>
        <p:nvSpPr>
          <p:cNvPr id="7" name="Text 4"/>
          <p:cNvSpPr/>
          <p:nvPr/>
        </p:nvSpPr>
        <p:spPr>
          <a:xfrm>
            <a:off x="566928" y="3383280"/>
            <a:ext cx="5394960" cy="457200"/>
          </a:xfrm>
          <a:prstGeom prst="rect">
            <a:avLst/>
          </a:prstGeom>
          <a:noFill/>
          <a:ln/>
        </p:spPr>
        <p:txBody>
          <a:bodyPr wrap="square" rtlCol="0" anchor="ctr"/>
          <a:lstStyle/>
          <a:p>
            <a:pPr algn="ctr" indent="0" marL="0">
              <a:buNone/>
            </a:pPr>
            <a:r>
              <a:rPr lang="en-US" sz="2000" b="1" dirty="0">
                <a:solidFill>
                  <a:srgbClr val="2E4A52"/>
                </a:solidFill>
                <a:latin typeface="Cambria" pitchFamily="34" charset="0"/>
                <a:ea typeface="Cambria" pitchFamily="34" charset="-122"/>
                <a:cs typeface="Cambria" pitchFamily="34" charset="-120"/>
              </a:rPr>
              <a:t>Nach außen</a:t>
            </a:r>
            <a:endParaRPr lang="en-US" sz="2000" dirty="0"/>
          </a:p>
        </p:txBody>
      </p:sp>
      <p:sp>
        <p:nvSpPr>
          <p:cNvPr id="8" name="Text 5"/>
          <p:cNvSpPr/>
          <p:nvPr/>
        </p:nvSpPr>
        <p:spPr>
          <a:xfrm>
            <a:off x="841248" y="3931920"/>
            <a:ext cx="4846320" cy="1463040"/>
          </a:xfrm>
          <a:prstGeom prst="rect">
            <a:avLst/>
          </a:prstGeom>
          <a:noFill/>
          <a:ln/>
        </p:spPr>
        <p:txBody>
          <a:bodyPr wrap="square" rtlCol="0" anchor="ctr"/>
          <a:lstStyle/>
          <a:p>
            <a:pPr algn="ctr" indent="0" marL="0">
              <a:lnSpc>
                <a:spcPts val="2400"/>
              </a:lnSpc>
              <a:buNone/>
            </a:pPr>
            <a:r>
              <a:rPr lang="en-US" sz="1500" dirty="0">
                <a:solidFill>
                  <a:srgbClr val="233139"/>
                </a:solidFill>
                <a:latin typeface="Calibri" pitchFamily="34" charset="0"/>
                <a:ea typeface="Calibri" pitchFamily="34" charset="-122"/>
                <a:cs typeface="Calibri" pitchFamily="34" charset="-120"/>
              </a:rPr>
              <a:t>„Alles bestens.“  ·  pünktlich  ·  lächelt</a:t>
            </a:r>
            <a:endParaRPr lang="en-US" sz="1500" dirty="0"/>
          </a:p>
          <a:p>
            <a:pPr algn="ctr" indent="0" marL="0">
              <a:lnSpc>
                <a:spcPts val="2400"/>
              </a:lnSpc>
              <a:buNone/>
            </a:pPr>
            <a:r>
              <a:rPr lang="en-US" sz="1500" dirty="0">
                <a:solidFill>
                  <a:srgbClr val="233139"/>
                </a:solidFill>
                <a:latin typeface="Calibri" pitchFamily="34" charset="0"/>
                <a:ea typeface="Calibri" pitchFamily="34" charset="-122"/>
                <a:cs typeface="Calibri" pitchFamily="34" charset="-120"/>
              </a:rPr>
              <a:t>· funktioniert  ·  witzelt  ·  hilft anderen</a:t>
            </a:r>
            <a:endParaRPr lang="en-US" sz="1500" dirty="0"/>
          </a:p>
        </p:txBody>
      </p:sp>
      <p:sp>
        <p:nvSpPr>
          <p:cNvPr id="9" name="Shape 6"/>
          <p:cNvSpPr/>
          <p:nvPr/>
        </p:nvSpPr>
        <p:spPr>
          <a:xfrm>
            <a:off x="6263640" y="1783080"/>
            <a:ext cx="5394960" cy="3931920"/>
          </a:xfrm>
          <a:prstGeom prst="roundRect">
            <a:avLst>
              <a:gd name="adj" fmla="val 2326"/>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8412480" y="2148840"/>
            <a:ext cx="1097280" cy="109728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8697773" y="2434133"/>
            <a:ext cx="526694" cy="526694"/>
          </a:xfrm>
          <a:prstGeom prst="rect">
            <a:avLst/>
          </a:prstGeom>
        </p:spPr>
      </p:pic>
      <p:sp>
        <p:nvSpPr>
          <p:cNvPr id="12" name="Text 8"/>
          <p:cNvSpPr/>
          <p:nvPr/>
        </p:nvSpPr>
        <p:spPr>
          <a:xfrm>
            <a:off x="6263640" y="3383280"/>
            <a:ext cx="539496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Nach innen</a:t>
            </a:r>
            <a:endParaRPr lang="en-US" sz="2000" dirty="0"/>
          </a:p>
        </p:txBody>
      </p:sp>
      <p:sp>
        <p:nvSpPr>
          <p:cNvPr id="13" name="Text 9"/>
          <p:cNvSpPr/>
          <p:nvPr/>
        </p:nvSpPr>
        <p:spPr>
          <a:xfrm>
            <a:off x="6537960" y="3931920"/>
            <a:ext cx="4846320" cy="1463040"/>
          </a:xfrm>
          <a:prstGeom prst="rect">
            <a:avLst/>
          </a:prstGeom>
          <a:noFill/>
          <a:ln/>
        </p:spPr>
        <p:txBody>
          <a:bodyPr wrap="square" rtlCol="0" anchor="ctr"/>
          <a:lstStyle/>
          <a:p>
            <a:pPr algn="ctr" indent="0" marL="0">
              <a:lnSpc>
                <a:spcPts val="2400"/>
              </a:lnSpc>
              <a:buNone/>
            </a:pPr>
            <a:r>
              <a:rPr lang="en-US" sz="1500" dirty="0">
                <a:solidFill>
                  <a:srgbClr val="DCE7E4"/>
                </a:solidFill>
                <a:latin typeface="Calibri" pitchFamily="34" charset="0"/>
                <a:ea typeface="Calibri" pitchFamily="34" charset="-122"/>
                <a:cs typeface="Calibri" pitchFamily="34" charset="-120"/>
              </a:rPr>
              <a:t>erschöpft  ·  leer  ·  voller Angst</a:t>
            </a:r>
            <a:endParaRPr lang="en-US" sz="1500" dirty="0"/>
          </a:p>
          <a:p>
            <a:pPr algn="ctr" indent="0" marL="0">
              <a:lnSpc>
                <a:spcPts val="2400"/>
              </a:lnSpc>
              <a:buNone/>
            </a:pPr>
            <a:r>
              <a:rPr lang="en-US" sz="1500" dirty="0">
                <a:solidFill>
                  <a:srgbClr val="DCE7E4"/>
                </a:solidFill>
                <a:latin typeface="Calibri" pitchFamily="34" charset="0"/>
                <a:ea typeface="Calibri" pitchFamily="34" charset="-122"/>
                <a:cs typeface="Calibri" pitchFamily="34" charset="-120"/>
              </a:rPr>
              <a:t>· „nur bis nach Hause durchhalten“</a:t>
            </a:r>
            <a:endParaRPr lang="en-US" sz="1500" dirty="0"/>
          </a:p>
        </p:txBody>
      </p:sp>
      <p:sp>
        <p:nvSpPr>
          <p:cNvPr id="14" name="Text 10"/>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Viele Betroffene sind Meister im Verbergen – aus Angst vor Mitleid, Job-Nachteilen und Stigma. Das Funktionieren kostet die letzte Kraft.</a:t>
            </a:r>
            <a:endParaRPr lang="en-US" sz="1400" dirty="0"/>
          </a:p>
        </p:txBody>
      </p:sp>
      <p:sp>
        <p:nvSpPr>
          <p:cNvPr id="16" name="Text 11"/>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7" name="Text 12"/>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4 · DER DENKFEHLER</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Warum „positiv denken“ nicht reicht</a:t>
            </a:r>
            <a:endParaRPr lang="en-US" sz="3300" dirty="0"/>
          </a:p>
        </p:txBody>
      </p:sp>
      <p:sp>
        <p:nvSpPr>
          <p:cNvPr id="4" name="Shape 2"/>
          <p:cNvSpPr/>
          <p:nvPr/>
        </p:nvSpPr>
        <p:spPr>
          <a:xfrm>
            <a:off x="566928" y="1828800"/>
            <a:ext cx="11057839" cy="1920240"/>
          </a:xfrm>
          <a:prstGeom prst="roundRect">
            <a:avLst>
              <a:gd name="adj" fmla="val 4762"/>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78408" y="2240280"/>
            <a:ext cx="1051560" cy="105156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251814" y="2513686"/>
            <a:ext cx="504749" cy="504749"/>
          </a:xfrm>
          <a:prstGeom prst="rect">
            <a:avLst/>
          </a:prstGeom>
        </p:spPr>
      </p:pic>
      <p:sp>
        <p:nvSpPr>
          <p:cNvPr id="7" name="Text 4"/>
          <p:cNvSpPr/>
          <p:nvPr/>
        </p:nvSpPr>
        <p:spPr>
          <a:xfrm>
            <a:off x="2304288" y="2148840"/>
            <a:ext cx="8869680" cy="1280160"/>
          </a:xfrm>
          <a:prstGeom prst="rect">
            <a:avLst/>
          </a:prstGeom>
          <a:noFill/>
          <a:ln/>
        </p:spPr>
        <p:txBody>
          <a:bodyPr wrap="square" rtlCol="0" anchor="ctr"/>
          <a:lstStyle/>
          <a:p>
            <a:pPr indent="0" marL="0">
              <a:lnSpc>
                <a:spcPts val="2600"/>
              </a:lnSpc>
              <a:buNone/>
            </a:pPr>
            <a:r>
              <a:rPr lang="en-US" sz="2200" b="1" dirty="0">
                <a:solidFill>
                  <a:srgbClr val="FFFFFF"/>
                </a:solidFill>
              </a:rPr>
              <a:t>„Denk doch einfach positiv.“
</a:t>
            </a:r>
            <a:endParaRPr lang="en-US" sz="2200" dirty="0"/>
          </a:p>
          <a:p>
            <a:pPr indent="0" marL="0">
              <a:lnSpc>
                <a:spcPts val="2600"/>
              </a:lnSpc>
              <a:buNone/>
            </a:pPr>
            <a:r>
              <a:rPr lang="en-US" sz="1700" i="1" dirty="0">
                <a:solidFill>
                  <a:srgbClr val="C7DED2"/>
                </a:solidFill>
              </a:rPr>
              <a:t>…ist bei einer Depression so hilfreich wie „Lauf halt einfach“ bei einem gebrochenen Bein.</a:t>
            </a:r>
            <a:endParaRPr lang="en-US" sz="2200" dirty="0"/>
          </a:p>
        </p:txBody>
      </p:sp>
      <p:sp>
        <p:nvSpPr>
          <p:cNvPr id="8" name="Shape 5"/>
          <p:cNvSpPr/>
          <p:nvPr/>
        </p:nvSpPr>
        <p:spPr>
          <a:xfrm>
            <a:off x="566928"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9" name="Shape 6"/>
          <p:cNvSpPr/>
          <p:nvPr/>
        </p:nvSpPr>
        <p:spPr>
          <a:xfrm>
            <a:off x="859536" y="4270248"/>
            <a:ext cx="640080" cy="640080"/>
          </a:xfrm>
          <a:prstGeom prst="ellipse">
            <a:avLst/>
          </a:prstGeom>
          <a:solidFill>
            <a:srgbClr val="3F7C79"/>
          </a:solidFill>
          <a:ln/>
        </p:spPr>
      </p:sp>
      <p:pic>
        <p:nvPicPr>
          <p:cNvPr id="10" name="Image 1" descr="preencoded.png">    </p:cNvPr>
          <p:cNvPicPr>
            <a:picLocks noChangeAspect="1"/>
          </p:cNvPicPr>
          <p:nvPr/>
        </p:nvPicPr>
        <p:blipFill>
          <a:blip r:embed="rId2"/>
          <a:stretch>
            <a:fillRect/>
          </a:stretch>
        </p:blipFill>
        <p:spPr>
          <a:xfrm>
            <a:off x="1025957" y="4436669"/>
            <a:ext cx="307238" cy="307238"/>
          </a:xfrm>
          <a:prstGeom prst="rect">
            <a:avLst/>
          </a:prstGeom>
        </p:spPr>
      </p:pic>
      <p:sp>
        <p:nvSpPr>
          <p:cNvPr id="11" name="Text 7"/>
          <p:cNvSpPr/>
          <p:nvPr/>
        </p:nvSpPr>
        <p:spPr>
          <a:xfrm>
            <a:off x="1618488"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Es ist eine Erkrankung</a:t>
            </a:r>
            <a:endParaRPr lang="en-US" sz="1550" dirty="0"/>
          </a:p>
        </p:txBody>
      </p:sp>
      <p:sp>
        <p:nvSpPr>
          <p:cNvPr id="12" name="Text 8"/>
          <p:cNvSpPr/>
          <p:nvPr/>
        </p:nvSpPr>
        <p:spPr>
          <a:xfrm>
            <a:off x="859536"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Depression verändert Hirnstoffwechsel und Antrieb – das lässt sich nicht ‚wegdenken‘.</a:t>
            </a:r>
            <a:endParaRPr lang="en-US" sz="1250" dirty="0"/>
          </a:p>
        </p:txBody>
      </p:sp>
      <p:sp>
        <p:nvSpPr>
          <p:cNvPr id="13" name="Shape 9"/>
          <p:cNvSpPr/>
          <p:nvPr/>
        </p:nvSpPr>
        <p:spPr>
          <a:xfrm>
            <a:off x="4343400"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4" name="Shape 10"/>
          <p:cNvSpPr/>
          <p:nvPr/>
        </p:nvSpPr>
        <p:spPr>
          <a:xfrm>
            <a:off x="4636008" y="4270248"/>
            <a:ext cx="640080" cy="640080"/>
          </a:xfrm>
          <a:prstGeom prst="ellipse">
            <a:avLst/>
          </a:prstGeom>
          <a:solidFill>
            <a:srgbClr val="3F7C79"/>
          </a:solidFill>
          <a:ln/>
        </p:spPr>
      </p:sp>
      <p:pic>
        <p:nvPicPr>
          <p:cNvPr id="15" name="Image 2" descr="preencoded.png">    </p:cNvPr>
          <p:cNvPicPr>
            <a:picLocks noChangeAspect="1"/>
          </p:cNvPicPr>
          <p:nvPr/>
        </p:nvPicPr>
        <p:blipFill>
          <a:blip r:embed="rId3"/>
          <a:stretch>
            <a:fillRect/>
          </a:stretch>
        </p:blipFill>
        <p:spPr>
          <a:xfrm>
            <a:off x="4802429" y="4436669"/>
            <a:ext cx="307238" cy="307238"/>
          </a:xfrm>
          <a:prstGeom prst="rect">
            <a:avLst/>
          </a:prstGeom>
        </p:spPr>
      </p:pic>
      <p:sp>
        <p:nvSpPr>
          <p:cNvPr id="16" name="Text 11"/>
          <p:cNvSpPr/>
          <p:nvPr/>
        </p:nvSpPr>
        <p:spPr>
          <a:xfrm>
            <a:off x="5394960"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Der Wille ist nicht das Problem</a:t>
            </a:r>
            <a:endParaRPr lang="en-US" sz="1550" dirty="0"/>
          </a:p>
        </p:txBody>
      </p:sp>
      <p:sp>
        <p:nvSpPr>
          <p:cNvPr id="17" name="Text 12"/>
          <p:cNvSpPr/>
          <p:nvPr/>
        </p:nvSpPr>
        <p:spPr>
          <a:xfrm>
            <a:off x="4636008"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Betroffene wollen oft verzweifelt – sie können nicht. Willenskraft heilt keine Krankheit.</a:t>
            </a:r>
            <a:endParaRPr lang="en-US" sz="1250" dirty="0"/>
          </a:p>
        </p:txBody>
      </p:sp>
      <p:sp>
        <p:nvSpPr>
          <p:cNvPr id="18" name="Shape 13"/>
          <p:cNvSpPr/>
          <p:nvPr/>
        </p:nvSpPr>
        <p:spPr>
          <a:xfrm>
            <a:off x="8119872"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9" name="Shape 14"/>
          <p:cNvSpPr/>
          <p:nvPr/>
        </p:nvSpPr>
        <p:spPr>
          <a:xfrm>
            <a:off x="8412480" y="4270248"/>
            <a:ext cx="640080" cy="640080"/>
          </a:xfrm>
          <a:prstGeom prst="ellipse">
            <a:avLst/>
          </a:prstGeom>
          <a:solidFill>
            <a:srgbClr val="3F7C79"/>
          </a:solidFill>
          <a:ln/>
        </p:spPr>
      </p:sp>
      <p:pic>
        <p:nvPicPr>
          <p:cNvPr id="20" name="Image 3" descr="preencoded.png">    </p:cNvPr>
          <p:cNvPicPr>
            <a:picLocks noChangeAspect="1"/>
          </p:cNvPicPr>
          <p:nvPr/>
        </p:nvPicPr>
        <p:blipFill>
          <a:blip r:embed="rId4"/>
          <a:stretch>
            <a:fillRect/>
          </a:stretch>
        </p:blipFill>
        <p:spPr>
          <a:xfrm>
            <a:off x="8578901" y="4436669"/>
            <a:ext cx="307238" cy="307238"/>
          </a:xfrm>
          <a:prstGeom prst="rect">
            <a:avLst/>
          </a:prstGeom>
        </p:spPr>
      </p:pic>
      <p:sp>
        <p:nvSpPr>
          <p:cNvPr id="21" name="Text 15"/>
          <p:cNvSpPr/>
          <p:nvPr/>
        </p:nvSpPr>
        <p:spPr>
          <a:xfrm>
            <a:off x="9171432"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Appelle verstärken Scham</a:t>
            </a:r>
            <a:endParaRPr lang="en-US" sz="1550" dirty="0"/>
          </a:p>
        </p:txBody>
      </p:sp>
      <p:sp>
        <p:nvSpPr>
          <p:cNvPr id="22" name="Text 16"/>
          <p:cNvSpPr/>
          <p:nvPr/>
        </p:nvSpPr>
        <p:spPr>
          <a:xfrm>
            <a:off x="8412480"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‚Reiß dich zusammen‘ sagt: ‚Du bist selbst schuld.‘ Das drückt tiefer, statt zu helfen.</a:t>
            </a:r>
            <a:endParaRPr lang="en-US" sz="1250" dirty="0"/>
          </a:p>
        </p:txBody>
      </p:sp>
      <p:sp>
        <p:nvSpPr>
          <p:cNvPr id="24" name="Text 17"/>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5 · DER FAIRE VERGLEICH</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Wie ein Beinbruch – nur unsichtbar</a:t>
            </a:r>
            <a:endParaRPr lang="en-US" sz="3300" dirty="0"/>
          </a:p>
        </p:txBody>
      </p:sp>
      <p:sp>
        <p:nvSpPr>
          <p:cNvPr id="4" name="Shape 2"/>
          <p:cNvSpPr/>
          <p:nvPr/>
        </p:nvSpPr>
        <p:spPr>
          <a:xfrm>
            <a:off x="566928" y="1783080"/>
            <a:ext cx="5391760" cy="566928"/>
          </a:xfrm>
          <a:prstGeom prst="roundRect">
            <a:avLst>
              <a:gd name="adj" fmla="val 9677"/>
            </a:avLst>
          </a:prstGeom>
          <a:solidFill>
            <a:srgbClr val="3F7C79"/>
          </a:solidFill>
          <a:ln/>
        </p:spPr>
      </p:sp>
      <p:sp>
        <p:nvSpPr>
          <p:cNvPr id="5" name="Shape 3"/>
          <p:cNvSpPr/>
          <p:nvPr/>
        </p:nvSpPr>
        <p:spPr>
          <a:xfrm>
            <a:off x="6233008" y="1783080"/>
            <a:ext cx="5391760" cy="566928"/>
          </a:xfrm>
          <a:prstGeom prst="roundRect">
            <a:avLst>
              <a:gd name="adj" fmla="val 9677"/>
            </a:avLst>
          </a:prstGeom>
          <a:solidFill>
            <a:srgbClr val="2E4A52"/>
          </a:solidFill>
          <a:ln/>
        </p:spPr>
      </p:sp>
      <p:sp>
        <p:nvSpPr>
          <p:cNvPr id="6" name="Text 4"/>
          <p:cNvSpPr/>
          <p:nvPr/>
        </p:nvSpPr>
        <p:spPr>
          <a:xfrm>
            <a:off x="56692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Körperlich</a:t>
            </a:r>
            <a:endParaRPr lang="en-US" sz="1700" dirty="0"/>
          </a:p>
        </p:txBody>
      </p:sp>
      <p:sp>
        <p:nvSpPr>
          <p:cNvPr id="7" name="Text 5"/>
          <p:cNvSpPr/>
          <p:nvPr/>
        </p:nvSpPr>
        <p:spPr>
          <a:xfrm>
            <a:off x="623300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Psychisch</a:t>
            </a:r>
            <a:endParaRPr lang="en-US" sz="1700" dirty="0"/>
          </a:p>
        </p:txBody>
      </p:sp>
      <p:sp>
        <p:nvSpPr>
          <p:cNvPr id="8" name="Shape 6"/>
          <p:cNvSpPr/>
          <p:nvPr/>
        </p:nvSpPr>
        <p:spPr>
          <a:xfrm>
            <a:off x="566928" y="2468880"/>
            <a:ext cx="5391760" cy="658368"/>
          </a:xfrm>
          <a:prstGeom prst="rect">
            <a:avLst/>
          </a:prstGeom>
          <a:solidFill>
            <a:srgbClr val="FFFFFF"/>
          </a:solidFill>
          <a:ln w="6350">
            <a:solidFill>
              <a:srgbClr val="DCE6E3"/>
            </a:solidFill>
            <a:prstDash val="solid"/>
          </a:ln>
        </p:spPr>
      </p:sp>
      <p:sp>
        <p:nvSpPr>
          <p:cNvPr id="9" name="Shape 7"/>
          <p:cNvSpPr/>
          <p:nvPr/>
        </p:nvSpPr>
        <p:spPr>
          <a:xfrm>
            <a:off x="6233008" y="2468880"/>
            <a:ext cx="5391760" cy="658368"/>
          </a:xfrm>
          <a:prstGeom prst="rect">
            <a:avLst/>
          </a:prstGeom>
          <a:solidFill>
            <a:srgbClr val="FFFFFF"/>
          </a:solidFill>
          <a:ln w="6350">
            <a:solidFill>
              <a:srgbClr val="DCE6E3"/>
            </a:solidFill>
            <a:prstDash val="solid"/>
          </a:ln>
        </p:spPr>
      </p:sp>
      <p:sp>
        <p:nvSpPr>
          <p:cNvPr id="10" name="Text 8"/>
          <p:cNvSpPr/>
          <p:nvPr/>
        </p:nvSpPr>
        <p:spPr>
          <a:xfrm>
            <a:off x="841248" y="2468880"/>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Man sieht den Gips</a:t>
            </a:r>
            <a:endParaRPr lang="en-US" sz="1450" dirty="0"/>
          </a:p>
        </p:txBody>
      </p:sp>
      <p:sp>
        <p:nvSpPr>
          <p:cNvPr id="11" name="Text 9"/>
          <p:cNvSpPr/>
          <p:nvPr/>
        </p:nvSpPr>
        <p:spPr>
          <a:xfrm>
            <a:off x="6507328" y="2468880"/>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Man sieht nichts</a:t>
            </a:r>
            <a:endParaRPr lang="en-US" sz="1450" dirty="0"/>
          </a:p>
        </p:txBody>
      </p:sp>
      <p:sp>
        <p:nvSpPr>
          <p:cNvPr id="12" name="Shape 10"/>
          <p:cNvSpPr/>
          <p:nvPr/>
        </p:nvSpPr>
        <p:spPr>
          <a:xfrm>
            <a:off x="566928" y="3127248"/>
            <a:ext cx="5391760" cy="658368"/>
          </a:xfrm>
          <a:prstGeom prst="rect">
            <a:avLst/>
          </a:prstGeom>
          <a:solidFill>
            <a:srgbClr val="E8EEEC"/>
          </a:solidFill>
          <a:ln w="6350">
            <a:solidFill>
              <a:srgbClr val="DCE6E3"/>
            </a:solidFill>
            <a:prstDash val="solid"/>
          </a:ln>
        </p:spPr>
      </p:sp>
      <p:sp>
        <p:nvSpPr>
          <p:cNvPr id="13" name="Shape 11"/>
          <p:cNvSpPr/>
          <p:nvPr/>
        </p:nvSpPr>
        <p:spPr>
          <a:xfrm>
            <a:off x="6233008" y="3127248"/>
            <a:ext cx="5391760" cy="658368"/>
          </a:xfrm>
          <a:prstGeom prst="rect">
            <a:avLst/>
          </a:prstGeom>
          <a:solidFill>
            <a:srgbClr val="E8EEEC"/>
          </a:solidFill>
          <a:ln w="6350">
            <a:solidFill>
              <a:srgbClr val="DCE6E3"/>
            </a:solidFill>
            <a:prstDash val="solid"/>
          </a:ln>
        </p:spPr>
      </p:sp>
      <p:sp>
        <p:nvSpPr>
          <p:cNvPr id="14" name="Text 12"/>
          <p:cNvSpPr/>
          <p:nvPr/>
        </p:nvSpPr>
        <p:spPr>
          <a:xfrm>
            <a:off x="841248" y="3127248"/>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„Gute Besserung!“</a:t>
            </a:r>
            <a:endParaRPr lang="en-US" sz="1450" dirty="0"/>
          </a:p>
        </p:txBody>
      </p:sp>
      <p:sp>
        <p:nvSpPr>
          <p:cNvPr id="15" name="Text 13"/>
          <p:cNvSpPr/>
          <p:nvPr/>
        </p:nvSpPr>
        <p:spPr>
          <a:xfrm>
            <a:off x="6507328" y="3127248"/>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„Stell dich nicht so an.“</a:t>
            </a:r>
            <a:endParaRPr lang="en-US" sz="1450" dirty="0"/>
          </a:p>
        </p:txBody>
      </p:sp>
      <p:sp>
        <p:nvSpPr>
          <p:cNvPr id="16" name="Shape 14"/>
          <p:cNvSpPr/>
          <p:nvPr/>
        </p:nvSpPr>
        <p:spPr>
          <a:xfrm>
            <a:off x="566928" y="3785616"/>
            <a:ext cx="5391760" cy="658368"/>
          </a:xfrm>
          <a:prstGeom prst="rect">
            <a:avLst/>
          </a:prstGeom>
          <a:solidFill>
            <a:srgbClr val="FFFFFF"/>
          </a:solidFill>
          <a:ln w="6350">
            <a:solidFill>
              <a:srgbClr val="DCE6E3"/>
            </a:solidFill>
            <a:prstDash val="solid"/>
          </a:ln>
        </p:spPr>
      </p:sp>
      <p:sp>
        <p:nvSpPr>
          <p:cNvPr id="17" name="Shape 15"/>
          <p:cNvSpPr/>
          <p:nvPr/>
        </p:nvSpPr>
        <p:spPr>
          <a:xfrm>
            <a:off x="6233008" y="3785616"/>
            <a:ext cx="5391760" cy="658368"/>
          </a:xfrm>
          <a:prstGeom prst="rect">
            <a:avLst/>
          </a:prstGeom>
          <a:solidFill>
            <a:srgbClr val="FFFFFF"/>
          </a:solidFill>
          <a:ln w="6350">
            <a:solidFill>
              <a:srgbClr val="DCE6E3"/>
            </a:solidFill>
            <a:prstDash val="solid"/>
          </a:ln>
        </p:spPr>
      </p:sp>
      <p:sp>
        <p:nvSpPr>
          <p:cNvPr id="18" name="Text 16"/>
          <p:cNvSpPr/>
          <p:nvPr/>
        </p:nvSpPr>
        <p:spPr>
          <a:xfrm>
            <a:off x="841248" y="3785616"/>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Klare Behandlung, Reha</a:t>
            </a:r>
            <a:endParaRPr lang="en-US" sz="1450" dirty="0"/>
          </a:p>
        </p:txBody>
      </p:sp>
      <p:sp>
        <p:nvSpPr>
          <p:cNvPr id="19" name="Text 17"/>
          <p:cNvSpPr/>
          <p:nvPr/>
        </p:nvSpPr>
        <p:spPr>
          <a:xfrm>
            <a:off x="6507328" y="3785616"/>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Behandlung – aber oft mit Scham</a:t>
            </a:r>
            <a:endParaRPr lang="en-US" sz="1450" dirty="0"/>
          </a:p>
        </p:txBody>
      </p:sp>
      <p:sp>
        <p:nvSpPr>
          <p:cNvPr id="20" name="Shape 18"/>
          <p:cNvSpPr/>
          <p:nvPr/>
        </p:nvSpPr>
        <p:spPr>
          <a:xfrm>
            <a:off x="566928" y="4443984"/>
            <a:ext cx="5391760" cy="658368"/>
          </a:xfrm>
          <a:prstGeom prst="rect">
            <a:avLst/>
          </a:prstGeom>
          <a:solidFill>
            <a:srgbClr val="E8EEEC"/>
          </a:solidFill>
          <a:ln w="6350">
            <a:solidFill>
              <a:srgbClr val="DCE6E3"/>
            </a:solidFill>
            <a:prstDash val="solid"/>
          </a:ln>
        </p:spPr>
      </p:sp>
      <p:sp>
        <p:nvSpPr>
          <p:cNvPr id="21" name="Shape 19"/>
          <p:cNvSpPr/>
          <p:nvPr/>
        </p:nvSpPr>
        <p:spPr>
          <a:xfrm>
            <a:off x="6233008" y="4443984"/>
            <a:ext cx="5391760" cy="658368"/>
          </a:xfrm>
          <a:prstGeom prst="rect">
            <a:avLst/>
          </a:prstGeom>
          <a:solidFill>
            <a:srgbClr val="E8EEEC"/>
          </a:solidFill>
          <a:ln w="6350">
            <a:solidFill>
              <a:srgbClr val="DCE6E3"/>
            </a:solidFill>
            <a:prstDash val="solid"/>
          </a:ln>
        </p:spPr>
      </p:sp>
      <p:sp>
        <p:nvSpPr>
          <p:cNvPr id="22" name="Text 20"/>
          <p:cNvSpPr/>
          <p:nvPr/>
        </p:nvSpPr>
        <p:spPr>
          <a:xfrm>
            <a:off x="841248" y="4443984"/>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Niemand zweifelt daran</a:t>
            </a:r>
            <a:endParaRPr lang="en-US" sz="1450" dirty="0"/>
          </a:p>
        </p:txBody>
      </p:sp>
      <p:sp>
        <p:nvSpPr>
          <p:cNvPr id="23" name="Text 21"/>
          <p:cNvSpPr/>
          <p:nvPr/>
        </p:nvSpPr>
        <p:spPr>
          <a:xfrm>
            <a:off x="6507328" y="4443984"/>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„Ist das nicht Einbildung?“</a:t>
            </a:r>
            <a:endParaRPr lang="en-US" sz="1450" dirty="0"/>
          </a:p>
        </p:txBody>
      </p:sp>
      <p:sp>
        <p:nvSpPr>
          <p:cNvPr id="24" name="Shape 22"/>
          <p:cNvSpPr/>
          <p:nvPr/>
        </p:nvSpPr>
        <p:spPr>
          <a:xfrm>
            <a:off x="566928" y="5102352"/>
            <a:ext cx="5391760" cy="658368"/>
          </a:xfrm>
          <a:prstGeom prst="rect">
            <a:avLst/>
          </a:prstGeom>
          <a:solidFill>
            <a:srgbClr val="FFFFFF"/>
          </a:solidFill>
          <a:ln w="6350">
            <a:solidFill>
              <a:srgbClr val="DCE6E3"/>
            </a:solidFill>
            <a:prstDash val="solid"/>
          </a:ln>
        </p:spPr>
      </p:sp>
      <p:sp>
        <p:nvSpPr>
          <p:cNvPr id="25" name="Shape 23"/>
          <p:cNvSpPr/>
          <p:nvPr/>
        </p:nvSpPr>
        <p:spPr>
          <a:xfrm>
            <a:off x="6233008" y="5102352"/>
            <a:ext cx="5391760" cy="658368"/>
          </a:xfrm>
          <a:prstGeom prst="rect">
            <a:avLst/>
          </a:prstGeom>
          <a:solidFill>
            <a:srgbClr val="FFFFFF"/>
          </a:solidFill>
          <a:ln w="6350">
            <a:solidFill>
              <a:srgbClr val="DCE6E3"/>
            </a:solidFill>
            <a:prstDash val="solid"/>
          </a:ln>
        </p:spPr>
      </p:sp>
      <p:sp>
        <p:nvSpPr>
          <p:cNvPr id="26" name="Text 24"/>
          <p:cNvSpPr/>
          <p:nvPr/>
        </p:nvSpPr>
        <p:spPr>
          <a:xfrm>
            <a:off x="841248" y="5102352"/>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Heilung erwartet</a:t>
            </a:r>
            <a:endParaRPr lang="en-US" sz="1450" dirty="0"/>
          </a:p>
        </p:txBody>
      </p:sp>
      <p:sp>
        <p:nvSpPr>
          <p:cNvPr id="27" name="Text 25"/>
          <p:cNvSpPr/>
          <p:nvPr/>
        </p:nvSpPr>
        <p:spPr>
          <a:xfrm>
            <a:off x="6507328" y="5102352"/>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Heilung ebenso möglich</a:t>
            </a:r>
            <a:endParaRPr lang="en-US" sz="1450" dirty="0"/>
          </a:p>
        </p:txBody>
      </p:sp>
      <p:sp>
        <p:nvSpPr>
          <p:cNvPr id="29"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BILD 6 · ANGST &amp; PANIK VON INNEN</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Der Körper im Vollalarm – ohne Feuer</a:t>
            </a:r>
            <a:endParaRPr lang="en-US" sz="2800" dirty="0"/>
          </a:p>
        </p:txBody>
      </p:sp>
      <p:sp>
        <p:nvSpPr>
          <p:cNvPr id="4" name="Shape 2"/>
          <p:cNvSpPr/>
          <p:nvPr/>
        </p:nvSpPr>
        <p:spPr>
          <a:xfrm>
            <a:off x="566928" y="1828800"/>
            <a:ext cx="5394960" cy="1554480"/>
          </a:xfrm>
          <a:prstGeom prst="roundRect">
            <a:avLst>
              <a:gd name="adj" fmla="val 5294"/>
            </a:avLst>
          </a:prstGeom>
          <a:solidFill>
            <a:srgbClr val="35545C"/>
          </a:solidFill>
          <a:ln w="12700">
            <a:solidFill>
              <a:srgbClr val="436A72"/>
            </a:solidFill>
            <a:prstDash val="solid"/>
          </a:ln>
        </p:spPr>
      </p:sp>
      <p:sp>
        <p:nvSpPr>
          <p:cNvPr id="5" name="Shape 3"/>
          <p:cNvSpPr/>
          <p:nvPr/>
        </p:nvSpPr>
        <p:spPr>
          <a:xfrm>
            <a:off x="886968" y="2240280"/>
            <a:ext cx="731520" cy="73152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01368" y="21488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Herz rast</a:t>
            </a:r>
            <a:endParaRPr lang="en-US" sz="1800" dirty="0"/>
          </a:p>
        </p:txBody>
      </p:sp>
      <p:sp>
        <p:nvSpPr>
          <p:cNvPr id="8" name="Text 5"/>
          <p:cNvSpPr/>
          <p:nvPr/>
        </p:nvSpPr>
        <p:spPr>
          <a:xfrm>
            <a:off x="1801368" y="26060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als müsstest du sofort um dein Leben rennen</a:t>
            </a:r>
            <a:endParaRPr lang="en-US" sz="1300" dirty="0"/>
          </a:p>
        </p:txBody>
      </p:sp>
      <p:sp>
        <p:nvSpPr>
          <p:cNvPr id="9" name="Shape 6"/>
          <p:cNvSpPr/>
          <p:nvPr/>
        </p:nvSpPr>
        <p:spPr>
          <a:xfrm>
            <a:off x="6281928" y="1828800"/>
            <a:ext cx="5394960" cy="1554480"/>
          </a:xfrm>
          <a:prstGeom prst="roundRect">
            <a:avLst>
              <a:gd name="adj" fmla="val 5294"/>
            </a:avLst>
          </a:prstGeom>
          <a:solidFill>
            <a:srgbClr val="35545C"/>
          </a:solidFill>
          <a:ln w="12700">
            <a:solidFill>
              <a:srgbClr val="436A72"/>
            </a:solidFill>
            <a:prstDash val="solid"/>
          </a:ln>
        </p:spPr>
      </p:sp>
      <p:sp>
        <p:nvSpPr>
          <p:cNvPr id="10" name="Shape 7"/>
          <p:cNvSpPr/>
          <p:nvPr/>
        </p:nvSpPr>
        <p:spPr>
          <a:xfrm>
            <a:off x="6601968" y="2240280"/>
            <a:ext cx="731520" cy="73152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16368" y="21488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Atem wird eng</a:t>
            </a:r>
            <a:endParaRPr lang="en-US" sz="1800" dirty="0"/>
          </a:p>
        </p:txBody>
      </p:sp>
      <p:sp>
        <p:nvSpPr>
          <p:cNvPr id="13" name="Text 9"/>
          <p:cNvSpPr/>
          <p:nvPr/>
        </p:nvSpPr>
        <p:spPr>
          <a:xfrm>
            <a:off x="7516368" y="26060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Schwindel, Kribbeln, Enge in der Brust</a:t>
            </a:r>
            <a:endParaRPr lang="en-US" sz="1300" dirty="0"/>
          </a:p>
        </p:txBody>
      </p:sp>
      <p:sp>
        <p:nvSpPr>
          <p:cNvPr id="14" name="Shape 10"/>
          <p:cNvSpPr/>
          <p:nvPr/>
        </p:nvSpPr>
        <p:spPr>
          <a:xfrm>
            <a:off x="566928" y="3657600"/>
            <a:ext cx="5394960" cy="1554480"/>
          </a:xfrm>
          <a:prstGeom prst="roundRect">
            <a:avLst>
              <a:gd name="adj" fmla="val 5294"/>
            </a:avLst>
          </a:prstGeom>
          <a:solidFill>
            <a:srgbClr val="35545C"/>
          </a:solidFill>
          <a:ln w="12700">
            <a:solidFill>
              <a:srgbClr val="436A72"/>
            </a:solidFill>
            <a:prstDash val="solid"/>
          </a:ln>
        </p:spPr>
      </p:sp>
      <p:sp>
        <p:nvSpPr>
          <p:cNvPr id="15" name="Shape 11"/>
          <p:cNvSpPr/>
          <p:nvPr/>
        </p:nvSpPr>
        <p:spPr>
          <a:xfrm>
            <a:off x="886968" y="4069080"/>
            <a:ext cx="731520" cy="731520"/>
          </a:xfrm>
          <a:prstGeom prst="ellipse">
            <a:avLst/>
          </a:prstGeom>
          <a:solidFill>
            <a:srgbClr val="D99A5B"/>
          </a:solidFill>
          <a:ln/>
        </p:spPr>
      </p:sp>
      <p:pic>
        <p:nvPicPr>
          <p:cNvPr id="16" name="Image 2" descr="preencoded.png">    </p:cNvPr>
          <p:cNvPicPr>
            <a:picLocks noChangeAspect="1"/>
          </p:cNvPicPr>
          <p:nvPr/>
        </p:nvPicPr>
        <p:blipFill>
          <a:blip r:embed="rId3"/>
          <a:stretch>
            <a:fillRect/>
          </a:stretch>
        </p:blipFill>
        <p:spPr>
          <a:xfrm>
            <a:off x="1077163" y="4259275"/>
            <a:ext cx="351130" cy="351130"/>
          </a:xfrm>
          <a:prstGeom prst="rect">
            <a:avLst/>
          </a:prstGeom>
        </p:spPr>
      </p:pic>
      <p:sp>
        <p:nvSpPr>
          <p:cNvPr id="17" name="Text 12"/>
          <p:cNvSpPr/>
          <p:nvPr/>
        </p:nvSpPr>
        <p:spPr>
          <a:xfrm>
            <a:off x="1801368" y="39776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„Ich sterbe gleich“</a:t>
            </a:r>
            <a:endParaRPr lang="en-US" sz="1800" dirty="0"/>
          </a:p>
        </p:txBody>
      </p:sp>
      <p:sp>
        <p:nvSpPr>
          <p:cNvPr id="18" name="Text 13"/>
          <p:cNvSpPr/>
          <p:nvPr/>
        </p:nvSpPr>
        <p:spPr>
          <a:xfrm>
            <a:off x="1801368" y="44348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der Verstand ist überzeugt: das ist der Ernstfall</a:t>
            </a:r>
            <a:endParaRPr lang="en-US" sz="1300" dirty="0"/>
          </a:p>
        </p:txBody>
      </p:sp>
      <p:sp>
        <p:nvSpPr>
          <p:cNvPr id="19" name="Shape 14"/>
          <p:cNvSpPr/>
          <p:nvPr/>
        </p:nvSpPr>
        <p:spPr>
          <a:xfrm>
            <a:off x="6281928" y="3657600"/>
            <a:ext cx="5394960" cy="1554480"/>
          </a:xfrm>
          <a:prstGeom prst="roundRect">
            <a:avLst>
              <a:gd name="adj" fmla="val 5294"/>
            </a:avLst>
          </a:prstGeom>
          <a:solidFill>
            <a:srgbClr val="35545C"/>
          </a:solidFill>
          <a:ln w="12700">
            <a:solidFill>
              <a:srgbClr val="436A72"/>
            </a:solidFill>
            <a:prstDash val="solid"/>
          </a:ln>
        </p:spPr>
      </p:sp>
      <p:sp>
        <p:nvSpPr>
          <p:cNvPr id="20" name="Shape 15"/>
          <p:cNvSpPr/>
          <p:nvPr/>
        </p:nvSpPr>
        <p:spPr>
          <a:xfrm>
            <a:off x="6601968" y="4069080"/>
            <a:ext cx="731520" cy="731520"/>
          </a:xfrm>
          <a:prstGeom prst="ellipse">
            <a:avLst/>
          </a:prstGeom>
          <a:solidFill>
            <a:srgbClr val="D99A5B"/>
          </a:solidFill>
          <a:ln/>
        </p:spPr>
      </p:sp>
      <p:pic>
        <p:nvPicPr>
          <p:cNvPr id="21" name="Image 3" descr="preencoded.png">    </p:cNvPr>
          <p:cNvPicPr>
            <a:picLocks noChangeAspect="1"/>
          </p:cNvPicPr>
          <p:nvPr/>
        </p:nvPicPr>
        <p:blipFill>
          <a:blip r:embed="rId4"/>
          <a:stretch>
            <a:fillRect/>
          </a:stretch>
        </p:blipFill>
        <p:spPr>
          <a:xfrm>
            <a:off x="6792163" y="4259275"/>
            <a:ext cx="351130" cy="351130"/>
          </a:xfrm>
          <a:prstGeom prst="rect">
            <a:avLst/>
          </a:prstGeom>
        </p:spPr>
      </p:pic>
      <p:sp>
        <p:nvSpPr>
          <p:cNvPr id="22" name="Text 16"/>
          <p:cNvSpPr/>
          <p:nvPr/>
        </p:nvSpPr>
        <p:spPr>
          <a:xfrm>
            <a:off x="7516368" y="39776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Nach Minuten vorbei</a:t>
            </a:r>
            <a:endParaRPr lang="en-US" sz="1800" dirty="0"/>
          </a:p>
        </p:txBody>
      </p:sp>
      <p:sp>
        <p:nvSpPr>
          <p:cNvPr id="23" name="Text 17"/>
          <p:cNvSpPr/>
          <p:nvPr/>
        </p:nvSpPr>
        <p:spPr>
          <a:xfrm>
            <a:off x="7516368" y="44348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und doch bleibt die Angst vor der nächsten Welle</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C7DED2"/>
                </a:solidFill>
                <a:latin typeface="Calibri" pitchFamily="34" charset="0"/>
                <a:ea typeface="Calibri" pitchFamily="34" charset="-122"/>
                <a:cs typeface="Calibri" pitchFamily="34" charset="-120"/>
              </a:rPr>
              <a:t>Das Entscheidende: Die Gefahr ist nicht real – die Angst schon. Man kann sie sich nicht ‚ausreden‘.</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AUS DEM ECHTEN LEBEN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Wie sich das im Alltag zeigt</a:t>
            </a:r>
            <a:endParaRPr lang="en-US" sz="3300" dirty="0"/>
          </a:p>
        </p:txBody>
      </p:sp>
      <p:sp>
        <p:nvSpPr>
          <p:cNvPr id="4" name="Shape 2"/>
          <p:cNvSpPr/>
          <p:nvPr/>
        </p:nvSpPr>
        <p:spPr>
          <a:xfrm>
            <a:off x="566928" y="178308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221992"/>
            <a:ext cx="713232" cy="713232"/>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72408" y="2407432"/>
            <a:ext cx="342351" cy="342351"/>
          </a:xfrm>
          <a:prstGeom prst="rect">
            <a:avLst/>
          </a:prstGeom>
        </p:spPr>
      </p:pic>
      <p:sp>
        <p:nvSpPr>
          <p:cNvPr id="7" name="Text 4"/>
          <p:cNvSpPr/>
          <p:nvPr/>
        </p:nvSpPr>
        <p:spPr>
          <a:xfrm>
            <a:off x="1801368" y="207568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Die Absage in letzter Minute</a:t>
            </a:r>
            <a:endParaRPr lang="en-US" sz="1650" dirty="0"/>
          </a:p>
        </p:txBody>
      </p:sp>
      <p:sp>
        <p:nvSpPr>
          <p:cNvPr id="8" name="Text 5"/>
          <p:cNvSpPr/>
          <p:nvPr/>
        </p:nvSpPr>
        <p:spPr>
          <a:xfrm>
            <a:off x="1801368" y="256946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Nicht Desinteresse – die Kraft für Menschen hat heute einfach nicht gereicht.</a:t>
            </a:r>
            <a:endParaRPr lang="en-US" sz="1300" dirty="0"/>
          </a:p>
        </p:txBody>
      </p:sp>
      <p:sp>
        <p:nvSpPr>
          <p:cNvPr id="9" name="Shape 6"/>
          <p:cNvSpPr/>
          <p:nvPr/>
        </p:nvSpPr>
        <p:spPr>
          <a:xfrm>
            <a:off x="6281928" y="178308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221992"/>
            <a:ext cx="713232" cy="713232"/>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787408" y="2407432"/>
            <a:ext cx="342351" cy="342351"/>
          </a:xfrm>
          <a:prstGeom prst="rect">
            <a:avLst/>
          </a:prstGeom>
        </p:spPr>
      </p:pic>
      <p:sp>
        <p:nvSpPr>
          <p:cNvPr id="12" name="Text 8"/>
          <p:cNvSpPr/>
          <p:nvPr/>
        </p:nvSpPr>
        <p:spPr>
          <a:xfrm>
            <a:off x="7516368" y="207568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Gereiztheit „aus dem Nichts“</a:t>
            </a:r>
            <a:endParaRPr lang="en-US" sz="1650" dirty="0"/>
          </a:p>
        </p:txBody>
      </p:sp>
      <p:sp>
        <p:nvSpPr>
          <p:cNvPr id="13" name="Text 9"/>
          <p:cNvSpPr/>
          <p:nvPr/>
        </p:nvSpPr>
        <p:spPr>
          <a:xfrm>
            <a:off x="7516368" y="256946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Wenn die innere Batterie leer ist, wird jede Kleinigkeit zu viel.</a:t>
            </a:r>
            <a:endParaRPr lang="en-US" sz="1300" dirty="0"/>
          </a:p>
        </p:txBody>
      </p:sp>
      <p:sp>
        <p:nvSpPr>
          <p:cNvPr id="14" name="Shape 10"/>
          <p:cNvSpPr/>
          <p:nvPr/>
        </p:nvSpPr>
        <p:spPr>
          <a:xfrm>
            <a:off x="566928" y="365760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096512"/>
            <a:ext cx="713232" cy="713232"/>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72408" y="4281952"/>
            <a:ext cx="342351" cy="342351"/>
          </a:xfrm>
          <a:prstGeom prst="rect">
            <a:avLst/>
          </a:prstGeom>
        </p:spPr>
      </p:pic>
      <p:sp>
        <p:nvSpPr>
          <p:cNvPr id="17" name="Text 12"/>
          <p:cNvSpPr/>
          <p:nvPr/>
        </p:nvSpPr>
        <p:spPr>
          <a:xfrm>
            <a:off x="1801368" y="395020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Morgens wie durch Watte</a:t>
            </a:r>
            <a:endParaRPr lang="en-US" sz="1650" dirty="0"/>
          </a:p>
        </p:txBody>
      </p:sp>
      <p:sp>
        <p:nvSpPr>
          <p:cNvPr id="18" name="Text 13"/>
          <p:cNvSpPr/>
          <p:nvPr/>
        </p:nvSpPr>
        <p:spPr>
          <a:xfrm>
            <a:off x="1801368" y="444398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Der Tag beginnt schon erschöpft – noch bevor irgendetwas passiert ist.</a:t>
            </a:r>
            <a:endParaRPr lang="en-US" sz="1300" dirty="0"/>
          </a:p>
        </p:txBody>
      </p:sp>
      <p:sp>
        <p:nvSpPr>
          <p:cNvPr id="19" name="Shape 14"/>
          <p:cNvSpPr/>
          <p:nvPr/>
        </p:nvSpPr>
        <p:spPr>
          <a:xfrm>
            <a:off x="6281928" y="365760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096512"/>
            <a:ext cx="713232" cy="713232"/>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6787408" y="4281952"/>
            <a:ext cx="342351" cy="342351"/>
          </a:xfrm>
          <a:prstGeom prst="rect">
            <a:avLst/>
          </a:prstGeom>
        </p:spPr>
      </p:pic>
      <p:sp>
        <p:nvSpPr>
          <p:cNvPr id="22" name="Text 16"/>
          <p:cNvSpPr/>
          <p:nvPr/>
        </p:nvSpPr>
        <p:spPr>
          <a:xfrm>
            <a:off x="7516368" y="395020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Der gemiedene Supermarkt</a:t>
            </a:r>
            <a:endParaRPr lang="en-US" sz="1650" dirty="0"/>
          </a:p>
        </p:txBody>
      </p:sp>
      <p:sp>
        <p:nvSpPr>
          <p:cNvPr id="23" name="Text 17"/>
          <p:cNvSpPr/>
          <p:nvPr/>
        </p:nvSpPr>
        <p:spPr>
          <a:xfrm>
            <a:off x="7516368" y="444398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Bei Angst wird die Welt still kleiner: Erst dieser Ort, dann jener.</a:t>
            </a:r>
            <a:endParaRPr lang="en-US" sz="1300" dirty="0"/>
          </a:p>
        </p:txBody>
      </p:sp>
      <p:sp>
        <p:nvSpPr>
          <p:cNvPr id="24" name="Text 18"/>
          <p:cNvSpPr/>
          <p:nvPr/>
        </p:nvSpPr>
        <p:spPr>
          <a:xfrm>
            <a:off x="566928" y="5943600"/>
            <a:ext cx="11057839" cy="411480"/>
          </a:xfrm>
          <a:prstGeom prst="rect">
            <a:avLst/>
          </a:prstGeom>
          <a:noFill/>
          <a:ln/>
        </p:spPr>
        <p:txBody>
          <a:bodyPr wrap="square" rtlCol="0" anchor="ctr"/>
          <a:lstStyle/>
          <a:p>
            <a:pPr indent="0" marL="0">
              <a:buNone/>
            </a:pPr>
            <a:r>
              <a:rPr lang="en-US" sz="1400" i="1" dirty="0">
                <a:solidFill>
                  <a:srgbClr val="3F7C79"/>
                </a:solidFill>
                <a:latin typeface="Calibri" pitchFamily="34" charset="0"/>
                <a:ea typeface="Calibri" pitchFamily="34" charset="-122"/>
                <a:cs typeface="Calibri" pitchFamily="34" charset="-120"/>
              </a:rPr>
              <a:t>Mein Beispiel: ________________________________________________</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414A"/>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1E353B"/>
          </a:solidFill>
          <a:ln/>
        </p:spPr>
      </p:sp>
      <p:sp>
        <p:nvSpPr>
          <p:cNvPr id="3" name="Shape 1"/>
          <p:cNvSpPr/>
          <p:nvPr/>
        </p:nvSpPr>
        <p:spPr>
          <a:xfrm>
            <a:off x="1371600" y="109728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28216" y="1453896"/>
            <a:ext cx="658368" cy="658368"/>
          </a:xfrm>
          <a:prstGeom prst="rect">
            <a:avLst/>
          </a:prstGeom>
        </p:spPr>
      </p:pic>
      <p:sp>
        <p:nvSpPr>
          <p:cNvPr id="5" name="Text 2"/>
          <p:cNvSpPr/>
          <p:nvPr/>
        </p:nvSpPr>
        <p:spPr>
          <a:xfrm>
            <a:off x="548640" y="2606040"/>
            <a:ext cx="329184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ÜBUNG · PERSPEKTIVWECHSEL</a:t>
            </a:r>
            <a:endParaRPr lang="en-US" sz="1200" dirty="0"/>
          </a:p>
        </p:txBody>
      </p:sp>
      <p:sp>
        <p:nvSpPr>
          <p:cNvPr id="6" name="Text 3"/>
          <p:cNvSpPr/>
          <p:nvPr/>
        </p:nvSpPr>
        <p:spPr>
          <a:xfrm>
            <a:off x="548640" y="2880360"/>
            <a:ext cx="3383280" cy="128016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Ein Tag mit Depression</a:t>
            </a:r>
            <a:endParaRPr lang="en-US" sz="2600" dirty="0"/>
          </a:p>
        </p:txBody>
      </p:sp>
      <p:sp>
        <p:nvSpPr>
          <p:cNvPr id="7" name="Shape 4"/>
          <p:cNvSpPr/>
          <p:nvPr/>
        </p:nvSpPr>
        <p:spPr>
          <a:xfrm>
            <a:off x="548640" y="5212080"/>
            <a:ext cx="2377440" cy="502920"/>
          </a:xfrm>
          <a:prstGeom prst="roundRect">
            <a:avLst>
              <a:gd name="adj" fmla="val 18182"/>
            </a:avLst>
          </a:prstGeom>
          <a:solidFill>
            <a:srgbClr val="D99A5B"/>
          </a:solidFill>
          <a:ln/>
        </p:spPr>
      </p:sp>
      <p:sp>
        <p:nvSpPr>
          <p:cNvPr id="8" name="Text 5"/>
          <p:cNvSpPr/>
          <p:nvPr/>
        </p:nvSpPr>
        <p:spPr>
          <a:xfrm>
            <a:off x="548640" y="5212080"/>
            <a:ext cx="2377440" cy="502920"/>
          </a:xfrm>
          <a:prstGeom prst="rect">
            <a:avLst/>
          </a:prstGeom>
          <a:noFill/>
          <a:ln/>
        </p:spPr>
        <p:txBody>
          <a:bodyPr wrap="square" rtlCol="0" anchor="ctr"/>
          <a:lstStyle/>
          <a:p>
            <a:pPr algn="ctr" indent="0" marL="0">
              <a:buNone/>
            </a:pPr>
            <a:r>
              <a:rPr lang="en-US" sz="1400" b="1" dirty="0">
                <a:solidFill>
                  <a:srgbClr val="1E353B"/>
                </a:solidFill>
                <a:latin typeface="Calibri" pitchFamily="34" charset="0"/>
                <a:ea typeface="Calibri" pitchFamily="34" charset="-122"/>
                <a:cs typeface="Calibri" pitchFamily="34" charset="-120"/>
              </a:rPr>
              <a:t>⏱  15 Min.</a:t>
            </a:r>
            <a:endParaRPr lang="en-US" sz="1400" dirty="0"/>
          </a:p>
        </p:txBody>
      </p:sp>
      <p:sp>
        <p:nvSpPr>
          <p:cNvPr id="9" name="Text 6"/>
          <p:cNvSpPr/>
          <p:nvPr/>
        </p:nvSpPr>
        <p:spPr>
          <a:xfrm>
            <a:off x="4480560" y="640080"/>
            <a:ext cx="68580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SO GEHT’S</a:t>
            </a:r>
            <a:endParaRPr lang="en-US" sz="1200" dirty="0"/>
          </a:p>
        </p:txBody>
      </p:sp>
      <p:sp>
        <p:nvSpPr>
          <p:cNvPr id="10" name="Shape 7"/>
          <p:cNvSpPr/>
          <p:nvPr/>
        </p:nvSpPr>
        <p:spPr>
          <a:xfrm>
            <a:off x="4526280" y="1024128"/>
            <a:ext cx="402336" cy="402336"/>
          </a:xfrm>
          <a:prstGeom prst="ellipse">
            <a:avLst/>
          </a:prstGeom>
          <a:solidFill>
            <a:srgbClr val="3F7C79"/>
          </a:solidFill>
          <a:ln/>
        </p:spPr>
      </p:sp>
      <p:sp>
        <p:nvSpPr>
          <p:cNvPr id="11" name="Text 8"/>
          <p:cNvSpPr/>
          <p:nvPr/>
        </p:nvSpPr>
        <p:spPr>
          <a:xfrm>
            <a:off x="4526280" y="1024128"/>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2" name="Text 9"/>
          <p:cNvSpPr/>
          <p:nvPr/>
        </p:nvSpPr>
        <p:spPr>
          <a:xfrm>
            <a:off x="5120640" y="960120"/>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Jede/r bekommt das Kärtchen „Ein Tag mit Depression“ (Kopiervorlage).</a:t>
            </a:r>
            <a:endParaRPr lang="en-US" sz="1450" dirty="0"/>
          </a:p>
        </p:txBody>
      </p:sp>
      <p:sp>
        <p:nvSpPr>
          <p:cNvPr id="13" name="Shape 10"/>
          <p:cNvSpPr/>
          <p:nvPr/>
        </p:nvSpPr>
        <p:spPr>
          <a:xfrm>
            <a:off x="4526280" y="1682496"/>
            <a:ext cx="402336" cy="402336"/>
          </a:xfrm>
          <a:prstGeom prst="ellipse">
            <a:avLst/>
          </a:prstGeom>
          <a:solidFill>
            <a:srgbClr val="3F7C79"/>
          </a:solidFill>
          <a:ln/>
        </p:spPr>
      </p:sp>
      <p:sp>
        <p:nvSpPr>
          <p:cNvPr id="14" name="Text 11"/>
          <p:cNvSpPr/>
          <p:nvPr/>
        </p:nvSpPr>
        <p:spPr>
          <a:xfrm>
            <a:off x="4526280" y="1682496"/>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2"/>
          <p:cNvSpPr/>
          <p:nvPr/>
        </p:nvSpPr>
        <p:spPr>
          <a:xfrm>
            <a:off x="5120640" y="1618488"/>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Lesen Sie den Tagesablauf still – jede Aufgabe kostet ‚+15 kg‘.</a:t>
            </a:r>
            <a:endParaRPr lang="en-US" sz="1450" dirty="0"/>
          </a:p>
        </p:txBody>
      </p:sp>
      <p:sp>
        <p:nvSpPr>
          <p:cNvPr id="16" name="Shape 13"/>
          <p:cNvSpPr/>
          <p:nvPr/>
        </p:nvSpPr>
        <p:spPr>
          <a:xfrm>
            <a:off x="4526280" y="2340864"/>
            <a:ext cx="402336" cy="402336"/>
          </a:xfrm>
          <a:prstGeom prst="ellipse">
            <a:avLst/>
          </a:prstGeom>
          <a:solidFill>
            <a:srgbClr val="3F7C79"/>
          </a:solidFill>
          <a:ln/>
        </p:spPr>
      </p:sp>
      <p:sp>
        <p:nvSpPr>
          <p:cNvPr id="17" name="Text 14"/>
          <p:cNvSpPr/>
          <p:nvPr/>
        </p:nvSpPr>
        <p:spPr>
          <a:xfrm>
            <a:off x="4526280" y="2340864"/>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5"/>
          <p:cNvSpPr/>
          <p:nvPr/>
        </p:nvSpPr>
        <p:spPr>
          <a:xfrm>
            <a:off x="5120640" y="2276856"/>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Markieren Sie: Was hätten Sie heute so nicht geschafft?</a:t>
            </a:r>
            <a:endParaRPr lang="en-US" sz="1450" dirty="0"/>
          </a:p>
        </p:txBody>
      </p:sp>
      <p:sp>
        <p:nvSpPr>
          <p:cNvPr id="19" name="Shape 16"/>
          <p:cNvSpPr/>
          <p:nvPr/>
        </p:nvSpPr>
        <p:spPr>
          <a:xfrm>
            <a:off x="4526280" y="2999232"/>
            <a:ext cx="402336" cy="402336"/>
          </a:xfrm>
          <a:prstGeom prst="ellipse">
            <a:avLst/>
          </a:prstGeom>
          <a:solidFill>
            <a:srgbClr val="3F7C79"/>
          </a:solidFill>
          <a:ln/>
        </p:spPr>
      </p:sp>
      <p:sp>
        <p:nvSpPr>
          <p:cNvPr id="20" name="Text 17"/>
          <p:cNvSpPr/>
          <p:nvPr/>
        </p:nvSpPr>
        <p:spPr>
          <a:xfrm>
            <a:off x="4526280" y="2999232"/>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1" name="Text 18"/>
          <p:cNvSpPr/>
          <p:nvPr/>
        </p:nvSpPr>
        <p:spPr>
          <a:xfrm>
            <a:off x="5120640" y="2935224"/>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Kurzer Austausch zu zweit, dann Blitzlicht im Plenum.</a:t>
            </a:r>
            <a:endParaRPr lang="en-US" sz="1450" dirty="0"/>
          </a:p>
        </p:txBody>
      </p:sp>
      <p:sp>
        <p:nvSpPr>
          <p:cNvPr id="22" name="Shape 19"/>
          <p:cNvSpPr/>
          <p:nvPr/>
        </p:nvSpPr>
        <p:spPr>
          <a:xfrm>
            <a:off x="4480560" y="3730752"/>
            <a:ext cx="7178040" cy="2167128"/>
          </a:xfrm>
          <a:prstGeom prst="roundRect">
            <a:avLst>
              <a:gd name="adj" fmla="val 3797"/>
            </a:avLst>
          </a:prstGeom>
          <a:solidFill>
            <a:srgbClr val="2C4A52"/>
          </a:solidFill>
          <a:ln w="12700">
            <a:solidFill>
              <a:srgbClr val="3C5C63"/>
            </a:solidFill>
            <a:prstDash val="solid"/>
          </a:ln>
        </p:spPr>
      </p:sp>
      <p:sp>
        <p:nvSpPr>
          <p:cNvPr id="23" name="Text 20"/>
          <p:cNvSpPr/>
          <p:nvPr/>
        </p:nvSpPr>
        <p:spPr>
          <a:xfrm>
            <a:off x="4709160" y="3895344"/>
            <a:ext cx="6766560" cy="365760"/>
          </a:xfrm>
          <a:prstGeom prst="rect">
            <a:avLst/>
          </a:prstGeom>
          <a:noFill/>
          <a:ln/>
        </p:spPr>
        <p:txBody>
          <a:bodyPr wrap="square" rtlCol="0" anchor="ctr"/>
          <a:lstStyle/>
          <a:p>
            <a:pPr indent="0" marL="0">
              <a:buNone/>
            </a:pPr>
            <a:r>
              <a:rPr lang="en-US" sz="1500" b="1" dirty="0">
                <a:solidFill>
                  <a:srgbClr val="D99A5B"/>
                </a:solidFill>
                <a:latin typeface="Cambria" pitchFamily="34" charset="0"/>
                <a:ea typeface="Cambria" pitchFamily="34" charset="-122"/>
                <a:cs typeface="Cambria" pitchFamily="34" charset="-120"/>
              </a:rPr>
              <a:t>Reflexion</a:t>
            </a:r>
            <a:endParaRPr lang="en-US" sz="1500" dirty="0"/>
          </a:p>
        </p:txBody>
      </p:sp>
      <p:sp>
        <p:nvSpPr>
          <p:cNvPr id="24" name="Text 21"/>
          <p:cNvSpPr/>
          <p:nvPr/>
        </p:nvSpPr>
        <p:spPr>
          <a:xfrm>
            <a:off x="4846320" y="4261104"/>
            <a:ext cx="6583680" cy="1591056"/>
          </a:xfrm>
          <a:prstGeom prst="rect">
            <a:avLst/>
          </a:prstGeom>
          <a:noFill/>
          <a:ln/>
        </p:spPr>
        <p:txBody>
          <a:bodyPr wrap="square" rtlCol="0" anchor="ctr"/>
          <a:lstStyle/>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hat sich verändert, als jede Kleinigkeit schwer wurde?</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Wo hätten Sie sich Verständnis gewünscht?</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heißt das für Ihren Blick auf ‚unzuverlässige‘ Menschen?</a:t>
            </a:r>
            <a:endParaRPr lang="en-US" sz="1350" dirty="0"/>
          </a:p>
        </p:txBody>
      </p:sp>
      <p:sp>
        <p:nvSpPr>
          <p:cNvPr id="26"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778240" y="-1828800"/>
            <a:ext cx="5943600" cy="5943600"/>
          </a:xfrm>
          <a:prstGeom prst="ellipse">
            <a:avLst/>
          </a:prstGeom>
          <a:solidFill>
            <a:srgbClr val="22414A"/>
          </a:solidFill>
          <a:ln/>
        </p:spPr>
      </p:sp>
      <p:sp>
        <p:nvSpPr>
          <p:cNvPr id="3" name="Shape 1"/>
          <p:cNvSpPr/>
          <p:nvPr/>
        </p:nvSpPr>
        <p:spPr>
          <a:xfrm>
            <a:off x="-1645920" y="3474720"/>
            <a:ext cx="5029200" cy="5029200"/>
          </a:xfrm>
          <a:prstGeom prst="ellipse">
            <a:avLst/>
          </a:prstGeom>
          <a:solidFill>
            <a:srgbClr val="22414A"/>
          </a:solidFill>
          <a:ln/>
        </p:spPr>
      </p:sp>
      <p:sp>
        <p:nvSpPr>
          <p:cNvPr id="4" name="Shape 2"/>
          <p:cNvSpPr/>
          <p:nvPr/>
        </p:nvSpPr>
        <p:spPr>
          <a:xfrm>
            <a:off x="5410048" y="1737360"/>
            <a:ext cx="1371600" cy="1371600"/>
          </a:xfrm>
          <a:prstGeom prst="ellipse">
            <a:avLst/>
          </a:prstGeom>
          <a:solidFill>
            <a:srgbClr val="84B59F"/>
          </a:solidFill>
          <a:ln/>
        </p:spPr>
      </p:sp>
      <p:pic>
        <p:nvPicPr>
          <p:cNvPr id="5" name="Image 0" descr="preencoded.png">    </p:cNvPr>
          <p:cNvPicPr>
            <a:picLocks noChangeAspect="1"/>
          </p:cNvPicPr>
          <p:nvPr/>
        </p:nvPicPr>
        <p:blipFill>
          <a:blip r:embed="rId1"/>
          <a:stretch>
            <a:fillRect/>
          </a:stretch>
        </p:blipFill>
        <p:spPr>
          <a:xfrm>
            <a:off x="5766664" y="2093976"/>
            <a:ext cx="658368" cy="658368"/>
          </a:xfrm>
          <a:prstGeom prst="rect">
            <a:avLst/>
          </a:prstGeom>
        </p:spPr>
      </p:pic>
      <p:sp>
        <p:nvSpPr>
          <p:cNvPr id="6" name="Text 3"/>
          <p:cNvSpPr/>
          <p:nvPr/>
        </p:nvSpPr>
        <p:spPr>
          <a:xfrm>
            <a:off x="0" y="3200400"/>
            <a:ext cx="12191695" cy="1005840"/>
          </a:xfrm>
          <a:prstGeom prst="rect">
            <a:avLst/>
          </a:prstGeom>
          <a:noFill/>
          <a:ln/>
        </p:spPr>
        <p:txBody>
          <a:bodyPr wrap="square" rtlCol="0" anchor="ctr"/>
          <a:lstStyle/>
          <a:p>
            <a:pPr algn="ctr" indent="0" marL="0">
              <a:buNone/>
            </a:pPr>
            <a:r>
              <a:rPr lang="en-US" sz="5600" b="1" dirty="0">
                <a:solidFill>
                  <a:srgbClr val="FFFFFF"/>
                </a:solidFill>
                <a:latin typeface="Cambria" pitchFamily="34" charset="0"/>
                <a:ea typeface="Cambria" pitchFamily="34" charset="-122"/>
                <a:cs typeface="Cambria" pitchFamily="34" charset="-120"/>
              </a:rPr>
              <a:t>Pause</a:t>
            </a:r>
            <a:endParaRPr lang="en-US" sz="5600" dirty="0"/>
          </a:p>
        </p:txBody>
      </p:sp>
      <p:sp>
        <p:nvSpPr>
          <p:cNvPr id="7" name="Text 4"/>
          <p:cNvSpPr/>
          <p:nvPr/>
        </p:nvSpPr>
        <p:spPr>
          <a:xfrm>
            <a:off x="0" y="4297680"/>
            <a:ext cx="12191695" cy="457200"/>
          </a:xfrm>
          <a:prstGeom prst="rect">
            <a:avLst/>
          </a:prstGeom>
          <a:noFill/>
          <a:ln/>
        </p:spPr>
        <p:txBody>
          <a:bodyPr wrap="square" rtlCol="0" anchor="ctr"/>
          <a:lstStyle/>
          <a:p>
            <a:pPr algn="ctr" indent="0" marL="0">
              <a:buNone/>
            </a:pPr>
            <a:r>
              <a:rPr lang="en-US" sz="1800" i="1" dirty="0">
                <a:solidFill>
                  <a:srgbClr val="CFDDD9"/>
                </a:solidFill>
                <a:latin typeface="Calibri" pitchFamily="34" charset="0"/>
                <a:ea typeface="Calibri" pitchFamily="34" charset="-122"/>
                <a:cs typeface="Calibri" pitchFamily="34" charset="-120"/>
              </a:rPr>
              <a:t>15 Minuten · Durchatmen · Ankommen</a:t>
            </a:r>
            <a:endParaRPr lang="en-US" sz="1800" dirty="0"/>
          </a:p>
        </p:txBody>
      </p:sp>
      <p:sp>
        <p:nvSpPr>
          <p:cNvPr id="8" name="Text 5"/>
          <p:cNvSpPr/>
          <p:nvPr/>
        </p:nvSpPr>
        <p:spPr>
          <a:xfrm>
            <a:off x="0" y="5029200"/>
            <a:ext cx="12191695" cy="365760"/>
          </a:xfrm>
          <a:prstGeom prst="rect">
            <a:avLst/>
          </a:prstGeom>
          <a:noFill/>
          <a:ln/>
        </p:spPr>
        <p:txBody>
          <a:bodyPr wrap="square" rtlCol="0" anchor="ctr"/>
          <a:lstStyle/>
          <a:p>
            <a:pPr algn="ctr" indent="0" marL="0">
              <a:buNone/>
            </a:pPr>
            <a:r>
              <a:rPr lang="en-US" sz="1400" dirty="0">
                <a:solidFill>
                  <a:srgbClr val="84B59F"/>
                </a:solidFill>
                <a:latin typeface="Calibri" pitchFamily="34" charset="0"/>
                <a:ea typeface="Calibri" pitchFamily="34" charset="-122"/>
                <a:cs typeface="Calibri" pitchFamily="34" charset="-120"/>
              </a:rPr>
              <a:t>Nach der Pause: Wie wir Betroffene wirklich begleiten.</a:t>
            </a:r>
            <a:endParaRPr lang="en-US" sz="14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Text 1"/>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4  ·  BEGLEITEN</a:t>
            </a:r>
            <a:endParaRPr lang="en-US" sz="1400" dirty="0"/>
          </a:p>
        </p:txBody>
      </p:sp>
      <p:sp>
        <p:nvSpPr>
          <p:cNvPr id="4" name="Text 2"/>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Was hilft wirklich?</a:t>
            </a:r>
            <a:endParaRPr lang="en-US" sz="4600" dirty="0"/>
          </a:p>
        </p:txBody>
      </p:sp>
      <p:sp>
        <p:nvSpPr>
          <p:cNvPr id="5" name="Text 3"/>
          <p:cNvSpPr/>
          <p:nvPr/>
        </p:nvSpPr>
        <p:spPr>
          <a:xfrm>
            <a:off x="566928" y="3657600"/>
            <a:ext cx="10058400" cy="73152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Man muss kein Therapeut sein, um zu helfen. Oft genügt ein Mensch, der bleibt.</a:t>
            </a:r>
            <a:endParaRPr lang="en-US" sz="1800" dirty="0"/>
          </a:p>
        </p:txBody>
      </p:sp>
      <p:sp>
        <p:nvSpPr>
          <p:cNvPr id="7" name="Text 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8" name="Text 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DAS HILFT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Fünf Dinge, die wirklich guttun</a:t>
            </a:r>
            <a:endParaRPr lang="en-US" sz="3300" dirty="0"/>
          </a:p>
        </p:txBody>
      </p:sp>
      <p:sp>
        <p:nvSpPr>
          <p:cNvPr id="4" name="Shape 2"/>
          <p:cNvSpPr/>
          <p:nvPr/>
        </p:nvSpPr>
        <p:spPr>
          <a:xfrm>
            <a:off x="566928"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59536" y="2048256"/>
            <a:ext cx="658368" cy="658368"/>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30712" y="2219432"/>
            <a:ext cx="316017" cy="316017"/>
          </a:xfrm>
          <a:prstGeom prst="rect">
            <a:avLst/>
          </a:prstGeom>
        </p:spPr>
      </p:pic>
      <p:sp>
        <p:nvSpPr>
          <p:cNvPr id="7" name="Text 4"/>
          <p:cNvSpPr/>
          <p:nvPr/>
        </p:nvSpPr>
        <p:spPr>
          <a:xfrm>
            <a:off x="1618488"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Zuhören ohne zu lösen</a:t>
            </a:r>
            <a:endParaRPr lang="en-US" sz="1550" dirty="0"/>
          </a:p>
        </p:txBody>
      </p:sp>
      <p:sp>
        <p:nvSpPr>
          <p:cNvPr id="8" name="Text 5"/>
          <p:cNvSpPr/>
          <p:nvPr/>
        </p:nvSpPr>
        <p:spPr>
          <a:xfrm>
            <a:off x="859536"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Da sein und aushalten schlägt jeden gut gemeinten Ratschlag.</a:t>
            </a:r>
            <a:endParaRPr lang="en-US" sz="1250" dirty="0"/>
          </a:p>
        </p:txBody>
      </p:sp>
      <p:sp>
        <p:nvSpPr>
          <p:cNvPr id="9" name="Shape 6"/>
          <p:cNvSpPr/>
          <p:nvPr/>
        </p:nvSpPr>
        <p:spPr>
          <a:xfrm>
            <a:off x="4279392"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4572000" y="2048256"/>
            <a:ext cx="658368" cy="658368"/>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4743176" y="2219432"/>
            <a:ext cx="316017" cy="316017"/>
          </a:xfrm>
          <a:prstGeom prst="rect">
            <a:avLst/>
          </a:prstGeom>
        </p:spPr>
      </p:pic>
      <p:sp>
        <p:nvSpPr>
          <p:cNvPr id="12" name="Text 8"/>
          <p:cNvSpPr/>
          <p:nvPr/>
        </p:nvSpPr>
        <p:spPr>
          <a:xfrm>
            <a:off x="5330952"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Ernst nehmen</a:t>
            </a:r>
            <a:endParaRPr lang="en-US" sz="1550" dirty="0"/>
          </a:p>
        </p:txBody>
      </p:sp>
      <p:sp>
        <p:nvSpPr>
          <p:cNvPr id="13" name="Text 9"/>
          <p:cNvSpPr/>
          <p:nvPr/>
        </p:nvSpPr>
        <p:spPr>
          <a:xfrm>
            <a:off x="4572000"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„Das klingt wirklich schwer.“ – Gefühle bestätigen, nicht kleinreden.</a:t>
            </a:r>
            <a:endParaRPr lang="en-US" sz="1250" dirty="0"/>
          </a:p>
        </p:txBody>
      </p:sp>
      <p:sp>
        <p:nvSpPr>
          <p:cNvPr id="14" name="Shape 10"/>
          <p:cNvSpPr/>
          <p:nvPr/>
        </p:nvSpPr>
        <p:spPr>
          <a:xfrm>
            <a:off x="7991856"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284464" y="2048256"/>
            <a:ext cx="658368" cy="658368"/>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8455640" y="2219432"/>
            <a:ext cx="316017" cy="316017"/>
          </a:xfrm>
          <a:prstGeom prst="rect">
            <a:avLst/>
          </a:prstGeom>
        </p:spPr>
      </p:pic>
      <p:sp>
        <p:nvSpPr>
          <p:cNvPr id="17" name="Text 12"/>
          <p:cNvSpPr/>
          <p:nvPr/>
        </p:nvSpPr>
        <p:spPr>
          <a:xfrm>
            <a:off x="9043416"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Konkret fragen</a:t>
            </a:r>
            <a:endParaRPr lang="en-US" sz="1550" dirty="0"/>
          </a:p>
        </p:txBody>
      </p:sp>
      <p:sp>
        <p:nvSpPr>
          <p:cNvPr id="18" name="Text 13"/>
          <p:cNvSpPr/>
          <p:nvPr/>
        </p:nvSpPr>
        <p:spPr>
          <a:xfrm>
            <a:off x="8284464"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„Was würde dir heute helfen?“ statt „Meld dich, wenn was ist.“</a:t>
            </a:r>
            <a:endParaRPr lang="en-US" sz="1250" dirty="0"/>
          </a:p>
        </p:txBody>
      </p:sp>
      <p:sp>
        <p:nvSpPr>
          <p:cNvPr id="19" name="Shape 14"/>
          <p:cNvSpPr/>
          <p:nvPr/>
        </p:nvSpPr>
        <p:spPr>
          <a:xfrm>
            <a:off x="2423160" y="3776472"/>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2715768" y="4087368"/>
            <a:ext cx="658368" cy="658368"/>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2886944" y="4258544"/>
            <a:ext cx="316017" cy="316017"/>
          </a:xfrm>
          <a:prstGeom prst="rect">
            <a:avLst/>
          </a:prstGeom>
        </p:spPr>
      </p:pic>
      <p:sp>
        <p:nvSpPr>
          <p:cNvPr id="22" name="Text 16"/>
          <p:cNvSpPr/>
          <p:nvPr/>
        </p:nvSpPr>
        <p:spPr>
          <a:xfrm>
            <a:off x="3474720" y="4142232"/>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Dableiben</a:t>
            </a:r>
            <a:endParaRPr lang="en-US" sz="1550" dirty="0"/>
          </a:p>
        </p:txBody>
      </p:sp>
      <p:sp>
        <p:nvSpPr>
          <p:cNvPr id="23" name="Text 17"/>
          <p:cNvSpPr/>
          <p:nvPr/>
        </p:nvSpPr>
        <p:spPr>
          <a:xfrm>
            <a:off x="2715768" y="4828032"/>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Nicht nur einmal fragen. Verlässlich in Kontakt bleiben.</a:t>
            </a:r>
            <a:endParaRPr lang="en-US" sz="1250" dirty="0"/>
          </a:p>
        </p:txBody>
      </p:sp>
      <p:sp>
        <p:nvSpPr>
          <p:cNvPr id="24" name="Shape 18"/>
          <p:cNvSpPr/>
          <p:nvPr/>
        </p:nvSpPr>
        <p:spPr>
          <a:xfrm>
            <a:off x="6135624" y="3776472"/>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6428232" y="4087368"/>
            <a:ext cx="658368" cy="658368"/>
          </a:xfrm>
          <a:prstGeom prst="ellipse">
            <a:avLst/>
          </a:prstGeom>
          <a:solidFill>
            <a:srgbClr val="84B59F"/>
          </a:solidFill>
          <a:ln/>
        </p:spPr>
      </p:sp>
      <p:pic>
        <p:nvPicPr>
          <p:cNvPr id="26" name="Image 4" descr="preencoded.png">    </p:cNvPr>
          <p:cNvPicPr>
            <a:picLocks noChangeAspect="1"/>
          </p:cNvPicPr>
          <p:nvPr/>
        </p:nvPicPr>
        <p:blipFill>
          <a:blip r:embed="rId5"/>
          <a:stretch>
            <a:fillRect/>
          </a:stretch>
        </p:blipFill>
        <p:spPr>
          <a:xfrm>
            <a:off x="6599408" y="4258544"/>
            <a:ext cx="316017" cy="316017"/>
          </a:xfrm>
          <a:prstGeom prst="rect">
            <a:avLst/>
          </a:prstGeom>
        </p:spPr>
      </p:pic>
      <p:sp>
        <p:nvSpPr>
          <p:cNvPr id="27" name="Text 20"/>
          <p:cNvSpPr/>
          <p:nvPr/>
        </p:nvSpPr>
        <p:spPr>
          <a:xfrm>
            <a:off x="7187184" y="4142232"/>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Zu Hilfe ermutigen</a:t>
            </a:r>
            <a:endParaRPr lang="en-US" sz="1550" dirty="0"/>
          </a:p>
        </p:txBody>
      </p:sp>
      <p:sp>
        <p:nvSpPr>
          <p:cNvPr id="28" name="Text 21"/>
          <p:cNvSpPr/>
          <p:nvPr/>
        </p:nvSpPr>
        <p:spPr>
          <a:xfrm>
            <a:off x="6428232" y="4828032"/>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Sanft Richtung Arzt/Therapie begleiten – notfalls mitgehen.</a:t>
            </a:r>
            <a:endParaRPr lang="en-US" sz="1250" dirty="0"/>
          </a:p>
        </p:txBody>
      </p:sp>
      <p:sp>
        <p:nvSpPr>
          <p:cNvPr id="30"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DAS SCHADET – AUCH GUT GEMEINT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Besser vermeiden</a:t>
            </a:r>
            <a:endParaRPr lang="en-US" sz="3300" dirty="0"/>
          </a:p>
        </p:txBody>
      </p:sp>
      <p:sp>
        <p:nvSpPr>
          <p:cNvPr id="4" name="Shape 2"/>
          <p:cNvSpPr/>
          <p:nvPr/>
        </p:nvSpPr>
        <p:spPr>
          <a:xfrm>
            <a:off x="566928" y="1783080"/>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41248" y="1929384"/>
            <a:ext cx="457200" cy="457200"/>
          </a:xfrm>
          <a:prstGeom prst="ellipse">
            <a:avLst/>
          </a:prstGeom>
          <a:solidFill>
            <a:srgbClr val="B9793B"/>
          </a:solidFill>
          <a:ln/>
        </p:spPr>
      </p:sp>
      <p:pic>
        <p:nvPicPr>
          <p:cNvPr id="6" name="Image 0" descr="preencoded.png">    </p:cNvPr>
          <p:cNvPicPr>
            <a:picLocks noChangeAspect="1"/>
          </p:cNvPicPr>
          <p:nvPr/>
        </p:nvPicPr>
        <p:blipFill>
          <a:blip r:embed="rId1"/>
          <a:stretch>
            <a:fillRect/>
          </a:stretch>
        </p:blipFill>
        <p:spPr>
          <a:xfrm>
            <a:off x="960120" y="2048256"/>
            <a:ext cx="219456" cy="219456"/>
          </a:xfrm>
          <a:prstGeom prst="rect">
            <a:avLst/>
          </a:prstGeom>
        </p:spPr>
      </p:pic>
      <p:sp>
        <p:nvSpPr>
          <p:cNvPr id="7" name="Text 4"/>
          <p:cNvSpPr/>
          <p:nvPr/>
        </p:nvSpPr>
        <p:spPr>
          <a:xfrm>
            <a:off x="1527048" y="1783080"/>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„Reiß dich zusammen.“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Macht Druck und Scham – als wäre es Willensschwäche.</a:t>
            </a:r>
            <a:endParaRPr lang="en-US" sz="1550" dirty="0"/>
          </a:p>
        </p:txBody>
      </p:sp>
      <p:sp>
        <p:nvSpPr>
          <p:cNvPr id="8" name="Shape 5"/>
          <p:cNvSpPr/>
          <p:nvPr/>
        </p:nvSpPr>
        <p:spPr>
          <a:xfrm>
            <a:off x="566928" y="2569464"/>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9" name="Shape 6"/>
          <p:cNvSpPr/>
          <p:nvPr/>
        </p:nvSpPr>
        <p:spPr>
          <a:xfrm>
            <a:off x="841248" y="2715768"/>
            <a:ext cx="457200" cy="457200"/>
          </a:xfrm>
          <a:prstGeom prst="ellipse">
            <a:avLst/>
          </a:prstGeom>
          <a:solidFill>
            <a:srgbClr val="B9793B"/>
          </a:solidFill>
          <a:ln/>
        </p:spPr>
      </p:sp>
      <p:pic>
        <p:nvPicPr>
          <p:cNvPr id="10" name="Image 1" descr="preencoded.png">    </p:cNvPr>
          <p:cNvPicPr>
            <a:picLocks noChangeAspect="1"/>
          </p:cNvPicPr>
          <p:nvPr/>
        </p:nvPicPr>
        <p:blipFill>
          <a:blip r:embed="rId2"/>
          <a:stretch>
            <a:fillRect/>
          </a:stretch>
        </p:blipFill>
        <p:spPr>
          <a:xfrm>
            <a:off x="960120" y="2834640"/>
            <a:ext cx="219456" cy="219456"/>
          </a:xfrm>
          <a:prstGeom prst="rect">
            <a:avLst/>
          </a:prstGeom>
        </p:spPr>
      </p:pic>
      <p:sp>
        <p:nvSpPr>
          <p:cNvPr id="11" name="Text 7"/>
          <p:cNvSpPr/>
          <p:nvPr/>
        </p:nvSpPr>
        <p:spPr>
          <a:xfrm>
            <a:off x="1527048" y="2569464"/>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„Anderen geht’s schlechter.“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Vergleiche entwerten das eigene Leid und verstummen lassen.</a:t>
            </a:r>
            <a:endParaRPr lang="en-US" sz="1550" dirty="0"/>
          </a:p>
        </p:txBody>
      </p:sp>
      <p:sp>
        <p:nvSpPr>
          <p:cNvPr id="12" name="Shape 8"/>
          <p:cNvSpPr/>
          <p:nvPr/>
        </p:nvSpPr>
        <p:spPr>
          <a:xfrm>
            <a:off x="566928" y="3355848"/>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3" name="Shape 9"/>
          <p:cNvSpPr/>
          <p:nvPr/>
        </p:nvSpPr>
        <p:spPr>
          <a:xfrm>
            <a:off x="841248" y="3502152"/>
            <a:ext cx="457200" cy="457200"/>
          </a:xfrm>
          <a:prstGeom prst="ellipse">
            <a:avLst/>
          </a:prstGeom>
          <a:solidFill>
            <a:srgbClr val="B9793B"/>
          </a:solidFill>
          <a:ln/>
        </p:spPr>
      </p:sp>
      <p:pic>
        <p:nvPicPr>
          <p:cNvPr id="14" name="Image 2" descr="preencoded.png">    </p:cNvPr>
          <p:cNvPicPr>
            <a:picLocks noChangeAspect="1"/>
          </p:cNvPicPr>
          <p:nvPr/>
        </p:nvPicPr>
        <p:blipFill>
          <a:blip r:embed="rId3"/>
          <a:stretch>
            <a:fillRect/>
          </a:stretch>
        </p:blipFill>
        <p:spPr>
          <a:xfrm>
            <a:off x="960120" y="3621024"/>
            <a:ext cx="219456" cy="219456"/>
          </a:xfrm>
          <a:prstGeom prst="rect">
            <a:avLst/>
          </a:prstGeom>
        </p:spPr>
      </p:pic>
      <p:sp>
        <p:nvSpPr>
          <p:cNvPr id="15" name="Text 10"/>
          <p:cNvSpPr/>
          <p:nvPr/>
        </p:nvSpPr>
        <p:spPr>
          <a:xfrm>
            <a:off x="1527048" y="3355848"/>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„Du siehst doch gut aus!“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Bestätigt: ‚Du übertreibst.‘ Unsichtbar heißt nicht ungefährlich.</a:t>
            </a:r>
            <a:endParaRPr lang="en-US" sz="1550" dirty="0"/>
          </a:p>
        </p:txBody>
      </p:sp>
      <p:sp>
        <p:nvSpPr>
          <p:cNvPr id="16" name="Shape 11"/>
          <p:cNvSpPr/>
          <p:nvPr/>
        </p:nvSpPr>
        <p:spPr>
          <a:xfrm>
            <a:off x="566928" y="4142232"/>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7" name="Shape 12"/>
          <p:cNvSpPr/>
          <p:nvPr/>
        </p:nvSpPr>
        <p:spPr>
          <a:xfrm>
            <a:off x="841248" y="4288536"/>
            <a:ext cx="457200" cy="457200"/>
          </a:xfrm>
          <a:prstGeom prst="ellipse">
            <a:avLst/>
          </a:prstGeom>
          <a:solidFill>
            <a:srgbClr val="B9793B"/>
          </a:solidFill>
          <a:ln/>
        </p:spPr>
      </p:sp>
      <p:pic>
        <p:nvPicPr>
          <p:cNvPr id="18" name="Image 3" descr="preencoded.png">    </p:cNvPr>
          <p:cNvPicPr>
            <a:picLocks noChangeAspect="1"/>
          </p:cNvPicPr>
          <p:nvPr/>
        </p:nvPicPr>
        <p:blipFill>
          <a:blip r:embed="rId4"/>
          <a:stretch>
            <a:fillRect/>
          </a:stretch>
        </p:blipFill>
        <p:spPr>
          <a:xfrm>
            <a:off x="960120" y="4407408"/>
            <a:ext cx="219456" cy="219456"/>
          </a:xfrm>
          <a:prstGeom prst="rect">
            <a:avLst/>
          </a:prstGeom>
        </p:spPr>
      </p:pic>
      <p:sp>
        <p:nvSpPr>
          <p:cNvPr id="19" name="Text 13"/>
          <p:cNvSpPr/>
          <p:nvPr/>
        </p:nvSpPr>
        <p:spPr>
          <a:xfrm>
            <a:off x="1527048" y="4142232"/>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Ungefragte Ratschläge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„Mach mal Sport/Urlaub“ überfordert und klingt nach Abwertung.</a:t>
            </a:r>
            <a:endParaRPr lang="en-US" sz="1550" dirty="0"/>
          </a:p>
        </p:txBody>
      </p:sp>
      <p:sp>
        <p:nvSpPr>
          <p:cNvPr id="20" name="Shape 14"/>
          <p:cNvSpPr/>
          <p:nvPr/>
        </p:nvSpPr>
        <p:spPr>
          <a:xfrm>
            <a:off x="566928" y="4928616"/>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1" name="Shape 15"/>
          <p:cNvSpPr/>
          <p:nvPr/>
        </p:nvSpPr>
        <p:spPr>
          <a:xfrm>
            <a:off x="841248" y="5074920"/>
            <a:ext cx="457200" cy="457200"/>
          </a:xfrm>
          <a:prstGeom prst="ellipse">
            <a:avLst/>
          </a:prstGeom>
          <a:solidFill>
            <a:srgbClr val="B9793B"/>
          </a:solidFill>
          <a:ln/>
        </p:spPr>
      </p:sp>
      <p:pic>
        <p:nvPicPr>
          <p:cNvPr id="22" name="Image 4" descr="preencoded.png">    </p:cNvPr>
          <p:cNvPicPr>
            <a:picLocks noChangeAspect="1"/>
          </p:cNvPicPr>
          <p:nvPr/>
        </p:nvPicPr>
        <p:blipFill>
          <a:blip r:embed="rId5"/>
          <a:stretch>
            <a:fillRect/>
          </a:stretch>
        </p:blipFill>
        <p:spPr>
          <a:xfrm>
            <a:off x="960120" y="5193792"/>
            <a:ext cx="219456" cy="219456"/>
          </a:xfrm>
          <a:prstGeom prst="rect">
            <a:avLst/>
          </a:prstGeom>
        </p:spPr>
      </p:pic>
      <p:sp>
        <p:nvSpPr>
          <p:cNvPr id="23" name="Text 16"/>
          <p:cNvSpPr/>
          <p:nvPr/>
        </p:nvSpPr>
        <p:spPr>
          <a:xfrm>
            <a:off x="1527048" y="4928616"/>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Verschwinden aus Unsicherheit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Rückzug fühlt sich für Betroffene wie Ablehnung an.</a:t>
            </a:r>
            <a:endParaRPr lang="en-US" sz="1550" dirty="0"/>
          </a:p>
        </p:txBody>
      </p:sp>
      <p:sp>
        <p:nvSpPr>
          <p:cNvPr id="25" name="Text 17"/>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6" name="Text 18"/>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WORTE, DIE TÜREN ÖFFNEN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Sag lieber … statt …</a:t>
            </a:r>
            <a:endParaRPr lang="en-US" sz="3300" dirty="0"/>
          </a:p>
        </p:txBody>
      </p:sp>
      <p:sp>
        <p:nvSpPr>
          <p:cNvPr id="4" name="Shape 2"/>
          <p:cNvSpPr/>
          <p:nvPr/>
        </p:nvSpPr>
        <p:spPr>
          <a:xfrm>
            <a:off x="566928" y="1783080"/>
            <a:ext cx="5391760" cy="548640"/>
          </a:xfrm>
          <a:prstGeom prst="roundRect">
            <a:avLst>
              <a:gd name="adj" fmla="val 10000"/>
            </a:avLst>
          </a:prstGeom>
          <a:solidFill>
            <a:srgbClr val="B9793B"/>
          </a:solidFill>
          <a:ln/>
        </p:spPr>
      </p:sp>
      <p:sp>
        <p:nvSpPr>
          <p:cNvPr id="5" name="Shape 3"/>
          <p:cNvSpPr/>
          <p:nvPr/>
        </p:nvSpPr>
        <p:spPr>
          <a:xfrm>
            <a:off x="6233008" y="1783080"/>
            <a:ext cx="5391760" cy="548640"/>
          </a:xfrm>
          <a:prstGeom prst="roundRect">
            <a:avLst>
              <a:gd name="adj" fmla="val 10000"/>
            </a:avLst>
          </a:prstGeom>
          <a:solidFill>
            <a:srgbClr val="3F7C79"/>
          </a:solidFill>
          <a:ln/>
        </p:spPr>
      </p:sp>
      <p:sp>
        <p:nvSpPr>
          <p:cNvPr id="6" name="Text 4"/>
          <p:cNvSpPr/>
          <p:nvPr/>
        </p:nvSpPr>
        <p:spPr>
          <a:xfrm>
            <a:off x="566928" y="1783080"/>
            <a:ext cx="539176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Statt …</a:t>
            </a:r>
            <a:endParaRPr lang="en-US" sz="1600" dirty="0"/>
          </a:p>
        </p:txBody>
      </p:sp>
      <p:sp>
        <p:nvSpPr>
          <p:cNvPr id="7" name="Text 5"/>
          <p:cNvSpPr/>
          <p:nvPr/>
        </p:nvSpPr>
        <p:spPr>
          <a:xfrm>
            <a:off x="6233008" y="1783080"/>
            <a:ext cx="539176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Sag lieber …</a:t>
            </a:r>
            <a:endParaRPr lang="en-US" sz="1600" dirty="0"/>
          </a:p>
        </p:txBody>
      </p:sp>
      <p:sp>
        <p:nvSpPr>
          <p:cNvPr id="8" name="Shape 6"/>
          <p:cNvSpPr/>
          <p:nvPr/>
        </p:nvSpPr>
        <p:spPr>
          <a:xfrm>
            <a:off x="566928" y="2441448"/>
            <a:ext cx="5391760" cy="749808"/>
          </a:xfrm>
          <a:prstGeom prst="rect">
            <a:avLst/>
          </a:prstGeom>
          <a:solidFill>
            <a:srgbClr val="FFFFFF"/>
          </a:solidFill>
          <a:ln w="6350">
            <a:solidFill>
              <a:srgbClr val="DCE6E3"/>
            </a:solidFill>
            <a:prstDash val="solid"/>
          </a:ln>
        </p:spPr>
      </p:sp>
      <p:sp>
        <p:nvSpPr>
          <p:cNvPr id="9" name="Shape 7"/>
          <p:cNvSpPr/>
          <p:nvPr/>
        </p:nvSpPr>
        <p:spPr>
          <a:xfrm>
            <a:off x="6233008" y="2441448"/>
            <a:ext cx="5391760" cy="749808"/>
          </a:xfrm>
          <a:prstGeom prst="rect">
            <a:avLst/>
          </a:prstGeom>
          <a:solidFill>
            <a:srgbClr val="FFFFFF"/>
          </a:solidFill>
          <a:ln w="6350">
            <a:solidFill>
              <a:srgbClr val="DCE6E3"/>
            </a:solidFill>
            <a:prstDash val="solid"/>
          </a:ln>
        </p:spPr>
      </p:sp>
      <p:sp>
        <p:nvSpPr>
          <p:cNvPr id="10" name="Text 8"/>
          <p:cNvSpPr/>
          <p:nvPr/>
        </p:nvSpPr>
        <p:spPr>
          <a:xfrm>
            <a:off x="841248" y="2441448"/>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„Das wird schon wieder.“</a:t>
            </a:r>
            <a:endParaRPr lang="en-US" sz="1500" dirty="0"/>
          </a:p>
        </p:txBody>
      </p:sp>
      <p:sp>
        <p:nvSpPr>
          <p:cNvPr id="11" name="Text 9"/>
          <p:cNvSpPr/>
          <p:nvPr/>
        </p:nvSpPr>
        <p:spPr>
          <a:xfrm>
            <a:off x="6507328" y="2441448"/>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„Ich bin da – auch wenn’s dauert.“</a:t>
            </a:r>
            <a:endParaRPr lang="en-US" sz="1500" dirty="0"/>
          </a:p>
        </p:txBody>
      </p:sp>
      <p:sp>
        <p:nvSpPr>
          <p:cNvPr id="12" name="Shape 10"/>
          <p:cNvSpPr/>
          <p:nvPr/>
        </p:nvSpPr>
        <p:spPr>
          <a:xfrm>
            <a:off x="566928" y="3191256"/>
            <a:ext cx="5391760" cy="749808"/>
          </a:xfrm>
          <a:prstGeom prst="rect">
            <a:avLst/>
          </a:prstGeom>
          <a:solidFill>
            <a:srgbClr val="E8EEEC"/>
          </a:solidFill>
          <a:ln w="6350">
            <a:solidFill>
              <a:srgbClr val="DCE6E3"/>
            </a:solidFill>
            <a:prstDash val="solid"/>
          </a:ln>
        </p:spPr>
      </p:sp>
      <p:sp>
        <p:nvSpPr>
          <p:cNvPr id="13" name="Shape 11"/>
          <p:cNvSpPr/>
          <p:nvPr/>
        </p:nvSpPr>
        <p:spPr>
          <a:xfrm>
            <a:off x="6233008" y="3191256"/>
            <a:ext cx="5391760" cy="749808"/>
          </a:xfrm>
          <a:prstGeom prst="rect">
            <a:avLst/>
          </a:prstGeom>
          <a:solidFill>
            <a:srgbClr val="E8EEEC"/>
          </a:solidFill>
          <a:ln w="6350">
            <a:solidFill>
              <a:srgbClr val="DCE6E3"/>
            </a:solidFill>
            <a:prstDash val="solid"/>
          </a:ln>
        </p:spPr>
      </p:sp>
      <p:sp>
        <p:nvSpPr>
          <p:cNvPr id="14" name="Text 12"/>
          <p:cNvSpPr/>
          <p:nvPr/>
        </p:nvSpPr>
        <p:spPr>
          <a:xfrm>
            <a:off x="841248" y="3191256"/>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„Denk positiv!“</a:t>
            </a:r>
            <a:endParaRPr lang="en-US" sz="1500" dirty="0"/>
          </a:p>
        </p:txBody>
      </p:sp>
      <p:sp>
        <p:nvSpPr>
          <p:cNvPr id="15" name="Text 13"/>
          <p:cNvSpPr/>
          <p:nvPr/>
        </p:nvSpPr>
        <p:spPr>
          <a:xfrm>
            <a:off x="6507328" y="3191256"/>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„Du musst das nicht allein tragen.“</a:t>
            </a:r>
            <a:endParaRPr lang="en-US" sz="1500" dirty="0"/>
          </a:p>
        </p:txBody>
      </p:sp>
      <p:sp>
        <p:nvSpPr>
          <p:cNvPr id="16" name="Shape 14"/>
          <p:cNvSpPr/>
          <p:nvPr/>
        </p:nvSpPr>
        <p:spPr>
          <a:xfrm>
            <a:off x="566928" y="3941064"/>
            <a:ext cx="5391760" cy="749808"/>
          </a:xfrm>
          <a:prstGeom prst="rect">
            <a:avLst/>
          </a:prstGeom>
          <a:solidFill>
            <a:srgbClr val="FFFFFF"/>
          </a:solidFill>
          <a:ln w="6350">
            <a:solidFill>
              <a:srgbClr val="DCE6E3"/>
            </a:solidFill>
            <a:prstDash val="solid"/>
          </a:ln>
        </p:spPr>
      </p:sp>
      <p:sp>
        <p:nvSpPr>
          <p:cNvPr id="17" name="Shape 15"/>
          <p:cNvSpPr/>
          <p:nvPr/>
        </p:nvSpPr>
        <p:spPr>
          <a:xfrm>
            <a:off x="6233008" y="3941064"/>
            <a:ext cx="5391760" cy="749808"/>
          </a:xfrm>
          <a:prstGeom prst="rect">
            <a:avLst/>
          </a:prstGeom>
          <a:solidFill>
            <a:srgbClr val="FFFFFF"/>
          </a:solidFill>
          <a:ln w="6350">
            <a:solidFill>
              <a:srgbClr val="DCE6E3"/>
            </a:solidFill>
            <a:prstDash val="solid"/>
          </a:ln>
        </p:spPr>
      </p:sp>
      <p:sp>
        <p:nvSpPr>
          <p:cNvPr id="18" name="Text 16"/>
          <p:cNvSpPr/>
          <p:nvPr/>
        </p:nvSpPr>
        <p:spPr>
          <a:xfrm>
            <a:off x="841248" y="3941064"/>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„Was hast du denn?“</a:t>
            </a:r>
            <a:endParaRPr lang="en-US" sz="1500" dirty="0"/>
          </a:p>
        </p:txBody>
      </p:sp>
      <p:sp>
        <p:nvSpPr>
          <p:cNvPr id="19" name="Text 17"/>
          <p:cNvSpPr/>
          <p:nvPr/>
        </p:nvSpPr>
        <p:spPr>
          <a:xfrm>
            <a:off x="6507328" y="3941064"/>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„Magst du erzählen, wie es dir geht?“</a:t>
            </a:r>
            <a:endParaRPr lang="en-US" sz="1500" dirty="0"/>
          </a:p>
        </p:txBody>
      </p:sp>
      <p:sp>
        <p:nvSpPr>
          <p:cNvPr id="20" name="Shape 18"/>
          <p:cNvSpPr/>
          <p:nvPr/>
        </p:nvSpPr>
        <p:spPr>
          <a:xfrm>
            <a:off x="566928" y="4690872"/>
            <a:ext cx="5391760" cy="749808"/>
          </a:xfrm>
          <a:prstGeom prst="rect">
            <a:avLst/>
          </a:prstGeom>
          <a:solidFill>
            <a:srgbClr val="E8EEEC"/>
          </a:solidFill>
          <a:ln w="6350">
            <a:solidFill>
              <a:srgbClr val="DCE6E3"/>
            </a:solidFill>
            <a:prstDash val="solid"/>
          </a:ln>
        </p:spPr>
      </p:sp>
      <p:sp>
        <p:nvSpPr>
          <p:cNvPr id="21" name="Shape 19"/>
          <p:cNvSpPr/>
          <p:nvPr/>
        </p:nvSpPr>
        <p:spPr>
          <a:xfrm>
            <a:off x="6233008" y="4690872"/>
            <a:ext cx="5391760" cy="749808"/>
          </a:xfrm>
          <a:prstGeom prst="rect">
            <a:avLst/>
          </a:prstGeom>
          <a:solidFill>
            <a:srgbClr val="E8EEEC"/>
          </a:solidFill>
          <a:ln w="6350">
            <a:solidFill>
              <a:srgbClr val="DCE6E3"/>
            </a:solidFill>
            <a:prstDash val="solid"/>
          </a:ln>
        </p:spPr>
      </p:sp>
      <p:sp>
        <p:nvSpPr>
          <p:cNvPr id="22" name="Text 20"/>
          <p:cNvSpPr/>
          <p:nvPr/>
        </p:nvSpPr>
        <p:spPr>
          <a:xfrm>
            <a:off x="841248" y="4690872"/>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„Reiß dich zusammen.“</a:t>
            </a:r>
            <a:endParaRPr lang="en-US" sz="1500" dirty="0"/>
          </a:p>
        </p:txBody>
      </p:sp>
      <p:sp>
        <p:nvSpPr>
          <p:cNvPr id="23" name="Text 21"/>
          <p:cNvSpPr/>
          <p:nvPr/>
        </p:nvSpPr>
        <p:spPr>
          <a:xfrm>
            <a:off x="6507328" y="4690872"/>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„Was würde dir gerade helfen?“</a:t>
            </a:r>
            <a:endParaRPr lang="en-US" sz="1500" dirty="0"/>
          </a:p>
        </p:txBody>
      </p:sp>
      <p:sp>
        <p:nvSpPr>
          <p:cNvPr id="25"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6"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DIE WICHTIGSTE FÄHIGKEIT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Aktiv zuhören – so geht’s</a:t>
            </a:r>
            <a:endParaRPr lang="en-US" sz="3300" dirty="0"/>
          </a:p>
        </p:txBody>
      </p:sp>
      <p:sp>
        <p:nvSpPr>
          <p:cNvPr id="4" name="Shape 2"/>
          <p:cNvSpPr/>
          <p:nvPr/>
        </p:nvSpPr>
        <p:spPr>
          <a:xfrm>
            <a:off x="566928" y="178308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24028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89050" y="2442362"/>
            <a:ext cx="373075" cy="373075"/>
          </a:xfrm>
          <a:prstGeom prst="rect">
            <a:avLst/>
          </a:prstGeom>
        </p:spPr>
      </p:pic>
      <p:sp>
        <p:nvSpPr>
          <p:cNvPr id="7" name="Text 4"/>
          <p:cNvSpPr/>
          <p:nvPr/>
        </p:nvSpPr>
        <p:spPr>
          <a:xfrm>
            <a:off x="1892808" y="210312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Zuwenden</a:t>
            </a:r>
            <a:endParaRPr lang="en-US" sz="1800" dirty="0"/>
          </a:p>
        </p:txBody>
      </p:sp>
      <p:sp>
        <p:nvSpPr>
          <p:cNvPr id="8" name="Text 5"/>
          <p:cNvSpPr/>
          <p:nvPr/>
        </p:nvSpPr>
        <p:spPr>
          <a:xfrm>
            <a:off x="1892808" y="260604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Blickkontakt, Handy weg, Zeit schenken. Präsenz spürbar machen.</a:t>
            </a:r>
            <a:endParaRPr lang="en-US" sz="1300" dirty="0"/>
          </a:p>
        </p:txBody>
      </p:sp>
      <p:sp>
        <p:nvSpPr>
          <p:cNvPr id="9" name="Shape 6"/>
          <p:cNvSpPr/>
          <p:nvPr/>
        </p:nvSpPr>
        <p:spPr>
          <a:xfrm>
            <a:off x="6281928" y="178308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240280"/>
            <a:ext cx="777240" cy="7772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6804050" y="2442362"/>
            <a:ext cx="373075" cy="373075"/>
          </a:xfrm>
          <a:prstGeom prst="rect">
            <a:avLst/>
          </a:prstGeom>
        </p:spPr>
      </p:pic>
      <p:sp>
        <p:nvSpPr>
          <p:cNvPr id="12" name="Text 8"/>
          <p:cNvSpPr/>
          <p:nvPr/>
        </p:nvSpPr>
        <p:spPr>
          <a:xfrm>
            <a:off x="7607808" y="210312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Spiegeln</a:t>
            </a:r>
            <a:endParaRPr lang="en-US" sz="1800" dirty="0"/>
          </a:p>
        </p:txBody>
      </p:sp>
      <p:sp>
        <p:nvSpPr>
          <p:cNvPr id="13" name="Text 9"/>
          <p:cNvSpPr/>
          <p:nvPr/>
        </p:nvSpPr>
        <p:spPr>
          <a:xfrm>
            <a:off x="7607808" y="260604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„Wenn ich dich richtig verstehe, fühlst du dich …“ Kurz zusammenfassen.</a:t>
            </a:r>
            <a:endParaRPr lang="en-US" sz="1300" dirty="0"/>
          </a:p>
        </p:txBody>
      </p:sp>
      <p:sp>
        <p:nvSpPr>
          <p:cNvPr id="14" name="Shape 10"/>
          <p:cNvSpPr/>
          <p:nvPr/>
        </p:nvSpPr>
        <p:spPr>
          <a:xfrm>
            <a:off x="566928" y="374904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6908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Pausen aushalten</a:t>
            </a:r>
            <a:endParaRPr lang="en-US" sz="1800" dirty="0"/>
          </a:p>
        </p:txBody>
      </p:sp>
      <p:sp>
        <p:nvSpPr>
          <p:cNvPr id="18" name="Text 13"/>
          <p:cNvSpPr/>
          <p:nvPr/>
        </p:nvSpPr>
        <p:spPr>
          <a:xfrm>
            <a:off x="1892808" y="457200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Schweigen zulassen. Nicht sofort füllen – Raum geben.</a:t>
            </a:r>
            <a:endParaRPr lang="en-US" sz="1300" dirty="0"/>
          </a:p>
        </p:txBody>
      </p:sp>
      <p:sp>
        <p:nvSpPr>
          <p:cNvPr id="19" name="Shape 14"/>
          <p:cNvSpPr/>
          <p:nvPr/>
        </p:nvSpPr>
        <p:spPr>
          <a:xfrm>
            <a:off x="6281928" y="374904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6908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Nicht bewerten</a:t>
            </a:r>
            <a:endParaRPr lang="en-US" sz="1800" dirty="0"/>
          </a:p>
        </p:txBody>
      </p:sp>
      <p:sp>
        <p:nvSpPr>
          <p:cNvPr id="23" name="Text 17"/>
          <p:cNvSpPr/>
          <p:nvPr/>
        </p:nvSpPr>
        <p:spPr>
          <a:xfrm>
            <a:off x="7607808" y="457200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Kein „aber“, kein Ratschlag. Erst verstehen, nicht lösen.</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Faustregel: 80 % zuhören, 20 % reden. Wer sich verstanden fühlt, ist schon ein Stück weniger allein.</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MODUL 4 · SELBSTSCHUTZ</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Helfen, ohne selbst unterzugehen</a:t>
            </a:r>
            <a:endParaRPr lang="en-US" sz="2800" dirty="0"/>
          </a:p>
        </p:txBody>
      </p:sp>
      <p:sp>
        <p:nvSpPr>
          <p:cNvPr id="4" name="Shape 2"/>
          <p:cNvSpPr/>
          <p:nvPr/>
        </p:nvSpPr>
        <p:spPr>
          <a:xfrm>
            <a:off x="566928" y="1828800"/>
            <a:ext cx="5394960" cy="1600200"/>
          </a:xfrm>
          <a:prstGeom prst="roundRect">
            <a:avLst>
              <a:gd name="adj" fmla="val 5143"/>
            </a:avLst>
          </a:prstGeom>
          <a:solidFill>
            <a:srgbClr val="35545C"/>
          </a:solidFill>
          <a:ln w="12700">
            <a:solidFill>
              <a:srgbClr val="436A72"/>
            </a:solidFill>
            <a:prstDash val="solid"/>
          </a:ln>
        </p:spPr>
      </p:sp>
      <p:sp>
        <p:nvSpPr>
          <p:cNvPr id="5" name="Shape 3"/>
          <p:cNvSpPr/>
          <p:nvPr/>
        </p:nvSpPr>
        <p:spPr>
          <a:xfrm>
            <a:off x="886968" y="2240280"/>
            <a:ext cx="731520" cy="73152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01368" y="210312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Sie sind nicht die Therapie</a:t>
            </a:r>
            <a:endParaRPr lang="en-US" sz="1650" dirty="0"/>
          </a:p>
        </p:txBody>
      </p:sp>
      <p:sp>
        <p:nvSpPr>
          <p:cNvPr id="8" name="Text 5"/>
          <p:cNvSpPr/>
          <p:nvPr/>
        </p:nvSpPr>
        <p:spPr>
          <a:xfrm>
            <a:off x="1801368" y="260604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Sie sind Brücke zur Hilfe – nicht die Behandlung selbst.</a:t>
            </a:r>
            <a:endParaRPr lang="en-US" sz="1300" dirty="0"/>
          </a:p>
        </p:txBody>
      </p:sp>
      <p:sp>
        <p:nvSpPr>
          <p:cNvPr id="9" name="Shape 6"/>
          <p:cNvSpPr/>
          <p:nvPr/>
        </p:nvSpPr>
        <p:spPr>
          <a:xfrm>
            <a:off x="6281928" y="1828800"/>
            <a:ext cx="5394960" cy="1600200"/>
          </a:xfrm>
          <a:prstGeom prst="roundRect">
            <a:avLst>
              <a:gd name="adj" fmla="val 5143"/>
            </a:avLst>
          </a:prstGeom>
          <a:solidFill>
            <a:srgbClr val="35545C"/>
          </a:solidFill>
          <a:ln w="12700">
            <a:solidFill>
              <a:srgbClr val="436A72"/>
            </a:solidFill>
            <a:prstDash val="solid"/>
          </a:ln>
        </p:spPr>
      </p:sp>
      <p:sp>
        <p:nvSpPr>
          <p:cNvPr id="10" name="Shape 7"/>
          <p:cNvSpPr/>
          <p:nvPr/>
        </p:nvSpPr>
        <p:spPr>
          <a:xfrm>
            <a:off x="6601968" y="2240280"/>
            <a:ext cx="731520" cy="73152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16368" y="210312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Grenzen sind erlaubt</a:t>
            </a:r>
            <a:endParaRPr lang="en-US" sz="1650" dirty="0"/>
          </a:p>
        </p:txBody>
      </p:sp>
      <p:sp>
        <p:nvSpPr>
          <p:cNvPr id="13" name="Text 9"/>
          <p:cNvSpPr/>
          <p:nvPr/>
        </p:nvSpPr>
        <p:spPr>
          <a:xfrm>
            <a:off x="7516368" y="260604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„Ich kann heute nicht, morgen wieder.“ Das ist kein Verrat.</a:t>
            </a:r>
            <a:endParaRPr lang="en-US" sz="1300" dirty="0"/>
          </a:p>
        </p:txBody>
      </p:sp>
      <p:sp>
        <p:nvSpPr>
          <p:cNvPr id="14" name="Shape 10"/>
          <p:cNvSpPr/>
          <p:nvPr/>
        </p:nvSpPr>
        <p:spPr>
          <a:xfrm>
            <a:off x="566928" y="3703320"/>
            <a:ext cx="5394960" cy="1600200"/>
          </a:xfrm>
          <a:prstGeom prst="roundRect">
            <a:avLst>
              <a:gd name="adj" fmla="val 5143"/>
            </a:avLst>
          </a:prstGeom>
          <a:solidFill>
            <a:srgbClr val="35545C"/>
          </a:solidFill>
          <a:ln w="12700">
            <a:solidFill>
              <a:srgbClr val="436A72"/>
            </a:solidFill>
            <a:prstDash val="solid"/>
          </a:ln>
        </p:spPr>
      </p:sp>
      <p:sp>
        <p:nvSpPr>
          <p:cNvPr id="15" name="Shape 11"/>
          <p:cNvSpPr/>
          <p:nvPr/>
        </p:nvSpPr>
        <p:spPr>
          <a:xfrm>
            <a:off x="886968" y="4114800"/>
            <a:ext cx="731520" cy="73152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77163" y="4304995"/>
            <a:ext cx="351130" cy="351130"/>
          </a:xfrm>
          <a:prstGeom prst="rect">
            <a:avLst/>
          </a:prstGeom>
        </p:spPr>
      </p:pic>
      <p:sp>
        <p:nvSpPr>
          <p:cNvPr id="17" name="Text 12"/>
          <p:cNvSpPr/>
          <p:nvPr/>
        </p:nvSpPr>
        <p:spPr>
          <a:xfrm>
            <a:off x="1801368" y="397764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Auf sich selbst achten</a:t>
            </a:r>
            <a:endParaRPr lang="en-US" sz="1650" dirty="0"/>
          </a:p>
        </p:txBody>
      </p:sp>
      <p:sp>
        <p:nvSpPr>
          <p:cNvPr id="18" name="Text 13"/>
          <p:cNvSpPr/>
          <p:nvPr/>
        </p:nvSpPr>
        <p:spPr>
          <a:xfrm>
            <a:off x="1801368" y="448056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Nur ein aufgeladener Akku kann anderen Strom geben.</a:t>
            </a:r>
            <a:endParaRPr lang="en-US" sz="1300" dirty="0"/>
          </a:p>
        </p:txBody>
      </p:sp>
      <p:sp>
        <p:nvSpPr>
          <p:cNvPr id="19" name="Shape 14"/>
          <p:cNvSpPr/>
          <p:nvPr/>
        </p:nvSpPr>
        <p:spPr>
          <a:xfrm>
            <a:off x="6281928" y="3703320"/>
            <a:ext cx="5394960" cy="1600200"/>
          </a:xfrm>
          <a:prstGeom prst="roundRect">
            <a:avLst>
              <a:gd name="adj" fmla="val 5143"/>
            </a:avLst>
          </a:prstGeom>
          <a:solidFill>
            <a:srgbClr val="35545C"/>
          </a:solidFill>
          <a:ln w="12700">
            <a:solidFill>
              <a:srgbClr val="436A72"/>
            </a:solidFill>
            <a:prstDash val="solid"/>
          </a:ln>
        </p:spPr>
      </p:sp>
      <p:sp>
        <p:nvSpPr>
          <p:cNvPr id="20" name="Shape 15"/>
          <p:cNvSpPr/>
          <p:nvPr/>
        </p:nvSpPr>
        <p:spPr>
          <a:xfrm>
            <a:off x="6601968" y="4114800"/>
            <a:ext cx="731520" cy="731520"/>
          </a:xfrm>
          <a:prstGeom prst="ellipse">
            <a:avLst/>
          </a:prstGeom>
          <a:solidFill>
            <a:srgbClr val="D99A5B"/>
          </a:solidFill>
          <a:ln/>
        </p:spPr>
      </p:sp>
      <p:pic>
        <p:nvPicPr>
          <p:cNvPr id="21" name="Image 3" descr="preencoded.png">    </p:cNvPr>
          <p:cNvPicPr>
            <a:picLocks noChangeAspect="1"/>
          </p:cNvPicPr>
          <p:nvPr/>
        </p:nvPicPr>
        <p:blipFill>
          <a:blip r:embed="rId4"/>
          <a:stretch>
            <a:fillRect/>
          </a:stretch>
        </p:blipFill>
        <p:spPr>
          <a:xfrm>
            <a:off x="6792163" y="4304995"/>
            <a:ext cx="351130" cy="351130"/>
          </a:xfrm>
          <a:prstGeom prst="rect">
            <a:avLst/>
          </a:prstGeom>
        </p:spPr>
      </p:pic>
      <p:sp>
        <p:nvSpPr>
          <p:cNvPr id="22" name="Text 16"/>
          <p:cNvSpPr/>
          <p:nvPr/>
        </p:nvSpPr>
        <p:spPr>
          <a:xfrm>
            <a:off x="7516368" y="397764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Notfall erkennen</a:t>
            </a:r>
            <a:endParaRPr lang="en-US" sz="1650" dirty="0"/>
          </a:p>
        </p:txBody>
      </p:sp>
      <p:sp>
        <p:nvSpPr>
          <p:cNvPr id="23" name="Text 17"/>
          <p:cNvSpPr/>
          <p:nvPr/>
        </p:nvSpPr>
        <p:spPr>
          <a:xfrm>
            <a:off x="7516368" y="448056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Bei Suizidgedanken: direkt ansprechen und Profis holen (144 / 142).</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350" b="1" dirty="0">
                <a:solidFill>
                  <a:srgbClr val="D99A5B"/>
                </a:solidFill>
                <a:latin typeface="Calibri" pitchFamily="34" charset="0"/>
                <a:ea typeface="Calibri" pitchFamily="34" charset="-122"/>
                <a:cs typeface="Calibri" pitchFamily="34" charset="-120"/>
              </a:rPr>
              <a:t>Bei akuter Gefahr zählt kein Zartgefühl: Rettung 144 · Telefonseelsorge 142 (kostenlos, anonym, rund um die Uhr).</a:t>
            </a:r>
            <a:endParaRPr lang="en-US" sz="135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2414A"/>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1E353B"/>
          </a:solidFill>
          <a:ln/>
        </p:spPr>
      </p:sp>
      <p:sp>
        <p:nvSpPr>
          <p:cNvPr id="3" name="Shape 1"/>
          <p:cNvSpPr/>
          <p:nvPr/>
        </p:nvSpPr>
        <p:spPr>
          <a:xfrm>
            <a:off x="1371600" y="109728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28216" y="1453896"/>
            <a:ext cx="658368" cy="658368"/>
          </a:xfrm>
          <a:prstGeom prst="rect">
            <a:avLst/>
          </a:prstGeom>
        </p:spPr>
      </p:pic>
      <p:sp>
        <p:nvSpPr>
          <p:cNvPr id="5" name="Text 2"/>
          <p:cNvSpPr/>
          <p:nvPr/>
        </p:nvSpPr>
        <p:spPr>
          <a:xfrm>
            <a:off x="548640" y="2606040"/>
            <a:ext cx="329184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ÜBUNG · ROLLENSPIEL</a:t>
            </a:r>
            <a:endParaRPr lang="en-US" sz="1200" dirty="0"/>
          </a:p>
        </p:txBody>
      </p:sp>
      <p:sp>
        <p:nvSpPr>
          <p:cNvPr id="6" name="Text 3"/>
          <p:cNvSpPr/>
          <p:nvPr/>
        </p:nvSpPr>
        <p:spPr>
          <a:xfrm>
            <a:off x="548640" y="2880360"/>
            <a:ext cx="3383280" cy="128016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Das schwierige Gespräch</a:t>
            </a:r>
            <a:endParaRPr lang="en-US" sz="2600" dirty="0"/>
          </a:p>
        </p:txBody>
      </p:sp>
      <p:sp>
        <p:nvSpPr>
          <p:cNvPr id="7" name="Shape 4"/>
          <p:cNvSpPr/>
          <p:nvPr/>
        </p:nvSpPr>
        <p:spPr>
          <a:xfrm>
            <a:off x="548640" y="5212080"/>
            <a:ext cx="2377440" cy="502920"/>
          </a:xfrm>
          <a:prstGeom prst="roundRect">
            <a:avLst>
              <a:gd name="adj" fmla="val 18182"/>
            </a:avLst>
          </a:prstGeom>
          <a:solidFill>
            <a:srgbClr val="D99A5B"/>
          </a:solidFill>
          <a:ln/>
        </p:spPr>
      </p:sp>
      <p:sp>
        <p:nvSpPr>
          <p:cNvPr id="8" name="Text 5"/>
          <p:cNvSpPr/>
          <p:nvPr/>
        </p:nvSpPr>
        <p:spPr>
          <a:xfrm>
            <a:off x="548640" y="5212080"/>
            <a:ext cx="2377440" cy="502920"/>
          </a:xfrm>
          <a:prstGeom prst="rect">
            <a:avLst/>
          </a:prstGeom>
          <a:noFill/>
          <a:ln/>
        </p:spPr>
        <p:txBody>
          <a:bodyPr wrap="square" rtlCol="0" anchor="ctr"/>
          <a:lstStyle/>
          <a:p>
            <a:pPr algn="ctr" indent="0" marL="0">
              <a:buNone/>
            </a:pPr>
            <a:r>
              <a:rPr lang="en-US" sz="1400" b="1" dirty="0">
                <a:solidFill>
                  <a:srgbClr val="1E353B"/>
                </a:solidFill>
                <a:latin typeface="Calibri" pitchFamily="34" charset="0"/>
                <a:ea typeface="Calibri" pitchFamily="34" charset="-122"/>
                <a:cs typeface="Calibri" pitchFamily="34" charset="-120"/>
              </a:rPr>
              <a:t>⏱  20 Min.</a:t>
            </a:r>
            <a:endParaRPr lang="en-US" sz="1400" dirty="0"/>
          </a:p>
        </p:txBody>
      </p:sp>
      <p:sp>
        <p:nvSpPr>
          <p:cNvPr id="9" name="Text 6"/>
          <p:cNvSpPr/>
          <p:nvPr/>
        </p:nvSpPr>
        <p:spPr>
          <a:xfrm>
            <a:off x="4480560" y="640080"/>
            <a:ext cx="68580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SO GEHT’S</a:t>
            </a:r>
            <a:endParaRPr lang="en-US" sz="1200" dirty="0"/>
          </a:p>
        </p:txBody>
      </p:sp>
      <p:sp>
        <p:nvSpPr>
          <p:cNvPr id="10" name="Shape 7"/>
          <p:cNvSpPr/>
          <p:nvPr/>
        </p:nvSpPr>
        <p:spPr>
          <a:xfrm>
            <a:off x="4526280" y="1024128"/>
            <a:ext cx="402336" cy="402336"/>
          </a:xfrm>
          <a:prstGeom prst="ellipse">
            <a:avLst/>
          </a:prstGeom>
          <a:solidFill>
            <a:srgbClr val="3F7C79"/>
          </a:solidFill>
          <a:ln/>
        </p:spPr>
      </p:sp>
      <p:sp>
        <p:nvSpPr>
          <p:cNvPr id="11" name="Text 8"/>
          <p:cNvSpPr/>
          <p:nvPr/>
        </p:nvSpPr>
        <p:spPr>
          <a:xfrm>
            <a:off x="4526280" y="1024128"/>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2" name="Text 9"/>
          <p:cNvSpPr/>
          <p:nvPr/>
        </p:nvSpPr>
        <p:spPr>
          <a:xfrm>
            <a:off x="5120640" y="960120"/>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Dreiergruppen: A ist betroffen, B ist Gegenüber, C beobachtet.</a:t>
            </a:r>
            <a:endParaRPr lang="en-US" sz="1450" dirty="0"/>
          </a:p>
        </p:txBody>
      </p:sp>
      <p:sp>
        <p:nvSpPr>
          <p:cNvPr id="13" name="Shape 10"/>
          <p:cNvSpPr/>
          <p:nvPr/>
        </p:nvSpPr>
        <p:spPr>
          <a:xfrm>
            <a:off x="4526280" y="1682496"/>
            <a:ext cx="402336" cy="402336"/>
          </a:xfrm>
          <a:prstGeom prst="ellipse">
            <a:avLst/>
          </a:prstGeom>
          <a:solidFill>
            <a:srgbClr val="3F7C79"/>
          </a:solidFill>
          <a:ln/>
        </p:spPr>
      </p:sp>
      <p:sp>
        <p:nvSpPr>
          <p:cNvPr id="14" name="Text 11"/>
          <p:cNvSpPr/>
          <p:nvPr/>
        </p:nvSpPr>
        <p:spPr>
          <a:xfrm>
            <a:off x="4526280" y="1682496"/>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2"/>
          <p:cNvSpPr/>
          <p:nvPr/>
        </p:nvSpPr>
        <p:spPr>
          <a:xfrm>
            <a:off x="5120640" y="1618488"/>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Situationskarte ziehen (Kopiervorlage) und 5 Min. spielen.</a:t>
            </a:r>
            <a:endParaRPr lang="en-US" sz="1450" dirty="0"/>
          </a:p>
        </p:txBody>
      </p:sp>
      <p:sp>
        <p:nvSpPr>
          <p:cNvPr id="16" name="Shape 13"/>
          <p:cNvSpPr/>
          <p:nvPr/>
        </p:nvSpPr>
        <p:spPr>
          <a:xfrm>
            <a:off x="4526280" y="2340864"/>
            <a:ext cx="402336" cy="402336"/>
          </a:xfrm>
          <a:prstGeom prst="ellipse">
            <a:avLst/>
          </a:prstGeom>
          <a:solidFill>
            <a:srgbClr val="3F7C79"/>
          </a:solidFill>
          <a:ln/>
        </p:spPr>
      </p:sp>
      <p:sp>
        <p:nvSpPr>
          <p:cNvPr id="17" name="Text 14"/>
          <p:cNvSpPr/>
          <p:nvPr/>
        </p:nvSpPr>
        <p:spPr>
          <a:xfrm>
            <a:off x="4526280" y="2340864"/>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5"/>
          <p:cNvSpPr/>
          <p:nvPr/>
        </p:nvSpPr>
        <p:spPr>
          <a:xfrm>
            <a:off x="5120640" y="2276856"/>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C achtet mit dem Beobachtungsbogen auf Sprache &amp; Zuhören.</a:t>
            </a:r>
            <a:endParaRPr lang="en-US" sz="1450" dirty="0"/>
          </a:p>
        </p:txBody>
      </p:sp>
      <p:sp>
        <p:nvSpPr>
          <p:cNvPr id="19" name="Shape 16"/>
          <p:cNvSpPr/>
          <p:nvPr/>
        </p:nvSpPr>
        <p:spPr>
          <a:xfrm>
            <a:off x="4526280" y="2999232"/>
            <a:ext cx="402336" cy="402336"/>
          </a:xfrm>
          <a:prstGeom prst="ellipse">
            <a:avLst/>
          </a:prstGeom>
          <a:solidFill>
            <a:srgbClr val="3F7C79"/>
          </a:solidFill>
          <a:ln/>
        </p:spPr>
      </p:sp>
      <p:sp>
        <p:nvSpPr>
          <p:cNvPr id="20" name="Text 17"/>
          <p:cNvSpPr/>
          <p:nvPr/>
        </p:nvSpPr>
        <p:spPr>
          <a:xfrm>
            <a:off x="4526280" y="2999232"/>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1" name="Text 18"/>
          <p:cNvSpPr/>
          <p:nvPr/>
        </p:nvSpPr>
        <p:spPr>
          <a:xfrm>
            <a:off x="5120640" y="2935224"/>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Rollen tauschen, dann gemeinsame Auswertung.</a:t>
            </a:r>
            <a:endParaRPr lang="en-US" sz="1450" dirty="0"/>
          </a:p>
        </p:txBody>
      </p:sp>
      <p:sp>
        <p:nvSpPr>
          <p:cNvPr id="22" name="Shape 19"/>
          <p:cNvSpPr/>
          <p:nvPr/>
        </p:nvSpPr>
        <p:spPr>
          <a:xfrm>
            <a:off x="4480560" y="3730752"/>
            <a:ext cx="7178040" cy="2167128"/>
          </a:xfrm>
          <a:prstGeom prst="roundRect">
            <a:avLst>
              <a:gd name="adj" fmla="val 3797"/>
            </a:avLst>
          </a:prstGeom>
          <a:solidFill>
            <a:srgbClr val="2C4A52"/>
          </a:solidFill>
          <a:ln w="12700">
            <a:solidFill>
              <a:srgbClr val="3C5C63"/>
            </a:solidFill>
            <a:prstDash val="solid"/>
          </a:ln>
        </p:spPr>
      </p:sp>
      <p:sp>
        <p:nvSpPr>
          <p:cNvPr id="23" name="Text 20"/>
          <p:cNvSpPr/>
          <p:nvPr/>
        </p:nvSpPr>
        <p:spPr>
          <a:xfrm>
            <a:off x="4709160" y="3895344"/>
            <a:ext cx="6766560" cy="365760"/>
          </a:xfrm>
          <a:prstGeom prst="rect">
            <a:avLst/>
          </a:prstGeom>
          <a:noFill/>
          <a:ln/>
        </p:spPr>
        <p:txBody>
          <a:bodyPr wrap="square" rtlCol="0" anchor="ctr"/>
          <a:lstStyle/>
          <a:p>
            <a:pPr indent="0" marL="0">
              <a:buNone/>
            </a:pPr>
            <a:r>
              <a:rPr lang="en-US" sz="1500" b="1" dirty="0">
                <a:solidFill>
                  <a:srgbClr val="D99A5B"/>
                </a:solidFill>
                <a:latin typeface="Cambria" pitchFamily="34" charset="0"/>
                <a:ea typeface="Cambria" pitchFamily="34" charset="-122"/>
                <a:cs typeface="Cambria" pitchFamily="34" charset="-120"/>
              </a:rPr>
              <a:t>Auswertung</a:t>
            </a:r>
            <a:endParaRPr lang="en-US" sz="1500" dirty="0"/>
          </a:p>
        </p:txBody>
      </p:sp>
      <p:sp>
        <p:nvSpPr>
          <p:cNvPr id="24" name="Text 21"/>
          <p:cNvSpPr/>
          <p:nvPr/>
        </p:nvSpPr>
        <p:spPr>
          <a:xfrm>
            <a:off x="4846320" y="4261104"/>
            <a:ext cx="6583680" cy="1591056"/>
          </a:xfrm>
          <a:prstGeom prst="rect">
            <a:avLst/>
          </a:prstGeom>
          <a:noFill/>
          <a:ln/>
        </p:spPr>
        <p:txBody>
          <a:bodyPr wrap="square" rtlCol="0" anchor="ctr"/>
          <a:lstStyle/>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hat sich für ‚A‘ gut angefühlt – was nicht?</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Welcher Satz hat geöffnet, welcher verschlossen?</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nehme ich für ein echtes Gespräch mit?</a:t>
            </a:r>
            <a:endParaRPr lang="en-US" sz="1350" dirty="0"/>
          </a:p>
        </p:txBody>
      </p:sp>
      <p:sp>
        <p:nvSpPr>
          <p:cNvPr id="26"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9326880" y="-1645920"/>
            <a:ext cx="5486400" cy="5486400"/>
          </a:xfrm>
          <a:prstGeom prst="ellipse">
            <a:avLst/>
          </a:prstGeom>
          <a:solidFill>
            <a:srgbClr val="22414A"/>
          </a:solidFill>
          <a:ln/>
        </p:spPr>
      </p:sp>
      <p:sp>
        <p:nvSpPr>
          <p:cNvPr id="3" name="Text 1"/>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5  ·  AUFKLÄREN</a:t>
            </a:r>
            <a:endParaRPr lang="en-US" sz="1400" dirty="0"/>
          </a:p>
        </p:txBody>
      </p:sp>
      <p:sp>
        <p:nvSpPr>
          <p:cNvPr id="4" name="Text 2"/>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Mythos oder Wahrheit?</a:t>
            </a:r>
            <a:endParaRPr lang="en-US" sz="4600" dirty="0"/>
          </a:p>
        </p:txBody>
      </p:sp>
      <p:sp>
        <p:nvSpPr>
          <p:cNvPr id="5" name="Text 3"/>
          <p:cNvSpPr/>
          <p:nvPr/>
        </p:nvSpPr>
        <p:spPr>
          <a:xfrm>
            <a:off x="566928" y="3657600"/>
            <a:ext cx="10241280" cy="82296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Vier Sätze, die viele glauben. Wir prüfen sie gemeinsam – Daumen hoch für Wahrheit, Daumen runter für Mythos.</a:t>
            </a:r>
            <a:endParaRPr lang="en-US" sz="1800" dirty="0"/>
          </a:p>
        </p:txBody>
      </p:sp>
      <p:sp>
        <p:nvSpPr>
          <p:cNvPr id="7" name="Text 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8" name="Text 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5 · AUFGELÖST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Vier Mythen – und was stimmt</a:t>
            </a:r>
            <a:endParaRPr lang="en-US" sz="3300" dirty="0"/>
          </a:p>
        </p:txBody>
      </p:sp>
      <p:sp>
        <p:nvSpPr>
          <p:cNvPr id="4" name="Shape 2"/>
          <p:cNvSpPr/>
          <p:nvPr/>
        </p:nvSpPr>
        <p:spPr>
          <a:xfrm>
            <a:off x="566928" y="173736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4590288" y="1993392"/>
            <a:ext cx="1097280" cy="384048"/>
          </a:xfrm>
          <a:prstGeom prst="roundRect">
            <a:avLst>
              <a:gd name="adj" fmla="val 47619"/>
            </a:avLst>
          </a:prstGeom>
          <a:solidFill>
            <a:srgbClr val="B9793B"/>
          </a:solidFill>
          <a:ln/>
        </p:spPr>
      </p:sp>
      <p:sp>
        <p:nvSpPr>
          <p:cNvPr id="6" name="Text 4"/>
          <p:cNvSpPr/>
          <p:nvPr/>
        </p:nvSpPr>
        <p:spPr>
          <a:xfrm>
            <a:off x="4590288" y="199339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7" name="Text 5"/>
          <p:cNvSpPr/>
          <p:nvPr/>
        </p:nvSpPr>
        <p:spPr>
          <a:xfrm>
            <a:off x="886968" y="196596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„Depression ist Faulheit.“</a:t>
            </a:r>
            <a:endParaRPr lang="en-US" sz="1600" dirty="0"/>
          </a:p>
        </p:txBody>
      </p:sp>
      <p:sp>
        <p:nvSpPr>
          <p:cNvPr id="8" name="Shape 6"/>
          <p:cNvSpPr/>
          <p:nvPr/>
        </p:nvSpPr>
        <p:spPr>
          <a:xfrm>
            <a:off x="886968" y="2761488"/>
            <a:ext cx="4754880" cy="0"/>
          </a:xfrm>
          <a:prstGeom prst="line">
            <a:avLst/>
          </a:prstGeom>
          <a:noFill/>
          <a:ln w="12700">
            <a:solidFill>
              <a:srgbClr val="DCE6E3"/>
            </a:solidFill>
            <a:prstDash val="solid"/>
          </a:ln>
        </p:spPr>
      </p:sp>
      <p:sp>
        <p:nvSpPr>
          <p:cNvPr id="9" name="Text 7"/>
          <p:cNvSpPr/>
          <p:nvPr/>
        </p:nvSpPr>
        <p:spPr>
          <a:xfrm>
            <a:off x="886968" y="283464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Depression lähmt den Antrieb – Betroffene kämpfen härter als jeder ‚Faule‘.</a:t>
            </a:r>
            <a:endParaRPr lang="en-US" sz="1300" dirty="0"/>
          </a:p>
        </p:txBody>
      </p:sp>
      <p:sp>
        <p:nvSpPr>
          <p:cNvPr id="10" name="Shape 8"/>
          <p:cNvSpPr/>
          <p:nvPr/>
        </p:nvSpPr>
        <p:spPr>
          <a:xfrm>
            <a:off x="6281928" y="173736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1" name="Shape 9"/>
          <p:cNvSpPr/>
          <p:nvPr/>
        </p:nvSpPr>
        <p:spPr>
          <a:xfrm>
            <a:off x="10305288" y="1993392"/>
            <a:ext cx="1097280" cy="384048"/>
          </a:xfrm>
          <a:prstGeom prst="roundRect">
            <a:avLst>
              <a:gd name="adj" fmla="val 47619"/>
            </a:avLst>
          </a:prstGeom>
          <a:solidFill>
            <a:srgbClr val="B9793B"/>
          </a:solidFill>
          <a:ln/>
        </p:spPr>
      </p:sp>
      <p:sp>
        <p:nvSpPr>
          <p:cNvPr id="12" name="Text 10"/>
          <p:cNvSpPr/>
          <p:nvPr/>
        </p:nvSpPr>
        <p:spPr>
          <a:xfrm>
            <a:off x="10305288" y="199339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13" name="Text 11"/>
          <p:cNvSpPr/>
          <p:nvPr/>
        </p:nvSpPr>
        <p:spPr>
          <a:xfrm>
            <a:off x="6601968" y="196596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„Man muss sich nur zusammenreißen.“</a:t>
            </a:r>
            <a:endParaRPr lang="en-US" sz="1600" dirty="0"/>
          </a:p>
        </p:txBody>
      </p:sp>
      <p:sp>
        <p:nvSpPr>
          <p:cNvPr id="14" name="Shape 12"/>
          <p:cNvSpPr/>
          <p:nvPr/>
        </p:nvSpPr>
        <p:spPr>
          <a:xfrm>
            <a:off x="6601968" y="2761488"/>
            <a:ext cx="4754880" cy="0"/>
          </a:xfrm>
          <a:prstGeom prst="line">
            <a:avLst/>
          </a:prstGeom>
          <a:noFill/>
          <a:ln w="12700">
            <a:solidFill>
              <a:srgbClr val="DCE6E3"/>
            </a:solidFill>
            <a:prstDash val="solid"/>
          </a:ln>
        </p:spPr>
      </p:sp>
      <p:sp>
        <p:nvSpPr>
          <p:cNvPr id="15" name="Text 13"/>
          <p:cNvSpPr/>
          <p:nvPr/>
        </p:nvSpPr>
        <p:spPr>
          <a:xfrm>
            <a:off x="6601968" y="283464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Willenskraft heilt keine Erkrankung – so wenig wie bei einem Beinbruch.</a:t>
            </a:r>
            <a:endParaRPr lang="en-US" sz="1300" dirty="0"/>
          </a:p>
        </p:txBody>
      </p:sp>
      <p:sp>
        <p:nvSpPr>
          <p:cNvPr id="16" name="Shape 14"/>
          <p:cNvSpPr/>
          <p:nvPr/>
        </p:nvSpPr>
        <p:spPr>
          <a:xfrm>
            <a:off x="566928" y="384048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7" name="Shape 15"/>
          <p:cNvSpPr/>
          <p:nvPr/>
        </p:nvSpPr>
        <p:spPr>
          <a:xfrm>
            <a:off x="4590288" y="4096512"/>
            <a:ext cx="1097280" cy="384048"/>
          </a:xfrm>
          <a:prstGeom prst="roundRect">
            <a:avLst>
              <a:gd name="adj" fmla="val 47619"/>
            </a:avLst>
          </a:prstGeom>
          <a:solidFill>
            <a:srgbClr val="B9793B"/>
          </a:solidFill>
          <a:ln/>
        </p:spPr>
      </p:sp>
      <p:sp>
        <p:nvSpPr>
          <p:cNvPr id="18" name="Text 16"/>
          <p:cNvSpPr/>
          <p:nvPr/>
        </p:nvSpPr>
        <p:spPr>
          <a:xfrm>
            <a:off x="4590288" y="409651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19" name="Text 17"/>
          <p:cNvSpPr/>
          <p:nvPr/>
        </p:nvSpPr>
        <p:spPr>
          <a:xfrm>
            <a:off x="886968" y="406908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„Psychische Erkrankungen sieht man.“</a:t>
            </a:r>
            <a:endParaRPr lang="en-US" sz="1600" dirty="0"/>
          </a:p>
        </p:txBody>
      </p:sp>
      <p:sp>
        <p:nvSpPr>
          <p:cNvPr id="20" name="Shape 18"/>
          <p:cNvSpPr/>
          <p:nvPr/>
        </p:nvSpPr>
        <p:spPr>
          <a:xfrm>
            <a:off x="886968" y="4864608"/>
            <a:ext cx="4754880" cy="0"/>
          </a:xfrm>
          <a:prstGeom prst="line">
            <a:avLst/>
          </a:prstGeom>
          <a:noFill/>
          <a:ln w="12700">
            <a:solidFill>
              <a:srgbClr val="DCE6E3"/>
            </a:solidFill>
            <a:prstDash val="solid"/>
          </a:ln>
        </p:spPr>
      </p:sp>
      <p:sp>
        <p:nvSpPr>
          <p:cNvPr id="21" name="Text 19"/>
          <p:cNvSpPr/>
          <p:nvPr/>
        </p:nvSpPr>
        <p:spPr>
          <a:xfrm>
            <a:off x="886968" y="493776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Das Gegenteil stimmt: Man sieht sie meist NICHT – der rote Faden des Tages.</a:t>
            </a:r>
            <a:endParaRPr lang="en-US" sz="1300" dirty="0"/>
          </a:p>
        </p:txBody>
      </p:sp>
      <p:sp>
        <p:nvSpPr>
          <p:cNvPr id="22" name="Shape 20"/>
          <p:cNvSpPr/>
          <p:nvPr/>
        </p:nvSpPr>
        <p:spPr>
          <a:xfrm>
            <a:off x="6281928" y="384048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3" name="Shape 21"/>
          <p:cNvSpPr/>
          <p:nvPr/>
        </p:nvSpPr>
        <p:spPr>
          <a:xfrm>
            <a:off x="10305288" y="4096512"/>
            <a:ext cx="1097280" cy="384048"/>
          </a:xfrm>
          <a:prstGeom prst="roundRect">
            <a:avLst>
              <a:gd name="adj" fmla="val 47619"/>
            </a:avLst>
          </a:prstGeom>
          <a:solidFill>
            <a:srgbClr val="B9793B"/>
          </a:solidFill>
          <a:ln/>
        </p:spPr>
      </p:sp>
      <p:sp>
        <p:nvSpPr>
          <p:cNvPr id="24" name="Text 22"/>
          <p:cNvSpPr/>
          <p:nvPr/>
        </p:nvSpPr>
        <p:spPr>
          <a:xfrm>
            <a:off x="10305288" y="409651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25" name="Text 23"/>
          <p:cNvSpPr/>
          <p:nvPr/>
        </p:nvSpPr>
        <p:spPr>
          <a:xfrm>
            <a:off x="6601968" y="406908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„Wer Hilfe sucht, ist schwach.“</a:t>
            </a:r>
            <a:endParaRPr lang="en-US" sz="1600" dirty="0"/>
          </a:p>
        </p:txBody>
      </p:sp>
      <p:sp>
        <p:nvSpPr>
          <p:cNvPr id="26" name="Shape 24"/>
          <p:cNvSpPr/>
          <p:nvPr/>
        </p:nvSpPr>
        <p:spPr>
          <a:xfrm>
            <a:off x="6601968" y="4864608"/>
            <a:ext cx="4754880" cy="0"/>
          </a:xfrm>
          <a:prstGeom prst="line">
            <a:avLst/>
          </a:prstGeom>
          <a:noFill/>
          <a:ln w="12700">
            <a:solidFill>
              <a:srgbClr val="DCE6E3"/>
            </a:solidFill>
            <a:prstDash val="solid"/>
          </a:ln>
        </p:spPr>
      </p:sp>
      <p:sp>
        <p:nvSpPr>
          <p:cNvPr id="27" name="Text 25"/>
          <p:cNvSpPr/>
          <p:nvPr/>
        </p:nvSpPr>
        <p:spPr>
          <a:xfrm>
            <a:off x="6601968" y="493776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Hilfe zu holen ist ein Akt von Mut und Stärke – nicht von Schwäche.</a:t>
            </a:r>
            <a:endParaRPr lang="en-US" sz="1300" dirty="0"/>
          </a:p>
        </p:txBody>
      </p:sp>
      <p:sp>
        <p:nvSpPr>
          <p:cNvPr id="29"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6 · ES GIBT WEGE</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wirklich hilft</a:t>
            </a:r>
            <a:endParaRPr lang="en-US" sz="3300" dirty="0"/>
          </a:p>
        </p:txBody>
      </p:sp>
      <p:sp>
        <p:nvSpPr>
          <p:cNvPr id="4" name="Shape 2"/>
          <p:cNvSpPr/>
          <p:nvPr/>
        </p:nvSpPr>
        <p:spPr>
          <a:xfrm>
            <a:off x="566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19456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Psychotherapie</a:t>
            </a:r>
            <a:endParaRPr lang="en-US" sz="1800" dirty="0"/>
          </a:p>
        </p:txBody>
      </p:sp>
      <p:sp>
        <p:nvSpPr>
          <p:cNvPr id="8" name="Text 5"/>
          <p:cNvSpPr/>
          <p:nvPr/>
        </p:nvSpPr>
        <p:spPr>
          <a:xfrm>
            <a:off x="1892808" y="254203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Reden, verstehen, neue Muster lernen. Wirksam – wie eine Reha für die Seele.</a:t>
            </a:r>
            <a:endParaRPr lang="en-US" sz="1300" dirty="0"/>
          </a:p>
        </p:txBody>
      </p:sp>
      <p:sp>
        <p:nvSpPr>
          <p:cNvPr id="9" name="Shape 6"/>
          <p:cNvSpPr/>
          <p:nvPr/>
        </p:nvSpPr>
        <p:spPr>
          <a:xfrm>
            <a:off x="6281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194560"/>
            <a:ext cx="777240" cy="7772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Medikamente</a:t>
            </a:r>
            <a:endParaRPr lang="en-US" sz="1800" dirty="0"/>
          </a:p>
        </p:txBody>
      </p:sp>
      <p:sp>
        <p:nvSpPr>
          <p:cNvPr id="13" name="Text 9"/>
          <p:cNvSpPr/>
          <p:nvPr/>
        </p:nvSpPr>
        <p:spPr>
          <a:xfrm>
            <a:off x="7607808" y="254203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Können den Boden stabilisieren, damit Therapie greift. Kein Suchtmittel, keine Schwäche.</a:t>
            </a:r>
            <a:endParaRPr lang="en-US" sz="1300" dirty="0"/>
          </a:p>
        </p:txBody>
      </p:sp>
      <p:sp>
        <p:nvSpPr>
          <p:cNvPr id="14" name="Shape 10"/>
          <p:cNvSpPr/>
          <p:nvPr/>
        </p:nvSpPr>
        <p:spPr>
          <a:xfrm>
            <a:off x="566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Selbsthilfe &amp; Gemeinschaft</a:t>
            </a:r>
            <a:endParaRPr lang="en-US" sz="1800" dirty="0"/>
          </a:p>
        </p:txBody>
      </p:sp>
      <p:sp>
        <p:nvSpPr>
          <p:cNvPr id="18" name="Text 13"/>
          <p:cNvSpPr/>
          <p:nvPr/>
        </p:nvSpPr>
        <p:spPr>
          <a:xfrm>
            <a:off x="1892808" y="455371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Menschen mit ähnlicher Erfahrung. ‚Ich bin nicht allein‘ heilt mit.</a:t>
            </a:r>
            <a:endParaRPr lang="en-US" sz="1300" dirty="0"/>
          </a:p>
        </p:txBody>
      </p:sp>
      <p:sp>
        <p:nvSpPr>
          <p:cNvPr id="19" name="Shape 14"/>
          <p:cNvSpPr/>
          <p:nvPr/>
        </p:nvSpPr>
        <p:spPr>
          <a:xfrm>
            <a:off x="6281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Alltag &amp; Struktur</a:t>
            </a:r>
            <a:endParaRPr lang="en-US" sz="1800" dirty="0"/>
          </a:p>
        </p:txBody>
      </p:sp>
      <p:sp>
        <p:nvSpPr>
          <p:cNvPr id="23" name="Text 17"/>
          <p:cNvSpPr/>
          <p:nvPr/>
        </p:nvSpPr>
        <p:spPr>
          <a:xfrm>
            <a:off x="7607808" y="455371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Bewegung, Schlaf, Tagesstruktur, soziale Kontakte – Bausteine, kein Ersatz.</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Meist wirkt die Kombination am besten. Der erste Schritt ist der schwerste – und der wichtigste.</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595360" y="2560320"/>
            <a:ext cx="5486400" cy="5486400"/>
          </a:xfrm>
          <a:prstGeom prst="ellipse">
            <a:avLst/>
          </a:prstGeom>
          <a:solidFill>
            <a:srgbClr val="22414A"/>
          </a:solidFill>
          <a:ln/>
        </p:spPr>
      </p:sp>
      <p:sp>
        <p:nvSpPr>
          <p:cNvPr id="3" name="Shape 1"/>
          <p:cNvSpPr/>
          <p:nvPr/>
        </p:nvSpPr>
        <p:spPr>
          <a:xfrm>
            <a:off x="566928" y="777240"/>
            <a:ext cx="914400" cy="9144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804672" y="1014984"/>
            <a:ext cx="438912" cy="438912"/>
          </a:xfrm>
          <a:prstGeom prst="rect">
            <a:avLst/>
          </a:prstGeom>
        </p:spPr>
      </p:pic>
      <p:sp>
        <p:nvSpPr>
          <p:cNvPr id="5" name="Text 2"/>
          <p:cNvSpPr/>
          <p:nvPr/>
        </p:nvSpPr>
        <p:spPr>
          <a:xfrm>
            <a:off x="566928" y="1874520"/>
            <a:ext cx="10058400" cy="320040"/>
          </a:xfrm>
          <a:prstGeom prst="rect">
            <a:avLst/>
          </a:prstGeom>
          <a:noFill/>
          <a:ln/>
        </p:spPr>
        <p:txBody>
          <a:bodyPr wrap="square" rtlCol="0" anchor="ctr"/>
          <a:lstStyle/>
          <a:p>
            <a:pPr indent="0" marL="0">
              <a:buNone/>
            </a:pPr>
            <a:r>
              <a:rPr lang="en-US" sz="1300" b="1" spc="200" kern="0" dirty="0">
                <a:solidFill>
                  <a:srgbClr val="84B59F"/>
                </a:solidFill>
                <a:latin typeface="Calibri" pitchFamily="34" charset="0"/>
                <a:ea typeface="Calibri" pitchFamily="34" charset="-122"/>
                <a:cs typeface="Calibri" pitchFamily="34" charset="-120"/>
              </a:rPr>
              <a:t>MODUL 6 · HOFFNUNG</a:t>
            </a:r>
            <a:endParaRPr lang="en-US" sz="1300" dirty="0"/>
          </a:p>
        </p:txBody>
      </p:sp>
      <p:sp>
        <p:nvSpPr>
          <p:cNvPr id="6" name="Text 3"/>
          <p:cNvSpPr/>
          <p:nvPr/>
        </p:nvSpPr>
        <p:spPr>
          <a:xfrm>
            <a:off x="566928" y="2194560"/>
            <a:ext cx="10972800" cy="914400"/>
          </a:xfrm>
          <a:prstGeom prst="rect">
            <a:avLst/>
          </a:prstGeom>
          <a:noFill/>
          <a:ln/>
        </p:spPr>
        <p:txBody>
          <a:bodyPr wrap="square"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Es wird wieder hell.</a:t>
            </a:r>
            <a:endParaRPr lang="en-US" sz="4200" dirty="0"/>
          </a:p>
        </p:txBody>
      </p:sp>
      <p:sp>
        <p:nvSpPr>
          <p:cNvPr id="7" name="Text 4"/>
          <p:cNvSpPr/>
          <p:nvPr/>
        </p:nvSpPr>
        <p:spPr>
          <a:xfrm>
            <a:off x="566928" y="3291840"/>
            <a:ext cx="7680960" cy="2377440"/>
          </a:xfrm>
          <a:prstGeom prst="rect">
            <a:avLst/>
          </a:prstGeom>
          <a:noFill/>
          <a:ln/>
        </p:spPr>
        <p:txBody>
          <a:bodyPr wrap="square" rtlCol="0" anchor="t"/>
          <a:lstStyle/>
          <a:p>
            <a:pPr indent="0" marL="0">
              <a:lnSpc>
                <a:spcPts val="2400"/>
              </a:lnSpc>
              <a:buNone/>
            </a:pPr>
            <a:r>
              <a:rPr lang="en-US" sz="1700" dirty="0">
                <a:solidFill>
                  <a:srgbClr val="DCE7E4"/>
                </a:solidFill>
              </a:rPr>
              <a:t>Depression, Angst und PTBS sind behandelbar. Sehr viele Menschen werden wieder gesund oder deutlich besser – auch wenn es sich mitten in der Krise unmöglich anfühlt.
</a:t>
            </a:r>
            <a:endParaRPr lang="en-US" sz="1700" dirty="0"/>
          </a:p>
          <a:p>
            <a:pPr indent="0" marL="0">
              <a:lnSpc>
                <a:spcPts val="2400"/>
              </a:lnSpc>
              <a:buNone/>
            </a:pPr>
            <a:r>
              <a:rPr lang="en-US" sz="1700" i="1" dirty="0">
                <a:solidFill>
                  <a:srgbClr val="FFFFFF"/>
                </a:solidFill>
              </a:rPr>
              <a:t>Ich bin der Beweis: Ich war an einem Punkt, an dem ich nicht glauben konnte, dass es je wieder gut wird. Heute stehe ich hier vor Ihnen.</a:t>
            </a:r>
            <a:endParaRPr lang="en-US" sz="1700" dirty="0"/>
          </a:p>
        </p:txBody>
      </p:sp>
      <p:sp>
        <p:nvSpPr>
          <p:cNvPr id="9" name="Text 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ABSCHLUSS · DER ROTE FADEN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heute bleibt</a:t>
            </a:r>
            <a:endParaRPr lang="en-US" sz="3300" dirty="0"/>
          </a:p>
        </p:txBody>
      </p:sp>
      <p:sp>
        <p:nvSpPr>
          <p:cNvPr id="4" name="Shape 2"/>
          <p:cNvSpPr/>
          <p:nvPr/>
        </p:nvSpPr>
        <p:spPr>
          <a:xfrm>
            <a:off x="566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194560"/>
            <a:ext cx="777240" cy="77724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Unsichtbar heißt nicht unecht</a:t>
            </a:r>
            <a:endParaRPr lang="en-US" sz="1700" dirty="0"/>
          </a:p>
        </p:txBody>
      </p:sp>
      <p:sp>
        <p:nvSpPr>
          <p:cNvPr id="8" name="Text 5"/>
          <p:cNvSpPr/>
          <p:nvPr/>
        </p:nvSpPr>
        <p:spPr>
          <a:xfrm>
            <a:off x="1892808" y="254203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Nur weil man es nicht sieht, ist es nicht weniger real oder schwer.</a:t>
            </a:r>
            <a:endParaRPr lang="en-US" sz="1300" dirty="0"/>
          </a:p>
        </p:txBody>
      </p:sp>
      <p:sp>
        <p:nvSpPr>
          <p:cNvPr id="9" name="Shape 6"/>
          <p:cNvSpPr/>
          <p:nvPr/>
        </p:nvSpPr>
        <p:spPr>
          <a:xfrm>
            <a:off x="6281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194560"/>
            <a:ext cx="777240" cy="77724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Es ist Krankheit, nicht Wille</a:t>
            </a:r>
            <a:endParaRPr lang="en-US" sz="1700" dirty="0"/>
          </a:p>
        </p:txBody>
      </p:sp>
      <p:sp>
        <p:nvSpPr>
          <p:cNvPr id="13" name="Text 9"/>
          <p:cNvSpPr/>
          <p:nvPr/>
        </p:nvSpPr>
        <p:spPr>
          <a:xfrm>
            <a:off x="7607808" y="254203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Niemand wählt eine Depression. ‚Zusammenreißen‘ ist keine Behandlung.</a:t>
            </a:r>
            <a:endParaRPr lang="en-US" sz="1300" dirty="0"/>
          </a:p>
        </p:txBody>
      </p:sp>
      <p:sp>
        <p:nvSpPr>
          <p:cNvPr id="14" name="Shape 10"/>
          <p:cNvSpPr/>
          <p:nvPr/>
        </p:nvSpPr>
        <p:spPr>
          <a:xfrm>
            <a:off x="566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Da sein schlägt Ratschlag</a:t>
            </a:r>
            <a:endParaRPr lang="en-US" sz="1700" dirty="0"/>
          </a:p>
        </p:txBody>
      </p:sp>
      <p:sp>
        <p:nvSpPr>
          <p:cNvPr id="18" name="Text 13"/>
          <p:cNvSpPr/>
          <p:nvPr/>
        </p:nvSpPr>
        <p:spPr>
          <a:xfrm>
            <a:off x="1892808" y="455371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Zuhören, ernst nehmen, bleiben – das kann jeder von uns.</a:t>
            </a:r>
            <a:endParaRPr lang="en-US" sz="1300" dirty="0"/>
          </a:p>
        </p:txBody>
      </p:sp>
      <p:sp>
        <p:nvSpPr>
          <p:cNvPr id="19" name="Shape 14"/>
          <p:cNvSpPr/>
          <p:nvPr/>
        </p:nvSpPr>
        <p:spPr>
          <a:xfrm>
            <a:off x="6281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Besserung ist möglich</a:t>
            </a:r>
            <a:endParaRPr lang="en-US" sz="1700" dirty="0"/>
          </a:p>
        </p:txBody>
      </p:sp>
      <p:sp>
        <p:nvSpPr>
          <p:cNvPr id="23" name="Text 17"/>
          <p:cNvSpPr/>
          <p:nvPr/>
        </p:nvSpPr>
        <p:spPr>
          <a:xfrm>
            <a:off x="7607808" y="455371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Mit Hilfe führt aus fast jeder Krise ein Weg heraus.</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Erinnern Sie sich an die Erwartungen vom Morgen – haben wir sie eingelöst?</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ABSCHLUSS · HILFE FINDEN</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Wichtige Anlaufstellen in Österreich</a:t>
            </a:r>
            <a:endParaRPr lang="en-US" sz="2700" dirty="0"/>
          </a:p>
        </p:txBody>
      </p:sp>
      <p:sp>
        <p:nvSpPr>
          <p:cNvPr id="4" name="Shape 2"/>
          <p:cNvSpPr/>
          <p:nvPr/>
        </p:nvSpPr>
        <p:spPr>
          <a:xfrm>
            <a:off x="566928" y="1691640"/>
            <a:ext cx="11057839" cy="1051560"/>
          </a:xfrm>
          <a:prstGeom prst="roundRect">
            <a:avLst>
              <a:gd name="adj" fmla="val 8696"/>
            </a:avLst>
          </a:prstGeom>
          <a:solidFill>
            <a:srgbClr val="B9793B"/>
          </a:solidFill>
          <a:ln/>
        </p:spPr>
      </p:sp>
      <p:sp>
        <p:nvSpPr>
          <p:cNvPr id="5" name="Shape 3"/>
          <p:cNvSpPr/>
          <p:nvPr/>
        </p:nvSpPr>
        <p:spPr>
          <a:xfrm>
            <a:off x="886968" y="1901952"/>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53389" y="2068373"/>
            <a:ext cx="307238" cy="307238"/>
          </a:xfrm>
          <a:prstGeom prst="rect">
            <a:avLst/>
          </a:prstGeom>
        </p:spPr>
      </p:pic>
      <p:sp>
        <p:nvSpPr>
          <p:cNvPr id="7" name="Text 4"/>
          <p:cNvSpPr/>
          <p:nvPr/>
        </p:nvSpPr>
        <p:spPr>
          <a:xfrm>
            <a:off x="1755648" y="1691640"/>
            <a:ext cx="9594799" cy="1051560"/>
          </a:xfrm>
          <a:prstGeom prst="rect">
            <a:avLst/>
          </a:prstGeom>
          <a:noFill/>
          <a:ln/>
        </p:spPr>
        <p:txBody>
          <a:bodyPr wrap="square" rtlCol="0" anchor="ctr"/>
          <a:lstStyle/>
          <a:p>
            <a:pPr indent="0" marL="0">
              <a:lnSpc>
                <a:spcPts val="2000"/>
              </a:lnSpc>
              <a:buNone/>
            </a:pPr>
            <a:r>
              <a:rPr lang="en-US" sz="1600" b="1" dirty="0">
                <a:solidFill>
                  <a:srgbClr val="FFFFFF"/>
                </a:solidFill>
                <a:latin typeface="Calibri" pitchFamily="34" charset="0"/>
                <a:ea typeface="Calibri" pitchFamily="34" charset="-122"/>
                <a:cs typeface="Calibri" pitchFamily="34" charset="-120"/>
              </a:rPr>
              <a:t>Im Notfall / akute Krise:   </a:t>
            </a:r>
            <a:pPr indent="0" marL="0">
              <a:lnSpc>
                <a:spcPts val="2000"/>
              </a:lnSpc>
              <a:buNone/>
            </a:pPr>
            <a:r>
              <a:rPr lang="en-US" sz="1600" dirty="0">
                <a:solidFill>
                  <a:srgbClr val="FFFFFF"/>
                </a:solidFill>
                <a:latin typeface="Calibri" pitchFamily="34" charset="0"/>
                <a:ea typeface="Calibri" pitchFamily="34" charset="-122"/>
                <a:cs typeface="Calibri" pitchFamily="34" charset="-120"/>
              </a:rPr>
              <a:t>Rettung 144  ·  Euronotruf 112  ·  Telefonseelsorge 142 (24 h, kostenlos, anonym)</a:t>
            </a:r>
            <a:endParaRPr lang="en-US" sz="1600" dirty="0"/>
          </a:p>
        </p:txBody>
      </p:sp>
      <p:sp>
        <p:nvSpPr>
          <p:cNvPr id="8" name="Shape 5"/>
          <p:cNvSpPr/>
          <p:nvPr/>
        </p:nvSpPr>
        <p:spPr>
          <a:xfrm>
            <a:off x="566928" y="2971800"/>
            <a:ext cx="5394960" cy="786384"/>
          </a:xfrm>
          <a:prstGeom prst="roundRect">
            <a:avLst>
              <a:gd name="adj" fmla="val 9302"/>
            </a:avLst>
          </a:prstGeom>
          <a:solidFill>
            <a:srgbClr val="35545C"/>
          </a:solidFill>
          <a:ln w="12700">
            <a:solidFill>
              <a:srgbClr val="436A72"/>
            </a:solidFill>
            <a:prstDash val="solid"/>
          </a:ln>
        </p:spPr>
      </p:sp>
      <p:sp>
        <p:nvSpPr>
          <p:cNvPr id="9" name="Shape 6"/>
          <p:cNvSpPr/>
          <p:nvPr/>
        </p:nvSpPr>
        <p:spPr>
          <a:xfrm>
            <a:off x="795528" y="3154680"/>
            <a:ext cx="420624" cy="420624"/>
          </a:xfrm>
          <a:prstGeom prst="ellipse">
            <a:avLst/>
          </a:prstGeom>
          <a:solidFill>
            <a:srgbClr val="84B59F"/>
          </a:solidFill>
          <a:ln/>
        </p:spPr>
      </p:sp>
      <p:pic>
        <p:nvPicPr>
          <p:cNvPr id="10" name="Image 1" descr="preencoded.png">    </p:cNvPr>
          <p:cNvPicPr>
            <a:picLocks noChangeAspect="1"/>
          </p:cNvPicPr>
          <p:nvPr/>
        </p:nvPicPr>
        <p:blipFill>
          <a:blip r:embed="rId2"/>
          <a:stretch>
            <a:fillRect/>
          </a:stretch>
        </p:blipFill>
        <p:spPr>
          <a:xfrm>
            <a:off x="904890" y="3264042"/>
            <a:ext cx="201900" cy="201900"/>
          </a:xfrm>
          <a:prstGeom prst="rect">
            <a:avLst/>
          </a:prstGeom>
        </p:spPr>
      </p:pic>
      <p:sp>
        <p:nvSpPr>
          <p:cNvPr id="11" name="Text 7"/>
          <p:cNvSpPr/>
          <p:nvPr/>
        </p:nvSpPr>
        <p:spPr>
          <a:xfrm>
            <a:off x="1389888" y="3063240"/>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Telefonseelsorge</a:t>
            </a:r>
            <a:endParaRPr lang="en-US" sz="1450" dirty="0"/>
          </a:p>
        </p:txBody>
      </p:sp>
      <p:sp>
        <p:nvSpPr>
          <p:cNvPr id="12" name="Text 8"/>
          <p:cNvSpPr/>
          <p:nvPr/>
        </p:nvSpPr>
        <p:spPr>
          <a:xfrm>
            <a:off x="1389888" y="3383280"/>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142 – rund um die Uhr, anonym, kostenlos</a:t>
            </a:r>
            <a:endParaRPr lang="en-US" sz="1200" dirty="0"/>
          </a:p>
        </p:txBody>
      </p:sp>
      <p:sp>
        <p:nvSpPr>
          <p:cNvPr id="13" name="Shape 9"/>
          <p:cNvSpPr/>
          <p:nvPr/>
        </p:nvSpPr>
        <p:spPr>
          <a:xfrm>
            <a:off x="6281928" y="2971800"/>
            <a:ext cx="5394960" cy="786384"/>
          </a:xfrm>
          <a:prstGeom prst="roundRect">
            <a:avLst>
              <a:gd name="adj" fmla="val 9302"/>
            </a:avLst>
          </a:prstGeom>
          <a:solidFill>
            <a:srgbClr val="35545C"/>
          </a:solidFill>
          <a:ln w="12700">
            <a:solidFill>
              <a:srgbClr val="436A72"/>
            </a:solidFill>
            <a:prstDash val="solid"/>
          </a:ln>
        </p:spPr>
      </p:sp>
      <p:sp>
        <p:nvSpPr>
          <p:cNvPr id="14" name="Shape 10"/>
          <p:cNvSpPr/>
          <p:nvPr/>
        </p:nvSpPr>
        <p:spPr>
          <a:xfrm>
            <a:off x="6510528" y="3154680"/>
            <a:ext cx="420624" cy="420624"/>
          </a:xfrm>
          <a:prstGeom prst="ellipse">
            <a:avLst/>
          </a:prstGeom>
          <a:solidFill>
            <a:srgbClr val="84B59F"/>
          </a:solidFill>
          <a:ln/>
        </p:spPr>
      </p:sp>
      <p:pic>
        <p:nvPicPr>
          <p:cNvPr id="15" name="Image 2" descr="preencoded.png">    </p:cNvPr>
          <p:cNvPicPr>
            <a:picLocks noChangeAspect="1"/>
          </p:cNvPicPr>
          <p:nvPr/>
        </p:nvPicPr>
        <p:blipFill>
          <a:blip r:embed="rId3"/>
          <a:stretch>
            <a:fillRect/>
          </a:stretch>
        </p:blipFill>
        <p:spPr>
          <a:xfrm>
            <a:off x="6619890" y="3264042"/>
            <a:ext cx="201900" cy="201900"/>
          </a:xfrm>
          <a:prstGeom prst="rect">
            <a:avLst/>
          </a:prstGeom>
        </p:spPr>
      </p:pic>
      <p:sp>
        <p:nvSpPr>
          <p:cNvPr id="16" name="Text 11"/>
          <p:cNvSpPr/>
          <p:nvPr/>
        </p:nvSpPr>
        <p:spPr>
          <a:xfrm>
            <a:off x="7104888" y="3063240"/>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Rat auf Draht</a:t>
            </a:r>
            <a:endParaRPr lang="en-US" sz="1450" dirty="0"/>
          </a:p>
        </p:txBody>
      </p:sp>
      <p:sp>
        <p:nvSpPr>
          <p:cNvPr id="17" name="Text 12"/>
          <p:cNvSpPr/>
          <p:nvPr/>
        </p:nvSpPr>
        <p:spPr>
          <a:xfrm>
            <a:off x="7104888" y="3383280"/>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147 – für Kinder &amp; Jugendliche (24 h)</a:t>
            </a:r>
            <a:endParaRPr lang="en-US" sz="1200" dirty="0"/>
          </a:p>
        </p:txBody>
      </p:sp>
      <p:sp>
        <p:nvSpPr>
          <p:cNvPr id="18" name="Shape 13"/>
          <p:cNvSpPr/>
          <p:nvPr/>
        </p:nvSpPr>
        <p:spPr>
          <a:xfrm>
            <a:off x="566928" y="3959352"/>
            <a:ext cx="5394960" cy="786384"/>
          </a:xfrm>
          <a:prstGeom prst="roundRect">
            <a:avLst>
              <a:gd name="adj" fmla="val 9302"/>
            </a:avLst>
          </a:prstGeom>
          <a:solidFill>
            <a:srgbClr val="35545C"/>
          </a:solidFill>
          <a:ln w="12700">
            <a:solidFill>
              <a:srgbClr val="436A72"/>
            </a:solidFill>
            <a:prstDash val="solid"/>
          </a:ln>
        </p:spPr>
      </p:sp>
      <p:sp>
        <p:nvSpPr>
          <p:cNvPr id="19" name="Shape 14"/>
          <p:cNvSpPr/>
          <p:nvPr/>
        </p:nvSpPr>
        <p:spPr>
          <a:xfrm>
            <a:off x="795528" y="4142232"/>
            <a:ext cx="420624" cy="420624"/>
          </a:xfrm>
          <a:prstGeom prst="ellipse">
            <a:avLst/>
          </a:prstGeom>
          <a:solidFill>
            <a:srgbClr val="84B59F"/>
          </a:solidFill>
          <a:ln/>
        </p:spPr>
      </p:sp>
      <p:pic>
        <p:nvPicPr>
          <p:cNvPr id="20" name="Image 3" descr="preencoded.png">    </p:cNvPr>
          <p:cNvPicPr>
            <a:picLocks noChangeAspect="1"/>
          </p:cNvPicPr>
          <p:nvPr/>
        </p:nvPicPr>
        <p:blipFill>
          <a:blip r:embed="rId4"/>
          <a:stretch>
            <a:fillRect/>
          </a:stretch>
        </p:blipFill>
        <p:spPr>
          <a:xfrm>
            <a:off x="904890" y="4251594"/>
            <a:ext cx="201900" cy="201900"/>
          </a:xfrm>
          <a:prstGeom prst="rect">
            <a:avLst/>
          </a:prstGeom>
        </p:spPr>
      </p:pic>
      <p:sp>
        <p:nvSpPr>
          <p:cNvPr id="21" name="Text 15"/>
          <p:cNvSpPr/>
          <p:nvPr/>
        </p:nvSpPr>
        <p:spPr>
          <a:xfrm>
            <a:off x="1389888" y="4050792"/>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Ö3-Kummernummer</a:t>
            </a:r>
            <a:endParaRPr lang="en-US" sz="1450" dirty="0"/>
          </a:p>
        </p:txBody>
      </p:sp>
      <p:sp>
        <p:nvSpPr>
          <p:cNvPr id="22" name="Text 16"/>
          <p:cNvSpPr/>
          <p:nvPr/>
        </p:nvSpPr>
        <p:spPr>
          <a:xfrm>
            <a:off x="1389888" y="4370832"/>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116 123 – täglich 16–24 Uhr</a:t>
            </a:r>
            <a:endParaRPr lang="en-US" sz="1200" dirty="0"/>
          </a:p>
        </p:txBody>
      </p:sp>
      <p:sp>
        <p:nvSpPr>
          <p:cNvPr id="23" name="Shape 17"/>
          <p:cNvSpPr/>
          <p:nvPr/>
        </p:nvSpPr>
        <p:spPr>
          <a:xfrm>
            <a:off x="6281928" y="3959352"/>
            <a:ext cx="5394960" cy="786384"/>
          </a:xfrm>
          <a:prstGeom prst="roundRect">
            <a:avLst>
              <a:gd name="adj" fmla="val 9302"/>
            </a:avLst>
          </a:prstGeom>
          <a:solidFill>
            <a:srgbClr val="35545C"/>
          </a:solidFill>
          <a:ln w="12700">
            <a:solidFill>
              <a:srgbClr val="436A72"/>
            </a:solidFill>
            <a:prstDash val="solid"/>
          </a:ln>
        </p:spPr>
      </p:sp>
      <p:sp>
        <p:nvSpPr>
          <p:cNvPr id="24" name="Shape 18"/>
          <p:cNvSpPr/>
          <p:nvPr/>
        </p:nvSpPr>
        <p:spPr>
          <a:xfrm>
            <a:off x="6510528" y="4142232"/>
            <a:ext cx="420624" cy="420624"/>
          </a:xfrm>
          <a:prstGeom prst="ellipse">
            <a:avLst/>
          </a:prstGeom>
          <a:solidFill>
            <a:srgbClr val="84B59F"/>
          </a:solidFill>
          <a:ln/>
        </p:spPr>
      </p:sp>
      <p:pic>
        <p:nvPicPr>
          <p:cNvPr id="25" name="Image 4" descr="preencoded.png">    </p:cNvPr>
          <p:cNvPicPr>
            <a:picLocks noChangeAspect="1"/>
          </p:cNvPicPr>
          <p:nvPr/>
        </p:nvPicPr>
        <p:blipFill>
          <a:blip r:embed="rId5"/>
          <a:stretch>
            <a:fillRect/>
          </a:stretch>
        </p:blipFill>
        <p:spPr>
          <a:xfrm>
            <a:off x="6619890" y="4251594"/>
            <a:ext cx="201900" cy="201900"/>
          </a:xfrm>
          <a:prstGeom prst="rect">
            <a:avLst/>
          </a:prstGeom>
        </p:spPr>
      </p:pic>
      <p:sp>
        <p:nvSpPr>
          <p:cNvPr id="26" name="Text 19"/>
          <p:cNvSpPr/>
          <p:nvPr/>
        </p:nvSpPr>
        <p:spPr>
          <a:xfrm>
            <a:off x="7104888" y="4050792"/>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pro mente Austria</a:t>
            </a:r>
            <a:endParaRPr lang="en-US" sz="1450" dirty="0"/>
          </a:p>
        </p:txBody>
      </p:sp>
      <p:sp>
        <p:nvSpPr>
          <p:cNvPr id="27" name="Text 20"/>
          <p:cNvSpPr/>
          <p:nvPr/>
        </p:nvSpPr>
        <p:spPr>
          <a:xfrm>
            <a:off x="7104888" y="4370832"/>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psychosoziale Beratung &amp; Vereine (promente-austria.at)</a:t>
            </a:r>
            <a:endParaRPr lang="en-US" sz="1200" dirty="0"/>
          </a:p>
        </p:txBody>
      </p:sp>
      <p:sp>
        <p:nvSpPr>
          <p:cNvPr id="28" name="Shape 21"/>
          <p:cNvSpPr/>
          <p:nvPr/>
        </p:nvSpPr>
        <p:spPr>
          <a:xfrm>
            <a:off x="566928" y="4946904"/>
            <a:ext cx="5394960" cy="786384"/>
          </a:xfrm>
          <a:prstGeom prst="roundRect">
            <a:avLst>
              <a:gd name="adj" fmla="val 9302"/>
            </a:avLst>
          </a:prstGeom>
          <a:solidFill>
            <a:srgbClr val="35545C"/>
          </a:solidFill>
          <a:ln w="12700">
            <a:solidFill>
              <a:srgbClr val="436A72"/>
            </a:solidFill>
            <a:prstDash val="solid"/>
          </a:ln>
        </p:spPr>
      </p:sp>
      <p:sp>
        <p:nvSpPr>
          <p:cNvPr id="29" name="Shape 22"/>
          <p:cNvSpPr/>
          <p:nvPr/>
        </p:nvSpPr>
        <p:spPr>
          <a:xfrm>
            <a:off x="795528" y="5129784"/>
            <a:ext cx="420624" cy="420624"/>
          </a:xfrm>
          <a:prstGeom prst="ellipse">
            <a:avLst/>
          </a:prstGeom>
          <a:solidFill>
            <a:srgbClr val="84B59F"/>
          </a:solidFill>
          <a:ln/>
        </p:spPr>
      </p:sp>
      <p:pic>
        <p:nvPicPr>
          <p:cNvPr id="30" name="Image 5" descr="preencoded.png">    </p:cNvPr>
          <p:cNvPicPr>
            <a:picLocks noChangeAspect="1"/>
          </p:cNvPicPr>
          <p:nvPr/>
        </p:nvPicPr>
        <p:blipFill>
          <a:blip r:embed="rId6"/>
          <a:stretch>
            <a:fillRect/>
          </a:stretch>
        </p:blipFill>
        <p:spPr>
          <a:xfrm>
            <a:off x="904890" y="5239146"/>
            <a:ext cx="201900" cy="201900"/>
          </a:xfrm>
          <a:prstGeom prst="rect">
            <a:avLst/>
          </a:prstGeom>
        </p:spPr>
      </p:pic>
      <p:sp>
        <p:nvSpPr>
          <p:cNvPr id="31" name="Text 23"/>
          <p:cNvSpPr/>
          <p:nvPr/>
        </p:nvSpPr>
        <p:spPr>
          <a:xfrm>
            <a:off x="1389888" y="5038344"/>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HPE Österreich</a:t>
            </a:r>
            <a:endParaRPr lang="en-US" sz="1450" dirty="0"/>
          </a:p>
        </p:txBody>
      </p:sp>
      <p:sp>
        <p:nvSpPr>
          <p:cNvPr id="32" name="Text 24"/>
          <p:cNvSpPr/>
          <p:nvPr/>
        </p:nvSpPr>
        <p:spPr>
          <a:xfrm>
            <a:off x="1389888" y="5358384"/>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Hilfe für Angehörige psychisch Erkrankter (hpe.at)</a:t>
            </a:r>
            <a:endParaRPr lang="en-US" sz="1200" dirty="0"/>
          </a:p>
        </p:txBody>
      </p:sp>
      <p:sp>
        <p:nvSpPr>
          <p:cNvPr id="33" name="Shape 25"/>
          <p:cNvSpPr/>
          <p:nvPr/>
        </p:nvSpPr>
        <p:spPr>
          <a:xfrm>
            <a:off x="6281928" y="4946904"/>
            <a:ext cx="5394960" cy="786384"/>
          </a:xfrm>
          <a:prstGeom prst="roundRect">
            <a:avLst>
              <a:gd name="adj" fmla="val 9302"/>
            </a:avLst>
          </a:prstGeom>
          <a:solidFill>
            <a:srgbClr val="35545C"/>
          </a:solidFill>
          <a:ln w="12700">
            <a:solidFill>
              <a:srgbClr val="436A72"/>
            </a:solidFill>
            <a:prstDash val="solid"/>
          </a:ln>
        </p:spPr>
      </p:sp>
      <p:sp>
        <p:nvSpPr>
          <p:cNvPr id="34" name="Shape 26"/>
          <p:cNvSpPr/>
          <p:nvPr/>
        </p:nvSpPr>
        <p:spPr>
          <a:xfrm>
            <a:off x="6510528" y="5129784"/>
            <a:ext cx="420624" cy="420624"/>
          </a:xfrm>
          <a:prstGeom prst="ellipse">
            <a:avLst/>
          </a:prstGeom>
          <a:solidFill>
            <a:srgbClr val="84B59F"/>
          </a:solidFill>
          <a:ln/>
        </p:spPr>
      </p:sp>
      <p:pic>
        <p:nvPicPr>
          <p:cNvPr id="35" name="Image 6" descr="preencoded.png">    </p:cNvPr>
          <p:cNvPicPr>
            <a:picLocks noChangeAspect="1"/>
          </p:cNvPicPr>
          <p:nvPr/>
        </p:nvPicPr>
        <p:blipFill>
          <a:blip r:embed="rId7"/>
          <a:stretch>
            <a:fillRect/>
          </a:stretch>
        </p:blipFill>
        <p:spPr>
          <a:xfrm>
            <a:off x="6619890" y="5239146"/>
            <a:ext cx="201900" cy="201900"/>
          </a:xfrm>
          <a:prstGeom prst="rect">
            <a:avLst/>
          </a:prstGeom>
        </p:spPr>
      </p:pic>
      <p:sp>
        <p:nvSpPr>
          <p:cNvPr id="36" name="Text 27"/>
          <p:cNvSpPr/>
          <p:nvPr/>
        </p:nvSpPr>
        <p:spPr>
          <a:xfrm>
            <a:off x="7104888" y="5038344"/>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Kriseninterventionszentrum</a:t>
            </a:r>
            <a:endParaRPr lang="en-US" sz="1450" dirty="0"/>
          </a:p>
        </p:txBody>
      </p:sp>
      <p:sp>
        <p:nvSpPr>
          <p:cNvPr id="37" name="Text 28"/>
          <p:cNvSpPr/>
          <p:nvPr/>
        </p:nvSpPr>
        <p:spPr>
          <a:xfrm>
            <a:off x="7104888" y="5358384"/>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Wien: 01 / 406 95 95 (Mo–Fr)</a:t>
            </a:r>
            <a:endParaRPr lang="en-US" sz="1200" dirty="0"/>
          </a:p>
        </p:txBody>
      </p:sp>
      <p:sp>
        <p:nvSpPr>
          <p:cNvPr id="38" name="Text 29"/>
          <p:cNvSpPr/>
          <p:nvPr/>
        </p:nvSpPr>
        <p:spPr>
          <a:xfrm>
            <a:off x="566928" y="6080760"/>
            <a:ext cx="11057839" cy="320040"/>
          </a:xfrm>
          <a:prstGeom prst="rect">
            <a:avLst/>
          </a:prstGeom>
          <a:noFill/>
          <a:ln/>
        </p:spPr>
        <p:txBody>
          <a:bodyPr wrap="square" rtlCol="0" anchor="ctr"/>
          <a:lstStyle/>
          <a:p>
            <a:pPr algn="ctr" indent="0" marL="0">
              <a:buNone/>
            </a:pPr>
            <a:r>
              <a:rPr lang="en-US" sz="1050" i="1" dirty="0">
                <a:solidFill>
                  <a:srgbClr val="8FA6A8"/>
                </a:solidFill>
                <a:latin typeface="Calibri" pitchFamily="34" charset="0"/>
                <a:ea typeface="Calibri" pitchFamily="34" charset="-122"/>
                <a:cs typeface="Calibri" pitchFamily="34" charset="-120"/>
              </a:rPr>
              <a:t>Erste Anlaufstelle ist immer auch die Hausärztin / der Hausarzt. Angaben vor dem Workshop auf Aktualität prüfen.</a:t>
            </a:r>
            <a:endParaRPr lang="en-US" sz="1050" dirty="0"/>
          </a:p>
        </p:txBody>
      </p:sp>
      <p:sp>
        <p:nvSpPr>
          <p:cNvPr id="40" name="Text 30"/>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41" name="Text 31"/>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Shape 1"/>
          <p:cNvSpPr/>
          <p:nvPr/>
        </p:nvSpPr>
        <p:spPr>
          <a:xfrm>
            <a:off x="9509760" y="3474720"/>
            <a:ext cx="5029200" cy="5029200"/>
          </a:xfrm>
          <a:prstGeom prst="ellipse">
            <a:avLst/>
          </a:prstGeom>
          <a:solidFill>
            <a:srgbClr val="22414A"/>
          </a:solidFill>
          <a:ln/>
        </p:spPr>
      </p:sp>
      <p:sp>
        <p:nvSpPr>
          <p:cNvPr id="4" name="Shape 2"/>
          <p:cNvSpPr/>
          <p:nvPr/>
        </p:nvSpPr>
        <p:spPr>
          <a:xfrm>
            <a:off x="5547208" y="1280160"/>
            <a:ext cx="1097280" cy="1097280"/>
          </a:xfrm>
          <a:prstGeom prst="ellipse">
            <a:avLst/>
          </a:prstGeom>
          <a:solidFill>
            <a:srgbClr val="D99A5B"/>
          </a:solidFill>
          <a:ln/>
        </p:spPr>
      </p:sp>
      <p:pic>
        <p:nvPicPr>
          <p:cNvPr id="5" name="Image 0" descr="preencoded.png">    </p:cNvPr>
          <p:cNvPicPr>
            <a:picLocks noChangeAspect="1"/>
          </p:cNvPicPr>
          <p:nvPr/>
        </p:nvPicPr>
        <p:blipFill>
          <a:blip r:embed="rId1"/>
          <a:stretch>
            <a:fillRect/>
          </a:stretch>
        </p:blipFill>
        <p:spPr>
          <a:xfrm>
            <a:off x="5832500" y="1565453"/>
            <a:ext cx="526694" cy="526694"/>
          </a:xfrm>
          <a:prstGeom prst="rect">
            <a:avLst/>
          </a:prstGeom>
        </p:spPr>
      </p:pic>
      <p:sp>
        <p:nvSpPr>
          <p:cNvPr id="6" name="Text 3"/>
          <p:cNvSpPr/>
          <p:nvPr/>
        </p:nvSpPr>
        <p:spPr>
          <a:xfrm>
            <a:off x="731520" y="2697480"/>
            <a:ext cx="10728655" cy="914400"/>
          </a:xfrm>
          <a:prstGeom prst="rect">
            <a:avLst/>
          </a:prstGeom>
          <a:noFill/>
          <a:ln/>
        </p:spPr>
        <p:txBody>
          <a:bodyPr wrap="square"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Danke, dass Sie hingesehen haben.</a:t>
            </a:r>
            <a:endParaRPr lang="en-US" sz="3600" dirty="0"/>
          </a:p>
        </p:txBody>
      </p:sp>
      <p:sp>
        <p:nvSpPr>
          <p:cNvPr id="7" name="Text 4"/>
          <p:cNvSpPr/>
          <p:nvPr/>
        </p:nvSpPr>
        <p:spPr>
          <a:xfrm>
            <a:off x="1097280" y="3840480"/>
            <a:ext cx="9997135" cy="1005840"/>
          </a:xfrm>
          <a:prstGeom prst="rect">
            <a:avLst/>
          </a:prstGeom>
          <a:noFill/>
          <a:ln/>
        </p:spPr>
        <p:txBody>
          <a:bodyPr wrap="square" rtlCol="0" anchor="ctr"/>
          <a:lstStyle/>
          <a:p>
            <a:pPr algn="ctr" indent="0" marL="0">
              <a:lnSpc>
                <a:spcPts val="2600"/>
              </a:lnSpc>
              <a:buNone/>
            </a:pPr>
            <a:r>
              <a:rPr lang="en-US" sz="1700" i="1" dirty="0">
                <a:solidFill>
                  <a:srgbClr val="CFDDD9"/>
                </a:solidFill>
                <a:latin typeface="Calibri" pitchFamily="34" charset="0"/>
                <a:ea typeface="Calibri" pitchFamily="34" charset="-122"/>
                <a:cs typeface="Calibri" pitchFamily="34" charset="-120"/>
              </a:rPr>
              <a:t>„Man sieht es einem nicht an. Aber jetzt wissen Sie, wie man hinschaut –</a:t>
            </a:r>
            <a:endParaRPr lang="en-US" sz="1700" dirty="0"/>
          </a:p>
          <a:p>
            <a:pPr algn="ctr" indent="0" marL="0">
              <a:lnSpc>
                <a:spcPts val="2600"/>
              </a:lnSpc>
              <a:buNone/>
            </a:pPr>
            <a:r>
              <a:rPr lang="en-US" sz="1700" i="1" dirty="0">
                <a:solidFill>
                  <a:srgbClr val="CFDDD9"/>
                </a:solidFill>
                <a:latin typeface="Calibri" pitchFamily="34" charset="0"/>
                <a:ea typeface="Calibri" pitchFamily="34" charset="-122"/>
                <a:cs typeface="Calibri" pitchFamily="34" charset="-120"/>
              </a:rPr>
              <a:t>und was ein einziger verständnisvoller Mensch verändern kann.“</a:t>
            </a:r>
            <a:endParaRPr lang="en-US" sz="1700" dirty="0"/>
          </a:p>
        </p:txBody>
      </p:sp>
      <p:sp>
        <p:nvSpPr>
          <p:cNvPr id="8" name="Text 5"/>
          <p:cNvSpPr/>
          <p:nvPr/>
        </p:nvSpPr>
        <p:spPr>
          <a:xfrm>
            <a:off x="731520" y="5212080"/>
            <a:ext cx="10728655" cy="365760"/>
          </a:xfrm>
          <a:prstGeom prst="rect">
            <a:avLst/>
          </a:prstGeom>
          <a:noFill/>
          <a:ln/>
        </p:spPr>
        <p:txBody>
          <a:bodyPr wrap="square" rtlCol="0" anchor="ctr"/>
          <a:lstStyle/>
          <a:p>
            <a:pPr algn="ctr" indent="0" marL="0">
              <a:buNone/>
            </a:pPr>
            <a:r>
              <a:rPr lang="en-US" sz="1300" dirty="0">
                <a:solidFill>
                  <a:srgbClr val="9DB4B2"/>
                </a:solidFill>
                <a:latin typeface="Calibri" pitchFamily="34" charset="0"/>
                <a:ea typeface="Calibri" pitchFamily="34" charset="-122"/>
                <a:cs typeface="Calibri" pitchFamily="34" charset="-120"/>
              </a:rPr>
              <a:t>Referent:  ____________________     ·     Kontakt:  ____________________</a:t>
            </a:r>
            <a:endParaRPr lang="en-US" sz="13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 sieht es mir nicht an</dc:title>
  <dc:subject>PptxGenJS Presentation</dc:subject>
  <dc:creator>Erlebnis-Workshop Psychische Gesundheit</dc:creator>
  <cp:lastModifiedBy>Erlebnis-Workshop Psychische Gesundheit</cp:lastModifiedBy>
  <cp:revision>1</cp:revision>
  <dcterms:created xsi:type="dcterms:W3CDTF">2026-07-23T12:55:33Z</dcterms:created>
  <dcterms:modified xsi:type="dcterms:W3CDTF">2026-07-23T12:55:33Z</dcterms:modified>
</cp:coreProperties>
</file>